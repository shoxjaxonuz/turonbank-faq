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13300" cy="9950450"/>
  <p:notesSz cx="9866313" cy="67357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636" y="36"/>
      </p:cViewPr>
      <p:guideLst>
        <p:guide orient="horz" pos="2880"/>
        <p:guide pos="216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705" y="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35288" y="842963"/>
            <a:ext cx="3995737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5275" tIns="27638" rIns="55275" bIns="2763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453" y="3241075"/>
            <a:ext cx="7893408" cy="2653255"/>
          </a:xfrm>
          <a:prstGeom prst="rect">
            <a:avLst/>
          </a:prstGeom>
        </p:spPr>
        <p:txBody>
          <a:bodyPr vert="horz" lIns="55275" tIns="27638" rIns="55275" bIns="2763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39833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705" y="639833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18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52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jpe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5228" y="207220"/>
            <a:ext cx="13677265" cy="9002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1" algn="ctr">
              <a:spcBef>
                <a:spcPts val="100"/>
              </a:spcBef>
            </a:pPr>
            <a:r>
              <a:rPr lang="uz-Cyrl-UZ" sz="2800" spc="-45" dirty="0">
                <a:solidFill>
                  <a:srgbClr val="273B6F"/>
                </a:solidFill>
                <a:latin typeface="Microsoft Sans Serif"/>
                <a:cs typeface="Microsoft Sans Serif"/>
              </a:rPr>
              <a:t>ЧИЛОНЗОР</a:t>
            </a:r>
            <a:r>
              <a:rPr lang="ru-RU" sz="2800" spc="-45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2800" spc="-165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28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ТУМАНИ </a:t>
            </a:r>
            <a:r>
              <a:rPr lang="ru-RU" sz="2800" spc="-160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2800" b="1" dirty="0">
                <a:solidFill>
                  <a:srgbClr val="273B6F"/>
                </a:solidFill>
                <a:latin typeface="Arial"/>
                <a:cs typeface="Arial"/>
              </a:rPr>
              <a:t>“</a:t>
            </a:r>
            <a:r>
              <a:rPr lang="ru-RU" sz="2800" b="1" dirty="0">
                <a:solidFill>
                  <a:srgbClr val="273B6F"/>
                </a:solidFill>
                <a:latin typeface="Arial"/>
                <a:cs typeface="Arial"/>
              </a:rPr>
              <a:t> КАТТА </a:t>
            </a:r>
            <a:r>
              <a:rPr lang="uz-Cyrl-UZ" sz="2800" b="1" spc="-45" dirty="0">
                <a:solidFill>
                  <a:srgbClr val="273B6F"/>
                </a:solidFill>
                <a:latin typeface="Microsoft Sans Serif"/>
                <a:cs typeface="Microsoft Sans Serif"/>
              </a:rPr>
              <a:t>ЧИЛОНЗОР-3</a:t>
            </a:r>
            <a:r>
              <a:rPr sz="2800" b="1" spc="-35" dirty="0">
                <a:solidFill>
                  <a:srgbClr val="273B6F"/>
                </a:solidFill>
                <a:latin typeface="Arial"/>
                <a:cs typeface="Arial"/>
              </a:rPr>
              <a:t>”</a:t>
            </a:r>
            <a:r>
              <a:rPr sz="2800" b="1" spc="-18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МАҲАЛЛАСИДА</a:t>
            </a:r>
            <a:endParaRPr sz="28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800" b="1" spc="-25" dirty="0">
                <a:solidFill>
                  <a:srgbClr val="273B6F"/>
                </a:solidFill>
                <a:latin typeface="Arial"/>
                <a:cs typeface="Arial"/>
              </a:rPr>
              <a:t>АҲОЛИ</a:t>
            </a:r>
            <a:r>
              <a:rPr sz="280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273B6F"/>
                </a:solidFill>
                <a:latin typeface="Arial"/>
                <a:cs typeface="Arial"/>
              </a:rPr>
              <a:t>БАНДЛИГИНИ</a:t>
            </a:r>
            <a:r>
              <a:rPr sz="280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55" dirty="0">
                <a:solidFill>
                  <a:srgbClr val="273B6F"/>
                </a:solidFill>
                <a:latin typeface="Arial"/>
                <a:cs typeface="Arial"/>
              </a:rPr>
              <a:t>ТАЪМИНЛАШ</a:t>
            </a:r>
            <a:r>
              <a:rPr sz="280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273B6F"/>
                </a:solidFill>
                <a:latin typeface="Arial"/>
                <a:cs typeface="Arial"/>
              </a:rPr>
              <a:t>ВА</a:t>
            </a:r>
            <a:r>
              <a:rPr sz="280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30" dirty="0">
                <a:solidFill>
                  <a:srgbClr val="273B6F"/>
                </a:solidFill>
                <a:latin typeface="Arial"/>
                <a:cs typeface="Arial"/>
              </a:rPr>
              <a:t>ДАРОМАДЛАРИНИ</a:t>
            </a:r>
            <a:r>
              <a:rPr sz="2800" b="1" spc="-15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73B6F"/>
                </a:solidFill>
                <a:latin typeface="Arial"/>
                <a:cs typeface="Arial"/>
              </a:rPr>
              <a:t>ОШИРИШ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3948" y="1089849"/>
            <a:ext cx="166960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14710" y="1538665"/>
            <a:ext cx="2409754" cy="10938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solidFill>
                  <a:srgbClr val="3C2B98"/>
                </a:solidFill>
                <a:latin typeface="Tahoma"/>
                <a:cs typeface="Tahoma"/>
              </a:rPr>
              <a:t>Маҳалла</a:t>
            </a:r>
            <a:r>
              <a:rPr sz="1400" spc="-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C2B98"/>
                </a:solidFill>
                <a:latin typeface="Tahoma"/>
                <a:cs typeface="Tahoma"/>
              </a:rPr>
              <a:t>банкири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uz-Cyrl-UZ" sz="1400" b="1" spc="-110" dirty="0">
                <a:solidFill>
                  <a:srgbClr val="16387F"/>
                </a:solidFill>
                <a:latin typeface="Arial"/>
                <a:cs typeface="Arial"/>
              </a:rPr>
              <a:t>Рашидов Наврўз Ўткир ўғли</a:t>
            </a:r>
            <a:endParaRPr lang="en-US" sz="1400" b="1" spc="-110" dirty="0">
              <a:solidFill>
                <a:srgbClr val="16387F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00" dirty="0" err="1">
                <a:solidFill>
                  <a:srgbClr val="3C2B98"/>
                </a:solidFill>
                <a:latin typeface="Tahoma"/>
                <a:cs typeface="Tahoma"/>
              </a:rPr>
              <a:t>Ёрдамчи</a:t>
            </a:r>
            <a:r>
              <a:rPr sz="1400" spc="-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00" spc="-10" dirty="0" err="1">
                <a:solidFill>
                  <a:srgbClr val="3C2B98"/>
                </a:solidFill>
                <a:latin typeface="Tahoma"/>
                <a:cs typeface="Tahoma"/>
              </a:rPr>
              <a:t>агент</a:t>
            </a:r>
            <a:endParaRPr sz="1400" dirty="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35"/>
              </a:spcBef>
            </a:pPr>
            <a:r>
              <a:rPr lang="ru-RU" sz="1400" b="1" spc="-100" dirty="0" err="1">
                <a:solidFill>
                  <a:srgbClr val="16387F"/>
                </a:solidFill>
                <a:latin typeface="Arial"/>
                <a:cs typeface="Arial"/>
              </a:rPr>
              <a:t>Мусулмонов</a:t>
            </a:r>
            <a:r>
              <a:rPr lang="ru-RU" sz="1400" b="1" spc="-100" dirty="0">
                <a:solidFill>
                  <a:srgbClr val="16387F"/>
                </a:solidFill>
                <a:latin typeface="Arial"/>
                <a:cs typeface="Arial"/>
              </a:rPr>
              <a:t> Шавкат </a:t>
            </a:r>
            <a:r>
              <a:rPr lang="ru-RU" sz="1400" b="1" spc="-100" dirty="0" err="1">
                <a:solidFill>
                  <a:srgbClr val="16387F"/>
                </a:solidFill>
                <a:latin typeface="Arial"/>
                <a:cs typeface="Arial"/>
              </a:rPr>
              <a:t>Хикматулла</a:t>
            </a:r>
            <a:r>
              <a:rPr lang="ru-RU" sz="1400" b="1" spc="-10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1400" b="1" spc="-100" dirty="0" err="1">
                <a:solidFill>
                  <a:srgbClr val="16387F"/>
                </a:solidFill>
                <a:latin typeface="Arial"/>
                <a:cs typeface="Arial"/>
              </a:rPr>
              <a:t>ўгли</a:t>
            </a:r>
            <a:endParaRPr lang="ru-RU" sz="14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1452" y="1601181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/>
                <a:cs typeface="Tahoma"/>
              </a:rPr>
              <a:t>БИРИКТИРИЛГАН</a:t>
            </a:r>
            <a:r>
              <a:rPr sz="15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  <a:endParaRPr sz="1550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945" y="1913120"/>
            <a:ext cx="2228324" cy="774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“</a:t>
            </a:r>
            <a:r>
              <a:rPr lang="uz-Cyrl-UZ" sz="165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ТуронБанк</a:t>
            </a:r>
            <a:r>
              <a:rPr lang="ru-RU" sz="1650" b="1" spc="-12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”АТБ </a:t>
            </a:r>
            <a:r>
              <a:rPr lang="ru-RU" sz="1650" b="1" spc="-12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Тошкент</a:t>
            </a:r>
            <a:r>
              <a:rPr lang="ru-RU" sz="1650" b="1" spc="-12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50" b="1" spc="-12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шахар</a:t>
            </a:r>
            <a:r>
              <a:rPr lang="ru-RU" sz="1650" b="1" spc="-12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z-Cyrl-UZ" sz="1650" b="1" spc="-45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Чилонзор </a:t>
            </a:r>
            <a:r>
              <a:rPr lang="ru-RU" sz="1650" b="1" spc="-12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БХ</a:t>
            </a:r>
            <a:r>
              <a:rPr lang="en-US" sz="1650" b="1" spc="-12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sz="165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7802"/>
            <a:ext cx="6524625" cy="1336040"/>
            <a:chOff x="8042079" y="1507802"/>
            <a:chExt cx="6524625" cy="1336040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80480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54458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Камбағаллик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091662" y="177381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140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30756" y="1769888"/>
            <a:ext cx="1135122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144</a:t>
            </a:r>
            <a:r>
              <a:rPr sz="3050" b="1" spc="-254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803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dirty="0">
                <a:solidFill>
                  <a:srgbClr val="3C2B98"/>
                </a:solidFill>
                <a:latin typeface="Tahoma"/>
                <a:cs typeface="Tahoma"/>
              </a:rPr>
              <a:t>01.0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ru-RU" sz="1200" spc="-10" dirty="0">
                <a:solidFill>
                  <a:srgbClr val="3C2B98"/>
                </a:solidFill>
                <a:latin typeface="Tahoma"/>
                <a:cs typeface="Tahoma"/>
              </a:rPr>
              <a:t>0</a:t>
            </a:r>
            <a:r>
              <a:rPr lang="en-US" sz="1200" spc="-1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260350"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50" b="1" dirty="0">
                <a:solidFill>
                  <a:srgbClr val="FFFFFF"/>
                </a:solidFill>
                <a:latin typeface="Arial"/>
                <a:cs typeface="Arial"/>
              </a:rPr>
              <a:t>1,</a:t>
            </a:r>
            <a:r>
              <a:rPr lang="en-US" sz="185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8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баробар</a:t>
            </a:r>
            <a:r>
              <a:rPr lang="en-US"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                 </a:t>
            </a:r>
            <a:r>
              <a:rPr lang="ru-RU" sz="145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Ўсиш</a:t>
            </a:r>
            <a:r>
              <a:rPr lang="ru-RU"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lang="ru-RU" sz="14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n-US" sz="1850" b="1" spc="7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lang="ru-RU" sz="18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ru-RU" sz="1200" spc="-1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баробар</a:t>
            </a:r>
            <a:endParaRPr lang="ru-RU" sz="1200" dirty="0">
              <a:latin typeface="Microsoft Sans Serif"/>
              <a:cs typeface="Microsoft Sans Serif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endParaRPr sz="1200" dirty="0">
              <a:latin typeface="Microsoft Sans Serif"/>
              <a:cs typeface="Microsoft Sans Serif"/>
            </a:endParaRPr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60842" y="2590801"/>
            <a:ext cx="207329" cy="17038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2602315" y="2141907"/>
            <a:ext cx="1957495" cy="7181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en-US" sz="1200" spc="-10" dirty="0">
                <a:solidFill>
                  <a:srgbClr val="3C2B98"/>
                </a:solidFill>
                <a:latin typeface="Tahoma"/>
                <a:cs typeface="Tahoma"/>
              </a:rPr>
              <a:t>05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187960">
              <a:lnSpc>
                <a:spcPct val="100000"/>
              </a:lnSpc>
              <a:spcBef>
                <a:spcPts val="625"/>
              </a:spcBef>
            </a:pPr>
            <a:r>
              <a:rPr lang="en-US" sz="13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ru-RU" sz="2400" b="1" dirty="0">
                <a:solidFill>
                  <a:srgbClr val="FFFFFF"/>
                </a:solidFill>
                <a:latin typeface="Arial"/>
                <a:cs typeface="Arial"/>
              </a:rPr>
              <a:t>1,1</a:t>
            </a:r>
            <a:r>
              <a:rPr lang="ru-RU"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ru-RU" sz="1400" spc="-1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баробар</a:t>
            </a:r>
            <a:endParaRPr sz="1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17942"/>
            <a:ext cx="7885430" cy="1141095"/>
            <a:chOff x="8149323" y="1633993"/>
            <a:chExt cx="7885430" cy="1141095"/>
          </a:xfrm>
        </p:grpSpPr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66929" y="2590800"/>
              <a:ext cx="207329" cy="17038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Вилоятдан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9634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09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банд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endParaRPr sz="14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en-US" sz="1600" b="1" spc="-90" dirty="0">
                <a:solidFill>
                  <a:srgbClr val="FF0000"/>
                </a:solidFill>
                <a:latin typeface="Arial"/>
                <a:cs typeface="Arial"/>
              </a:rPr>
              <a:t>75</a:t>
            </a:r>
            <a:r>
              <a:rPr sz="1600" b="1" spc="-9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1600" spc="-9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758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09"/>
              </a:spcBef>
            </a:pPr>
            <a:r>
              <a:rPr sz="1450" spc="-10" dirty="0" err="1">
                <a:solidFill>
                  <a:srgbClr val="3C2B98"/>
                </a:solidFill>
                <a:latin typeface="Tahoma"/>
                <a:cs typeface="Tahoma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/>
                <a:cs typeface="Tahoma"/>
              </a:rPr>
              <a:t>бўш</a:t>
            </a:r>
            <a:r>
              <a:rPr lang="uz-Cyrl-UZ" sz="1450" spc="-3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/>
                <a:cs typeface="Tahoma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450" dirty="0">
              <a:latin typeface="Tahoma"/>
              <a:cs typeface="Tahoma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1600" b="1" spc="220" dirty="0">
                <a:solidFill>
                  <a:srgbClr val="16387F"/>
                </a:solidFill>
                <a:latin typeface="Arial"/>
                <a:cs typeface="Arial"/>
              </a:rPr>
              <a:t>0</a:t>
            </a:r>
            <a:r>
              <a:rPr sz="1600" b="1" spc="22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600" dirty="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27909" y="1343620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79296" y="2131386"/>
            <a:ext cx="208978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en-US" sz="2600" b="1" dirty="0">
                <a:solidFill>
                  <a:srgbClr val="16387F"/>
                </a:solidFill>
                <a:latin typeface="Arial"/>
                <a:cs typeface="Arial"/>
              </a:rPr>
              <a:t>8 277</a:t>
            </a:r>
            <a:r>
              <a:rPr sz="2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lang="en-US" sz="2600" b="1" dirty="0">
                <a:solidFill>
                  <a:srgbClr val="16387F"/>
                </a:solidFill>
                <a:latin typeface="Arial"/>
                <a:cs typeface="Arial"/>
              </a:rPr>
              <a:t>2 668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404313" y="3081009"/>
            <a:ext cx="8353302" cy="1857381"/>
            <a:chOff x="338423" y="3091416"/>
            <a:chExt cx="8353302" cy="1857381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746" y="3189196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8423" y="4200131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1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кредитлар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198674" y="3346991"/>
            <a:ext cx="1676660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2800" b="1" dirty="0">
                <a:solidFill>
                  <a:srgbClr val="273B6F"/>
                </a:solidFill>
                <a:latin typeface="Arial"/>
                <a:cs typeface="Arial"/>
              </a:rPr>
              <a:t>176,4</a:t>
            </a:r>
            <a:r>
              <a:rPr lang="en-US" sz="3375" spc="37" baseline="1234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млн</a:t>
            </a:r>
            <a:r>
              <a:rPr lang="ru-RU" sz="1200" spc="37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с</a:t>
            </a:r>
            <a:r>
              <a:rPr lang="uz-Cyrl-UZ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ўм</a:t>
            </a:r>
            <a:endParaRPr sz="1200" baseline="1234" dirty="0">
              <a:latin typeface="+mn-lt"/>
              <a:cs typeface="Microsoft Sans Serif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100927" y="3149702"/>
            <a:ext cx="2216142" cy="682524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05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spc="9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088076" y="3416807"/>
            <a:ext cx="78486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2400" b="1" dirty="0">
                <a:solidFill>
                  <a:srgbClr val="273B6F"/>
                </a:solidFill>
                <a:latin typeface="Arial"/>
                <a:cs typeface="Arial"/>
              </a:rPr>
              <a:t>51</a:t>
            </a:r>
            <a:r>
              <a:rPr lang="uz-Cyrl-UZ" sz="2400" b="1" dirty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en-US" sz="2400" b="1" dirty="0">
                <a:solidFill>
                  <a:srgbClr val="273B6F"/>
                </a:solidFill>
                <a:latin typeface="Arial"/>
                <a:cs typeface="Arial"/>
              </a:rPr>
              <a:t>3</a:t>
            </a:r>
            <a:endParaRPr sz="1400" dirty="0">
              <a:latin typeface="Microsoft Sans Serif"/>
              <a:cs typeface="Microsoft Sans Serif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799361" y="3485538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072453" y="3632256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баробар</a:t>
            </a:r>
            <a:endParaRPr sz="700" dirty="0">
              <a:latin typeface="Microsoft Sans Serif"/>
              <a:cs typeface="Microsoft Sans Serif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88630" y="3423023"/>
            <a:ext cx="4572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74002" y="4362418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25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460990" y="4232221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563881" y="4148861"/>
            <a:ext cx="1450829" cy="61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uz-Cyrl-UZ" sz="3000" b="1" dirty="0">
                <a:solidFill>
                  <a:srgbClr val="273B6F"/>
                </a:solidFill>
                <a:latin typeface="Arial"/>
                <a:cs typeface="Arial"/>
              </a:rPr>
              <a:t>  </a:t>
            </a:r>
            <a:r>
              <a:rPr lang="en-US" sz="3000" b="1" dirty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r>
              <a:rPr lang="uz-Cyrl-UZ" sz="3000" b="1" dirty="0">
                <a:solidFill>
                  <a:srgbClr val="273B6F"/>
                </a:solidFill>
                <a:latin typeface="Arial"/>
                <a:cs typeface="Arial"/>
              </a:rPr>
              <a:t>,0</a:t>
            </a:r>
            <a:endParaRPr sz="3000" dirty="0">
              <a:latin typeface="Microsoft Sans Serif"/>
              <a:cs typeface="Microsoft Sans Serif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346768" y="4198475"/>
            <a:ext cx="2602926" cy="741207"/>
            <a:chOff x="3320658" y="4209695"/>
            <a:chExt cx="2602766" cy="741207"/>
          </a:xfrm>
        </p:grpSpPr>
        <p:sp>
          <p:nvSpPr>
            <p:cNvPr id="115" name="object 115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403913" y="4382816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210313" y="4259942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646114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6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435413" y="4370716"/>
            <a:ext cx="933911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b="1" spc="-25" dirty="0">
                <a:solidFill>
                  <a:srgbClr val="273B6F"/>
                </a:solidFill>
                <a:latin typeface="Arial"/>
                <a:cs typeface="Arial"/>
              </a:rPr>
              <a:t>50</a:t>
            </a:r>
            <a:r>
              <a:rPr lang="uz-Cyrl-UZ" sz="2500" b="1" spc="-25" dirty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en-US" sz="2500" b="1" spc="-25" dirty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endParaRPr lang="uz-Cyrl-UZ" sz="2500" dirty="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0815" y="431913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70815" y="4531249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Амалга</a:t>
            </a:r>
            <a:r>
              <a:rPr sz="2200" spc="7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оширилган</a:t>
            </a:r>
            <a:endParaRPr sz="2200" dirty="0">
              <a:latin typeface="Microsoft Sans Serif"/>
              <a:cs typeface="Microsoft Sans Serif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/>
                <a:cs typeface="Arial"/>
              </a:rPr>
              <a:t>Микролойиҳалар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25" dirty="0">
                <a:solidFill>
                  <a:srgbClr val="273B6F"/>
                </a:solidFill>
                <a:latin typeface="Arial"/>
                <a:cs typeface="Arial"/>
              </a:rPr>
              <a:t>3 </a:t>
            </a:r>
            <a:r>
              <a:rPr sz="1900" spc="-25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90450" y="3180634"/>
            <a:ext cx="2467288" cy="657729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45" dirty="0">
                <a:solidFill>
                  <a:srgbClr val="273B6F"/>
                </a:solidFill>
                <a:latin typeface="Arial"/>
                <a:cs typeface="Arial"/>
              </a:rPr>
              <a:t>7</a:t>
            </a:r>
            <a:r>
              <a:rPr sz="3750" b="1" spc="-4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124581" y="4386209"/>
            <a:ext cx="3380475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en-US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X</a:t>
            </a:r>
            <a:r>
              <a:rPr lang="ru-RU" sz="1600" b="1" dirty="0" err="1">
                <a:solidFill>
                  <a:srgbClr val="3C2B98"/>
                </a:solidFill>
                <a:latin typeface="Microsoft Sans Serif"/>
                <a:cs typeface="Microsoft Sans Serif"/>
              </a:rPr>
              <a:t>измат</a:t>
            </a:r>
            <a:r>
              <a:rPr lang="ru-RU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lang="ru-RU" sz="1600" b="1" dirty="0" err="1">
                <a:solidFill>
                  <a:srgbClr val="3C2B98"/>
                </a:solidFill>
                <a:latin typeface="Microsoft Sans Serif"/>
                <a:cs typeface="Microsoft Sans Serif"/>
              </a:rPr>
              <a:t>кўрсатиш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9222269" y="4018785"/>
            <a:ext cx="3227721" cy="230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57170" algn="l"/>
              </a:tabLst>
            </a:pPr>
            <a:r>
              <a:rPr lang="uz-Cyrl-UZ" sz="1400" b="1" dirty="0">
                <a:solidFill>
                  <a:srgbClr val="3C2B98"/>
                </a:solidFill>
                <a:latin typeface="Arial"/>
                <a:cs typeface="Arial"/>
              </a:rPr>
              <a:t>  </a:t>
            </a:r>
            <a:r>
              <a:rPr lang="uz-Latn-UZ" sz="1400" b="1" dirty="0">
                <a:solidFill>
                  <a:srgbClr val="3C2B98"/>
                </a:solidFill>
                <a:latin typeface="Arial"/>
                <a:cs typeface="Arial"/>
              </a:rPr>
              <a:t>“</a:t>
            </a:r>
            <a:r>
              <a:rPr lang="en-US" sz="1400" b="1" dirty="0">
                <a:solidFill>
                  <a:srgbClr val="3C2B98"/>
                </a:solidFill>
                <a:latin typeface="Arial"/>
                <a:cs typeface="Arial"/>
              </a:rPr>
              <a:t> </a:t>
            </a:r>
            <a:r>
              <a:rPr lang="en-US" sz="1400" b="1" dirty="0" err="1">
                <a:solidFill>
                  <a:srgbClr val="3C2B98"/>
                </a:solidFill>
                <a:latin typeface="Arial"/>
                <a:cs typeface="Arial"/>
              </a:rPr>
              <a:t>Texno</a:t>
            </a:r>
            <a:r>
              <a:rPr lang="en-US" sz="1400" b="1" dirty="0">
                <a:solidFill>
                  <a:srgbClr val="3C2B98"/>
                </a:solidFill>
                <a:latin typeface="Arial"/>
                <a:cs typeface="Arial"/>
              </a:rPr>
              <a:t> hudud </a:t>
            </a:r>
            <a:r>
              <a:rPr lang="uz-Latn-UZ" sz="1400" b="1" dirty="0">
                <a:solidFill>
                  <a:srgbClr val="3C2B98"/>
                </a:solidFill>
                <a:latin typeface="Arial"/>
                <a:cs typeface="Arial"/>
              </a:rPr>
              <a:t>” MCHJ 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3224203" y="4485098"/>
            <a:ext cx="3848246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uz-Cyrl-UZ"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  </a:t>
            </a:r>
            <a:r>
              <a:rPr lang="uz-Cyrl-UZ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 савдо қилиш</a:t>
            </a:r>
            <a:endParaRPr sz="1600" b="1" dirty="0">
              <a:solidFill>
                <a:srgbClr val="3C2B98"/>
              </a:solidFill>
              <a:latin typeface="Microsoft Sans Serif"/>
              <a:cs typeface="Microsoft Sans Serif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4198293" y="4050322"/>
            <a:ext cx="2227396" cy="2609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1600" b="1" dirty="0">
                <a:solidFill>
                  <a:srgbClr val="3C2B98"/>
                </a:solidFill>
                <a:latin typeface="Arial"/>
                <a:cs typeface="Arial"/>
              </a:rPr>
              <a:t>“</a:t>
            </a:r>
            <a:r>
              <a:rPr lang="uz-Latn-UZ" sz="1600" b="1" dirty="0">
                <a:solidFill>
                  <a:srgbClr val="3C2B98"/>
                </a:solidFill>
                <a:latin typeface="Arial"/>
                <a:cs typeface="Arial"/>
              </a:rPr>
              <a:t>OGABEK-226</a:t>
            </a:r>
            <a:r>
              <a:rPr lang="en-US" sz="1600" b="1" dirty="0">
                <a:solidFill>
                  <a:srgbClr val="3C2B98"/>
                </a:solidFill>
                <a:latin typeface="Arial"/>
                <a:cs typeface="Arial"/>
              </a:rPr>
              <a:t>” MCHJ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95" name="object 195"/>
          <p:cNvGrpSpPr/>
          <p:nvPr/>
        </p:nvGrpSpPr>
        <p:grpSpPr>
          <a:xfrm>
            <a:off x="441645" y="5123131"/>
            <a:ext cx="3901763" cy="2523167"/>
            <a:chOff x="2595733" y="5131942"/>
            <a:chExt cx="3901763" cy="2523167"/>
          </a:xfrm>
        </p:grpSpPr>
        <p:sp>
          <p:nvSpPr>
            <p:cNvPr id="203" name="object 203"/>
            <p:cNvSpPr/>
            <p:nvPr/>
          </p:nvSpPr>
          <p:spPr>
            <a:xfrm>
              <a:off x="6497496" y="5131942"/>
              <a:ext cx="0" cy="2216150"/>
            </a:xfrm>
            <a:custGeom>
              <a:avLst/>
              <a:gdLst/>
              <a:ahLst/>
              <a:cxnLst/>
              <a:rect l="l" t="t" r="r" b="b"/>
              <a:pathLst>
                <a:path h="2216150">
                  <a:moveTo>
                    <a:pt x="0" y="0"/>
                  </a:moveTo>
                  <a:lnTo>
                    <a:pt x="0" y="221586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84491" y="7348092"/>
              <a:ext cx="302418" cy="30701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95733" y="7399672"/>
              <a:ext cx="307199" cy="215900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>
            <a:off x="835298" y="7320023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995780" y="7282116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435783" y="7275794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10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3612390" y="7284029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40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МИКРОЛОЙИҲАЛАР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/>
                <a:cs typeface="Arial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/>
                <a:cs typeface="Arial"/>
              </a:rPr>
              <a:t>КРЕДИТ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/>
              <a:cs typeface="Tahoma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/>
                <a:cs typeface="Arial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/>
                <a:cs typeface="Arial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/>
                <a:cs typeface="Arial"/>
              </a:rPr>
              <a:t> СОНИ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/>
                <a:cs typeface="Arial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ЎРНИ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29147" y="8157846"/>
            <a:ext cx="1320409" cy="1166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3500" b="1" spc="-2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en-US" sz="4000" b="1" spc="-25" dirty="0">
                <a:solidFill>
                  <a:srgbClr val="273B6F"/>
                </a:solidFill>
                <a:latin typeface="Arial"/>
                <a:cs typeface="Arial"/>
              </a:rPr>
              <a:t>300</a:t>
            </a:r>
            <a:r>
              <a:rPr lang="uz-Cyrl-UZ" sz="4000" b="1" spc="-25" dirty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en-US" sz="4000" b="1" spc="-25" dirty="0">
                <a:solidFill>
                  <a:srgbClr val="273B6F"/>
                </a:solidFill>
                <a:latin typeface="Arial"/>
                <a:cs typeface="Arial"/>
              </a:rPr>
              <a:t>9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448298" y="8727360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мл</a:t>
            </a:r>
            <a:r>
              <a:rPr lang="uz-Cyrl-UZ" sz="2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н</a:t>
            </a:r>
            <a:r>
              <a:rPr sz="2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.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464337" y="8969861"/>
            <a:ext cx="5073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7008196" y="8654439"/>
            <a:ext cx="1882460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3500" b="1" spc="-310" dirty="0">
                <a:solidFill>
                  <a:srgbClr val="273B6F"/>
                </a:solidFill>
                <a:latin typeface="Arial"/>
                <a:cs typeface="Arial"/>
              </a:rPr>
              <a:t>252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135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6" name="object 266"/>
          <p:cNvSpPr txBox="1"/>
          <p:nvPr/>
        </p:nvSpPr>
        <p:spPr>
          <a:xfrm>
            <a:off x="15657898" y="8681407"/>
            <a:ext cx="1105535" cy="715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500" b="1" spc="-310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7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9913219" y="8689647"/>
            <a:ext cx="42164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en-US" sz="4300" b="1" spc="-40" dirty="0">
                <a:solidFill>
                  <a:srgbClr val="273B6F"/>
                </a:solidFill>
                <a:latin typeface="Arial"/>
                <a:cs typeface="Arial"/>
              </a:rPr>
              <a:t>8</a:t>
            </a:r>
            <a:r>
              <a:rPr sz="4300" b="1" spc="-4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r>
              <a:rPr sz="3000" spc="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000" spc="-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ОИЛА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	</a:t>
            </a:r>
            <a:r>
              <a:rPr lang="en-US" sz="4300" b="1" baseline="1388" dirty="0">
                <a:solidFill>
                  <a:srgbClr val="273B6F"/>
                </a:solidFill>
                <a:latin typeface="Arial"/>
                <a:cs typeface="Arial"/>
              </a:rPr>
              <a:t>200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01.0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9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38" name="object 206">
            <a:extLst>
              <a:ext uri="{FF2B5EF4-FFF2-40B4-BE49-F238E27FC236}">
                <a16:creationId xmlns:a16="http://schemas.microsoft.com/office/drawing/2014/main" id="{6E93C883-F608-4A10-AAF9-A9318B2251EB}"/>
              </a:ext>
            </a:extLst>
          </p:cNvPr>
          <p:cNvSpPr txBox="1"/>
          <p:nvPr/>
        </p:nvSpPr>
        <p:spPr>
          <a:xfrm>
            <a:off x="2802806" y="731415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39" name="object 206">
            <a:extLst>
              <a:ext uri="{FF2B5EF4-FFF2-40B4-BE49-F238E27FC236}">
                <a16:creationId xmlns:a16="http://schemas.microsoft.com/office/drawing/2014/main" id="{A23239F0-01BC-49CC-808C-54FCF90AD920}"/>
              </a:ext>
            </a:extLst>
          </p:cNvPr>
          <p:cNvSpPr txBox="1"/>
          <p:nvPr/>
        </p:nvSpPr>
        <p:spPr>
          <a:xfrm>
            <a:off x="4878942" y="729527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40" name="object 207">
            <a:extLst>
              <a:ext uri="{FF2B5EF4-FFF2-40B4-BE49-F238E27FC236}">
                <a16:creationId xmlns:a16="http://schemas.microsoft.com/office/drawing/2014/main" id="{511B1F94-ECA4-43C3-AD39-FCEBAC4A46CC}"/>
              </a:ext>
            </a:extLst>
          </p:cNvPr>
          <p:cNvSpPr txBox="1"/>
          <p:nvPr/>
        </p:nvSpPr>
        <p:spPr>
          <a:xfrm>
            <a:off x="6214546" y="7256333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2" name="object 208">
            <a:extLst>
              <a:ext uri="{FF2B5EF4-FFF2-40B4-BE49-F238E27FC236}">
                <a16:creationId xmlns:a16="http://schemas.microsoft.com/office/drawing/2014/main" id="{C003DBB8-DE00-4C8F-B9D3-D845A3202CBF}"/>
              </a:ext>
            </a:extLst>
          </p:cNvPr>
          <p:cNvSpPr txBox="1"/>
          <p:nvPr/>
        </p:nvSpPr>
        <p:spPr>
          <a:xfrm>
            <a:off x="5475975" y="7274077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100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3" name="object 209">
            <a:extLst>
              <a:ext uri="{FF2B5EF4-FFF2-40B4-BE49-F238E27FC236}">
                <a16:creationId xmlns:a16="http://schemas.microsoft.com/office/drawing/2014/main" id="{7BE78314-0296-4087-A1F5-86BF0686CF23}"/>
              </a:ext>
            </a:extLst>
          </p:cNvPr>
          <p:cNvSpPr txBox="1"/>
          <p:nvPr/>
        </p:nvSpPr>
        <p:spPr>
          <a:xfrm>
            <a:off x="7998725" y="7217475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5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74" name="object 206">
            <a:extLst>
              <a:ext uri="{FF2B5EF4-FFF2-40B4-BE49-F238E27FC236}">
                <a16:creationId xmlns:a16="http://schemas.microsoft.com/office/drawing/2014/main" id="{20D8C58D-4D07-4643-8329-0DE3103CEF94}"/>
              </a:ext>
            </a:extLst>
          </p:cNvPr>
          <p:cNvSpPr txBox="1"/>
          <p:nvPr/>
        </p:nvSpPr>
        <p:spPr>
          <a:xfrm>
            <a:off x="7167008" y="728610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pic>
        <p:nvPicPr>
          <p:cNvPr id="277" name="object 205">
            <a:extLst>
              <a:ext uri="{FF2B5EF4-FFF2-40B4-BE49-F238E27FC236}">
                <a16:creationId xmlns:a16="http://schemas.microsoft.com/office/drawing/2014/main" id="{1035D2DA-304E-4035-AB4F-9CAD2C645E41}"/>
              </a:ext>
            </a:extLst>
          </p:cNvPr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511277" y="7397854"/>
            <a:ext cx="307199" cy="215900"/>
          </a:xfrm>
          <a:prstGeom prst="rect">
            <a:avLst/>
          </a:prstGeom>
        </p:spPr>
      </p:pic>
      <p:pic>
        <p:nvPicPr>
          <p:cNvPr id="278" name="object 204">
            <a:extLst>
              <a:ext uri="{FF2B5EF4-FFF2-40B4-BE49-F238E27FC236}">
                <a16:creationId xmlns:a16="http://schemas.microsoft.com/office/drawing/2014/main" id="{1C1DB969-E870-4631-B3C0-F01760747919}"/>
              </a:ext>
            </a:extLst>
          </p:cNvPr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747427" y="7343242"/>
            <a:ext cx="302418" cy="307017"/>
          </a:xfrm>
          <a:prstGeom prst="rect">
            <a:avLst/>
          </a:prstGeom>
        </p:spPr>
      </p:pic>
      <p:sp>
        <p:nvSpPr>
          <p:cNvPr id="279" name="object 260">
            <a:extLst>
              <a:ext uri="{FF2B5EF4-FFF2-40B4-BE49-F238E27FC236}">
                <a16:creationId xmlns:a16="http://schemas.microsoft.com/office/drawing/2014/main" id="{7DAA36D2-DF17-4D93-890C-944A989A715E}"/>
              </a:ext>
            </a:extLst>
          </p:cNvPr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/>
                <a:cs typeface="Tahoma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/>
                <a:cs typeface="Tahoma"/>
              </a:rPr>
              <a:t>НАТИЖАЛА</a:t>
            </a:r>
            <a:r>
              <a:rPr lang="uz-Cyrl-UZ" sz="1800" b="1" spc="-10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280" name="object 178">
            <a:extLst>
              <a:ext uri="{FF2B5EF4-FFF2-40B4-BE49-F238E27FC236}">
                <a16:creationId xmlns:a16="http://schemas.microsoft.com/office/drawing/2014/main" id="{BBFEF55F-E51D-4F7D-A6D5-75E9AE2C6714}"/>
              </a:ext>
            </a:extLst>
          </p:cNvPr>
          <p:cNvSpPr txBox="1"/>
          <p:nvPr/>
        </p:nvSpPr>
        <p:spPr>
          <a:xfrm>
            <a:off x="14381861" y="4860009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en-US" sz="4125" b="1" spc="459" baseline="1010" dirty="0">
                <a:solidFill>
                  <a:srgbClr val="273B6F"/>
                </a:solidFill>
                <a:latin typeface="Arial"/>
                <a:cs typeface="Arial"/>
              </a:rPr>
              <a:t>50</a:t>
            </a:r>
            <a:r>
              <a:rPr sz="4125" b="1" spc="-30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1" name="object 179">
            <a:extLst>
              <a:ext uri="{FF2B5EF4-FFF2-40B4-BE49-F238E27FC236}">
                <a16:creationId xmlns:a16="http://schemas.microsoft.com/office/drawing/2014/main" id="{35D56D96-3009-4FD7-BB4D-EB48345AE909}"/>
              </a:ext>
            </a:extLst>
          </p:cNvPr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282" name="object 180">
            <a:extLst>
              <a:ext uri="{FF2B5EF4-FFF2-40B4-BE49-F238E27FC236}">
                <a16:creationId xmlns:a16="http://schemas.microsoft.com/office/drawing/2014/main" id="{344B7FF8-A4D2-4397-AFF3-3E4CFA40D9F0}"/>
              </a:ext>
            </a:extLst>
          </p:cNvPr>
          <p:cNvSpPr txBox="1"/>
          <p:nvPr/>
        </p:nvSpPr>
        <p:spPr>
          <a:xfrm>
            <a:off x="14395677" y="5301614"/>
            <a:ext cx="2338416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en-US" sz="4125" b="1" baseline="1010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4125" b="1" spc="37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950" baseline="2136" dirty="0">
              <a:latin typeface="Microsoft Sans Serif"/>
              <a:cs typeface="Microsoft Sans Serif"/>
            </a:endParaRPr>
          </a:p>
        </p:txBody>
      </p:sp>
      <p:grpSp>
        <p:nvGrpSpPr>
          <p:cNvPr id="283" name="object 181">
            <a:extLst>
              <a:ext uri="{FF2B5EF4-FFF2-40B4-BE49-F238E27FC236}">
                <a16:creationId xmlns:a16="http://schemas.microsoft.com/office/drawing/2014/main" id="{3BACB0B9-18D8-44BC-9F29-9362AFE5E730}"/>
              </a:ext>
            </a:extLst>
          </p:cNvPr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>
              <a:extLst>
                <a:ext uri="{FF2B5EF4-FFF2-40B4-BE49-F238E27FC236}">
                  <a16:creationId xmlns:a16="http://schemas.microsoft.com/office/drawing/2014/main" id="{9492F024-8974-45DC-80D7-893450EDC553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>
              <a:extLst>
                <a:ext uri="{FF2B5EF4-FFF2-40B4-BE49-F238E27FC236}">
                  <a16:creationId xmlns:a16="http://schemas.microsoft.com/office/drawing/2014/main" id="{8CA87C38-AFC5-418C-997F-FD86C9332586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6" name="object 177">
            <a:extLst>
              <a:ext uri="{FF2B5EF4-FFF2-40B4-BE49-F238E27FC236}">
                <a16:creationId xmlns:a16="http://schemas.microsoft.com/office/drawing/2014/main" id="{0F97881E-99CD-49D1-A5AA-159866EF66EE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3495331" y="4828342"/>
            <a:ext cx="346563" cy="308749"/>
          </a:xfrm>
          <a:prstGeom prst="rect">
            <a:avLst/>
          </a:prstGeom>
        </p:spPr>
      </p:pic>
      <p:sp>
        <p:nvSpPr>
          <p:cNvPr id="287" name="object 178">
            <a:extLst>
              <a:ext uri="{FF2B5EF4-FFF2-40B4-BE49-F238E27FC236}">
                <a16:creationId xmlns:a16="http://schemas.microsoft.com/office/drawing/2014/main" id="{9FF2D5D5-0C80-4624-8637-EFDF9AC3E28E}"/>
              </a:ext>
            </a:extLst>
          </p:cNvPr>
          <p:cNvSpPr txBox="1"/>
          <p:nvPr/>
        </p:nvSpPr>
        <p:spPr>
          <a:xfrm>
            <a:off x="10008532" y="4915771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en-US" sz="4125" b="1" spc="459" baseline="1010" dirty="0">
                <a:solidFill>
                  <a:srgbClr val="273B6F"/>
                </a:solidFill>
                <a:latin typeface="Arial"/>
                <a:cs typeface="Arial"/>
              </a:rPr>
              <a:t>100</a:t>
            </a:r>
            <a:r>
              <a:rPr sz="4125" b="1" spc="-30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8" name="object 179">
            <a:extLst>
              <a:ext uri="{FF2B5EF4-FFF2-40B4-BE49-F238E27FC236}">
                <a16:creationId xmlns:a16="http://schemas.microsoft.com/office/drawing/2014/main" id="{00FC2685-1D61-407F-806C-7711547DAC22}"/>
              </a:ext>
            </a:extLst>
          </p:cNvPr>
          <p:cNvSpPr txBox="1"/>
          <p:nvPr/>
        </p:nvSpPr>
        <p:spPr>
          <a:xfrm>
            <a:off x="9966273" y="5301614"/>
            <a:ext cx="2084837" cy="5706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150" spc="-2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lang="uz-Cyrl-UZ" sz="1150" spc="-20" dirty="0">
                <a:solidFill>
                  <a:srgbClr val="3C2B98"/>
                </a:solidFill>
                <a:latin typeface="Tahoma"/>
                <a:cs typeface="Tahoma"/>
              </a:rPr>
              <a:t> аҳоли </a:t>
            </a:r>
            <a:r>
              <a:rPr lang="uz-Cyrl-UZ" sz="3600" b="1" baseline="1010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lang="uz-Cyrl-UZ" sz="2800" b="1" spc="37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uz-Cyrl-UZ" sz="1150" spc="-20" dirty="0">
                <a:solidFill>
                  <a:srgbClr val="3C2B98"/>
                </a:solidFill>
                <a:latin typeface="Tahoma"/>
                <a:cs typeface="Tahoma"/>
              </a:rPr>
              <a:t>нафар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150" dirty="0">
              <a:latin typeface="Tahoma"/>
              <a:cs typeface="Tahoma"/>
            </a:endParaRPr>
          </a:p>
        </p:txBody>
      </p:sp>
      <p:grpSp>
        <p:nvGrpSpPr>
          <p:cNvPr id="290" name="object 181">
            <a:extLst>
              <a:ext uri="{FF2B5EF4-FFF2-40B4-BE49-F238E27FC236}">
                <a16:creationId xmlns:a16="http://schemas.microsoft.com/office/drawing/2014/main" id="{1A33B2B4-D85E-4050-8E3A-BEBB810266DE}"/>
              </a:ext>
            </a:extLst>
          </p:cNvPr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>
              <a:extLst>
                <a:ext uri="{FF2B5EF4-FFF2-40B4-BE49-F238E27FC236}">
                  <a16:creationId xmlns:a16="http://schemas.microsoft.com/office/drawing/2014/main" id="{F8FC8220-0EC2-4B58-B7FB-7A59FE195308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>
              <a:extLst>
                <a:ext uri="{FF2B5EF4-FFF2-40B4-BE49-F238E27FC236}">
                  <a16:creationId xmlns:a16="http://schemas.microsoft.com/office/drawing/2014/main" id="{A44E7EC5-32B2-4AA9-AC05-B37CE0B789C0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3" name="object 177">
            <a:extLst>
              <a:ext uri="{FF2B5EF4-FFF2-40B4-BE49-F238E27FC236}">
                <a16:creationId xmlns:a16="http://schemas.microsoft.com/office/drawing/2014/main" id="{1D5A4637-F4D4-4FE6-B28D-F9A9699677EF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361823" y="4909844"/>
            <a:ext cx="346563" cy="308749"/>
          </a:xfrm>
          <a:prstGeom prst="rect">
            <a:avLst/>
          </a:prstGeom>
        </p:spPr>
      </p:pic>
      <p:sp>
        <p:nvSpPr>
          <p:cNvPr id="222" name="object 35">
            <a:extLst>
              <a:ext uri="{FF2B5EF4-FFF2-40B4-BE49-F238E27FC236}">
                <a16:creationId xmlns:a16="http://schemas.microsoft.com/office/drawing/2014/main" id="{773F367A-C20E-4392-9E02-D2C7400EB264}"/>
              </a:ext>
            </a:extLst>
          </p:cNvPr>
          <p:cNvSpPr txBox="1"/>
          <p:nvPr/>
        </p:nvSpPr>
        <p:spPr>
          <a:xfrm>
            <a:off x="10309292" y="1788237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4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  2</a:t>
            </a:r>
            <a:r>
              <a:rPr lang="ru-RU" sz="240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223" name="object 35">
            <a:extLst>
              <a:ext uri="{FF2B5EF4-FFF2-40B4-BE49-F238E27FC236}">
                <a16:creationId xmlns:a16="http://schemas.microsoft.com/office/drawing/2014/main" id="{F482E9F8-A859-418D-ADF8-93AF0A01D990}"/>
              </a:ext>
            </a:extLst>
          </p:cNvPr>
          <p:cNvSpPr txBox="1"/>
          <p:nvPr/>
        </p:nvSpPr>
        <p:spPr>
          <a:xfrm>
            <a:off x="12549488" y="178017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58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7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0</a:t>
            </a:r>
            <a:r>
              <a:rPr lang="ru-RU" sz="240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224" name="object 126">
            <a:extLst>
              <a:ext uri="{FF2B5EF4-FFF2-40B4-BE49-F238E27FC236}">
                <a16:creationId xmlns:a16="http://schemas.microsoft.com/office/drawing/2014/main" id="{21715D98-9F48-4DC7-B8A1-5E5227CE8463}"/>
              </a:ext>
            </a:extLst>
          </p:cNvPr>
          <p:cNvSpPr txBox="1"/>
          <p:nvPr/>
        </p:nvSpPr>
        <p:spPr>
          <a:xfrm>
            <a:off x="4533829" y="4330672"/>
            <a:ext cx="986818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b="1" spc="-25" dirty="0">
                <a:solidFill>
                  <a:srgbClr val="273B6F"/>
                </a:solidFill>
                <a:latin typeface="Arial"/>
                <a:cs typeface="Arial"/>
              </a:rPr>
              <a:t>1</a:t>
            </a:r>
            <a:r>
              <a:rPr lang="uz-Cyrl-UZ" sz="3000" b="1" spc="-25" dirty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en-US" sz="3000" b="1" spc="-25" dirty="0">
                <a:solidFill>
                  <a:srgbClr val="273B6F"/>
                </a:solidFill>
                <a:latin typeface="Arial"/>
                <a:cs typeface="Arial"/>
              </a:rPr>
              <a:t>3</a:t>
            </a:r>
            <a:endParaRPr lang="uz-Cyrl-UZ" sz="3000" dirty="0">
              <a:latin typeface="Arial"/>
              <a:cs typeface="Arial"/>
            </a:endParaRPr>
          </a:p>
        </p:txBody>
      </p:sp>
      <p:sp>
        <p:nvSpPr>
          <p:cNvPr id="225" name="object 128">
            <a:extLst>
              <a:ext uri="{FF2B5EF4-FFF2-40B4-BE49-F238E27FC236}">
                <a16:creationId xmlns:a16="http://schemas.microsoft.com/office/drawing/2014/main" id="{B35C313B-ACD8-4671-9EA6-1D842DABE004}"/>
              </a:ext>
            </a:extLst>
          </p:cNvPr>
          <p:cNvSpPr txBox="1"/>
          <p:nvPr/>
        </p:nvSpPr>
        <p:spPr>
          <a:xfrm>
            <a:off x="2459671" y="4543105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226" name="object 128">
            <a:extLst>
              <a:ext uri="{FF2B5EF4-FFF2-40B4-BE49-F238E27FC236}">
                <a16:creationId xmlns:a16="http://schemas.microsoft.com/office/drawing/2014/main" id="{490D4438-FFC4-4509-AD96-02341D168D2C}"/>
              </a:ext>
            </a:extLst>
          </p:cNvPr>
          <p:cNvSpPr txBox="1"/>
          <p:nvPr/>
        </p:nvSpPr>
        <p:spPr>
          <a:xfrm>
            <a:off x="5217896" y="4517417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pic>
        <p:nvPicPr>
          <p:cNvPr id="228" name="Рисунок 227">
            <a:extLst>
              <a:ext uri="{FF2B5EF4-FFF2-40B4-BE49-F238E27FC236}">
                <a16:creationId xmlns:a16="http://schemas.microsoft.com/office/drawing/2014/main" id="{877B5446-BA4D-08B8-C2B4-3D181F8FD156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29" y="223772"/>
            <a:ext cx="4033942" cy="782661"/>
          </a:xfrm>
          <a:prstGeom prst="rect">
            <a:avLst/>
          </a:prstGeom>
        </p:spPr>
      </p:pic>
      <p:pic>
        <p:nvPicPr>
          <p:cNvPr id="1028" name="Picture 4" descr="Xizmat ko'rsatish sohasi: aloqa va axborotlashtirish xizmatlariga talab  ortgan">
            <a:extLst>
              <a:ext uri="{FF2B5EF4-FFF2-40B4-BE49-F238E27FC236}">
                <a16:creationId xmlns:a16="http://schemas.microsoft.com/office/drawing/2014/main" id="{EA73FAD4-8123-CE75-A243-58099B9BC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798" y="5839542"/>
            <a:ext cx="2971281" cy="171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hakana savdo xizmatlari ulushi viloyat boʻyicha umumiy savdo xizmatlari  hajmining qariyb to'rtdan uch qismini tashkil etdi">
            <a:extLst>
              <a:ext uri="{FF2B5EF4-FFF2-40B4-BE49-F238E27FC236}">
                <a16:creationId xmlns:a16="http://schemas.microsoft.com/office/drawing/2014/main" id="{E97578CD-7217-C5AE-297F-1DF542FEC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5191" y="5992028"/>
            <a:ext cx="3635245" cy="151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Odamlarimiz hayotini obinonsiz tasavvur qila olmaydi». Novvoylar —  tandirchilar qanday yashashadi va ishlashadi?">
            <a:extLst>
              <a:ext uri="{FF2B5EF4-FFF2-40B4-BE49-F238E27FC236}">
                <a16:creationId xmlns:a16="http://schemas.microsoft.com/office/drawing/2014/main" id="{0FDD9BEC-0FFF-D014-E633-DC757BF30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02" y="5084489"/>
            <a:ext cx="3715120" cy="2089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O'zbekistonda avtoservis xizmatlari narxlar o'sishini tezlashtirdi —  Frank.uz">
            <a:extLst>
              <a:ext uri="{FF2B5EF4-FFF2-40B4-BE49-F238E27FC236}">
                <a16:creationId xmlns:a16="http://schemas.microsoft.com/office/drawing/2014/main" id="{5CD020CA-BF36-63C6-1488-7E482B13B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034" y="5138404"/>
            <a:ext cx="3590888" cy="201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</TotalTime>
  <Words>276</Words>
  <Application>Microsoft Office PowerPoint</Application>
  <PresentationFormat>Произвольный</PresentationFormat>
  <Paragraphs>87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Microsoft Sans Serif</vt:lpstr>
      <vt:lpstr>Tahoma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Пользователь</cp:lastModifiedBy>
  <cp:revision>49</cp:revision>
  <cp:lastPrinted>2025-11-22T15:16:56Z</cp:lastPrinted>
  <dcterms:created xsi:type="dcterms:W3CDTF">2025-11-21T17:17:30Z</dcterms:created>
  <dcterms:modified xsi:type="dcterms:W3CDTF">2026-05-08T05:48:42Z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2025-11-21T00:00:00Z</vt:filetime>
  </property>
  <property fmtid="{D5CDD505-2E9C-101B-9397-08002B2CF9AE}" pid="3" name="LastSaved">
    <vt:filetime>2025-11-21T00:00:00Z</vt:filetime>
  </property>
  <property fmtid="{D5CDD505-2E9C-101B-9397-08002B2CF9AE}" pid="4" name="Producer">
    <vt:lpwstr>iLovePDF</vt:lpwstr>
  </property>
</Properties>
</file>