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762" autoAdjust="0"/>
    <p:restoredTop sz="94660"/>
  </p:normalViewPr>
  <p:slideViewPr>
    <p:cSldViewPr>
      <p:cViewPr varScale="1">
        <p:scale>
          <a:sx n="76" d="100"/>
          <a:sy n="76" d="100"/>
        </p:scale>
        <p:origin x="1440" y="138"/>
      </p:cViewPr>
      <p:guideLst>
        <p:guide orient="horz" pos="2880"/>
        <p:guide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ts val="3279"/>
              </a:lnSpc>
              <a:spcBef>
                <a:spcPts val="384"/>
              </a:spcBef>
            </a:pPr>
            <a:r>
              <a:rPr lang="ru-RU" sz="2900" b="1" dirty="0">
                <a:solidFill>
                  <a:schemeClr val="tx2"/>
                </a:solidFill>
                <a:latin typeface="Arial"/>
                <a:cs typeface="Arial"/>
              </a:rPr>
              <a:t>ШАЙХОНТОҲУР</a:t>
            </a:r>
            <a:r>
              <a:rPr lang="ru-RU" sz="2900" b="1" spc="-3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ru-RU" sz="2900" b="1" dirty="0">
                <a:solidFill>
                  <a:schemeClr val="tx2"/>
                </a:solidFill>
                <a:latin typeface="Arial"/>
                <a:cs typeface="Arial"/>
              </a:rPr>
              <a:t>ТУМАНИ</a:t>
            </a:r>
            <a:r>
              <a:rPr lang="ru-RU" sz="2900" b="1" spc="-25" dirty="0">
                <a:solidFill>
                  <a:schemeClr val="tx2"/>
                </a:solidFill>
                <a:latin typeface="Arial"/>
                <a:cs typeface="Arial"/>
              </a:rPr>
              <a:t> ЯНГИ КАМОЛОН</a:t>
            </a:r>
            <a:r>
              <a:rPr lang="ru-RU" sz="2900" b="1" spc="-3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ru-RU" sz="2900" b="1" spc="-10" dirty="0">
                <a:solidFill>
                  <a:schemeClr val="tx2"/>
                </a:solidFill>
                <a:latin typeface="Arial"/>
                <a:cs typeface="Arial"/>
              </a:rPr>
              <a:t>МАҲАЛЛАСИДА </a:t>
            </a:r>
            <a:r>
              <a:rPr lang="ru-RU" sz="2900" b="1" dirty="0">
                <a:solidFill>
                  <a:schemeClr val="tx2"/>
                </a:solidFill>
                <a:latin typeface="Arial"/>
                <a:cs typeface="Arial"/>
              </a:rPr>
              <a:t>АҲОЛИ</a:t>
            </a:r>
            <a:r>
              <a:rPr lang="ru-RU" sz="2900" b="1" spc="-8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ru-RU" sz="2900" b="1" dirty="0">
                <a:solidFill>
                  <a:schemeClr val="tx2"/>
                </a:solidFill>
                <a:latin typeface="Arial"/>
                <a:cs typeface="Arial"/>
              </a:rPr>
              <a:t>БАНДЛИГИ</a:t>
            </a:r>
            <a:r>
              <a:rPr lang="ru-RU" sz="2900" b="1" spc="-8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ru-RU" sz="2900" b="1" dirty="0">
                <a:solidFill>
                  <a:schemeClr val="tx2"/>
                </a:solidFill>
                <a:latin typeface="Arial"/>
                <a:cs typeface="Arial"/>
              </a:rPr>
              <a:t>ВА</a:t>
            </a:r>
            <a:r>
              <a:rPr lang="ru-RU" sz="2900" b="1" spc="-8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ru-RU" sz="2900" b="1" dirty="0">
                <a:solidFill>
                  <a:schemeClr val="tx2"/>
                </a:solidFill>
                <a:latin typeface="Arial"/>
                <a:cs typeface="Arial"/>
              </a:rPr>
              <a:t>ДАРОМАДЛАРИНИ</a:t>
            </a:r>
            <a:r>
              <a:rPr lang="ru-RU" sz="2900" b="1" spc="-8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ru-RU" sz="2900" b="1" spc="-10" dirty="0">
                <a:solidFill>
                  <a:schemeClr val="tx2"/>
                </a:solidFill>
                <a:latin typeface="Arial"/>
                <a:cs typeface="Arial"/>
              </a:rPr>
              <a:t>ОШИРИШ</a:t>
            </a:r>
            <a:endParaRPr lang="ru-RU" sz="29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5247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40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Сафаров Темурбек Хўжаназар ўғли</a:t>
            </a:r>
            <a:endParaRPr lang="en-US" sz="12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 err="1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40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400" dirty="0">
              <a:latin typeface="Tahoma"/>
              <a:cs typeface="Tahoma"/>
            </a:endParaRPr>
          </a:p>
          <a:p>
            <a:r>
              <a:rPr lang="uz-Cyrl-UZ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Раҳматуллаева Элгиза Рустам қизи</a:t>
            </a:r>
            <a:endParaRPr lang="ru-RU" sz="14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uz-Cyrl-UZ" sz="1800" dirty="0"/>
              <a:t> </a:t>
            </a:r>
            <a:endParaRPr lang="ru-RU" sz="1800" dirty="0"/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uz-Cyrl-UZ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Турон банк Тошкент шаҳар БХМ</a:t>
            </a:r>
            <a:r>
              <a:rPr lang="uz-Cyrl-UZ" sz="1800" dirty="0"/>
              <a:t>.</a:t>
            </a:r>
            <a:endParaRPr lang="ru-RU" sz="1800" dirty="0"/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64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97</a:t>
            </a:r>
            <a:r>
              <a:rPr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674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uz-Cyrl-UZ" sz="185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ҳоли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54886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uz-Cyrl-UZ" sz="1300" b="1" spc="-65" dirty="0">
                <a:solidFill>
                  <a:schemeClr val="bg1"/>
                </a:solidFill>
                <a:latin typeface="Arial"/>
                <a:cs typeface="Arial"/>
              </a:rPr>
              <a:t>Камбағалликдан холи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sz="1600" b="1" spc="-90" dirty="0">
                <a:solidFill>
                  <a:srgbClr val="FF0000"/>
                </a:solidFill>
                <a:latin typeface="Arial"/>
                <a:cs typeface="Arial"/>
              </a:rPr>
              <a:t>49</a:t>
            </a:r>
            <a:r>
              <a:rPr sz="16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ru-RU"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27</a:t>
            </a:r>
            <a:r>
              <a:rPr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sz="3600" b="1" spc="75" baseline="2020" dirty="0" smtClean="0">
                <a:solidFill>
                  <a:srgbClr val="16387F"/>
                </a:solidFill>
                <a:latin typeface="Tahoma"/>
                <a:cs typeface="Tahoma"/>
              </a:rPr>
              <a:t>60</a:t>
            </a:r>
            <a:r>
              <a:rPr lang="ru-RU" sz="3600" b="1" spc="75" baseline="2020" dirty="0" smtClean="0">
                <a:solidFill>
                  <a:srgbClr val="16387F"/>
                </a:solidFill>
                <a:latin typeface="Tahoma"/>
                <a:cs typeface="Tahoma"/>
              </a:rPr>
              <a:t>8</a:t>
            </a:r>
            <a:r>
              <a:rPr lang="en-US" sz="3600" b="1" spc="75" baseline="2020" dirty="0" smtClean="0">
                <a:solidFill>
                  <a:srgbClr val="16387F"/>
                </a:solidFill>
                <a:latin typeface="Tahoma"/>
                <a:cs typeface="Tahoma"/>
              </a:rPr>
              <a:t>0</a:t>
            </a:r>
            <a:r>
              <a:rPr lang="en-US" sz="2800" b="1" spc="75" baseline="2020" dirty="0" smtClean="0">
                <a:solidFill>
                  <a:srgbClr val="16387F"/>
                </a:solidFill>
                <a:latin typeface="Tahoma"/>
                <a:cs typeface="Tahoma"/>
              </a:rPr>
              <a:t>     </a:t>
            </a:r>
            <a:r>
              <a:rPr lang="uz-Cyrl-UZ" sz="2400" b="1" spc="50" dirty="0" smtClean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2400" b="1" spc="50" dirty="0">
                <a:solidFill>
                  <a:srgbClr val="16387F"/>
                </a:solidFill>
                <a:latin typeface="Tahoma"/>
                <a:cs typeface="Tahoma"/>
              </a:rPr>
              <a:t>1714</a:t>
            </a:r>
            <a:r>
              <a:rPr lang="uz-Cyrl-UZ" sz="2400" b="1" spc="39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dirty="0">
                <a:solidFill>
                  <a:srgbClr val="273B6F"/>
                </a:solidFill>
                <a:latin typeface="Arial"/>
                <a:cs typeface="Arial"/>
              </a:rPr>
              <a:t>80,8</a:t>
            </a:r>
            <a:r>
              <a:rPr lang="en-US" sz="2400" spc="37" baseline="1234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2400" b="1" dirty="0">
                <a:solidFill>
                  <a:srgbClr val="273B6F"/>
                </a:solidFill>
                <a:latin typeface="Arial"/>
                <a:cs typeface="Arial"/>
              </a:rPr>
              <a:t>121/7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Х </a:t>
            </a:r>
            <a:r>
              <a:rPr lang="uz-Cyrl-UZ" sz="1200" b="1" spc="25" dirty="0">
                <a:solidFill>
                  <a:srgbClr val="273B6F"/>
                </a:solidFill>
                <a:latin typeface="Arial"/>
                <a:cs typeface="Arial"/>
              </a:rPr>
              <a:t>1,4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uz-Cyrl-UZ" sz="3000" b="1" dirty="0">
                <a:solidFill>
                  <a:srgbClr val="273B6F"/>
                </a:solidFill>
                <a:latin typeface="Arial"/>
                <a:cs typeface="Arial"/>
              </a:rPr>
              <a:t>  0</a:t>
            </a:r>
            <a:endParaRPr sz="300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02926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 smtClean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lang="ru-RU" sz="2350" b="1" spc="-85" dirty="0" smtClea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350" b="1" spc="-60" dirty="0" smtClean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750" b="1" spc="-45" dirty="0">
                <a:solidFill>
                  <a:srgbClr val="273B6F"/>
                </a:solidFill>
                <a:latin typeface="Arial"/>
                <a:cs typeface="Arial"/>
              </a:rPr>
              <a:t>4</a:t>
            </a:r>
            <a:r>
              <a:rPr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8816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ru-RU" sz="3750" b="1" spc="-45" smtClean="0">
                <a:solidFill>
                  <a:srgbClr val="273B6F"/>
                </a:solidFill>
                <a:latin typeface="Arial"/>
                <a:cs typeface="Arial"/>
              </a:rPr>
              <a:t>27</a:t>
            </a:r>
            <a:r>
              <a:rPr sz="3750" b="1" spc="-45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534762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lang="en-US" sz="1600" b="1" spc="-75" dirty="0">
                <a:solidFill>
                  <a:srgbClr val="3C2B98"/>
                </a:solidFill>
                <a:latin typeface="Tahoma"/>
                <a:cs typeface="Tahoma"/>
              </a:rPr>
              <a:t>“</a:t>
            </a:r>
            <a:r>
              <a:rPr lang="uz-Cyrl-UZ" sz="1600" b="1" spc="-75" dirty="0">
                <a:solidFill>
                  <a:srgbClr val="3C2B98"/>
                </a:solidFill>
                <a:latin typeface="Tahoma"/>
                <a:cs typeface="Tahoma"/>
              </a:rPr>
              <a:t>ДАЛА ДЎКОНИ </a:t>
            </a:r>
            <a:r>
              <a:rPr lang="en-US" sz="1600" b="1" spc="-75" dirty="0">
                <a:solidFill>
                  <a:srgbClr val="3C2B98"/>
                </a:solidFill>
                <a:latin typeface="Tahoma"/>
                <a:cs typeface="Tahoma"/>
              </a:rPr>
              <a:t>”</a:t>
            </a:r>
            <a:r>
              <a:rPr lang="uz-Cyrl-UZ" sz="1600" b="1" spc="-7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1600" b="1" spc="-75" dirty="0">
                <a:solidFill>
                  <a:srgbClr val="3C2B98"/>
                </a:solidFill>
                <a:latin typeface="Tahoma"/>
                <a:cs typeface="Tahoma"/>
              </a:rPr>
              <a:t>ЛОЙИҲАСИ</a:t>
            </a:r>
            <a:endParaRPr lang="ru-RU" sz="1600" dirty="0">
              <a:latin typeface="Tahoma"/>
              <a:cs typeface="Tahoma"/>
            </a:endParaRPr>
          </a:p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13283897" y="4394832"/>
            <a:ext cx="3848246" cy="76559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</a:t>
            </a:r>
            <a:r>
              <a:rPr lang="uz-Cyrl-UZ" sz="1200" b="1" dirty="0">
                <a:solidFill>
                  <a:schemeClr val="tx2"/>
                </a:solidFill>
                <a:latin typeface="Tahoma"/>
                <a:cs typeface="Tahoma"/>
              </a:rPr>
              <a:t>МИЛЛИЙ НОН МАХСУЛОТЛАРИНИ ИШЛАБ ЧИКАРУЧИ </a:t>
            </a:r>
            <a:r>
              <a:rPr lang="en-US" sz="1200" b="1" dirty="0">
                <a:solidFill>
                  <a:schemeClr val="tx2"/>
                </a:solidFill>
                <a:latin typeface="Tahoma"/>
                <a:cs typeface="Tahoma"/>
              </a:rPr>
              <a:t>“</a:t>
            </a:r>
            <a:r>
              <a:rPr lang="uz-Cyrl-UZ" sz="1200" b="1" dirty="0">
                <a:solidFill>
                  <a:schemeClr val="tx2"/>
                </a:solidFill>
                <a:latin typeface="Tahoma"/>
                <a:cs typeface="Tahoma"/>
              </a:rPr>
              <a:t>НОНВОЙХОНА</a:t>
            </a:r>
            <a:r>
              <a:rPr lang="en-US" sz="1200" b="1" dirty="0">
                <a:solidFill>
                  <a:schemeClr val="tx2"/>
                </a:solidFill>
                <a:latin typeface="Tahoma"/>
                <a:cs typeface="Tahoma"/>
              </a:rPr>
              <a:t>”</a:t>
            </a:r>
            <a:r>
              <a:rPr lang="uz-Cyrl-UZ" sz="1200" b="1" dirty="0">
                <a:solidFill>
                  <a:schemeClr val="tx2"/>
                </a:solidFill>
                <a:latin typeface="Tahoma"/>
                <a:cs typeface="Tahoma"/>
              </a:rPr>
              <a:t> ЛОЙИХАСИ</a:t>
            </a:r>
            <a:endParaRPr lang="ru-RU" sz="1200" b="1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endParaRPr sz="1600" b="1" dirty="0">
              <a:solidFill>
                <a:srgbClr val="3C2B98"/>
              </a:solidFill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198293" y="4050322"/>
            <a:ext cx="2227396" cy="23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uz-Cyrl-UZ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Алиева Зариме</a:t>
            </a:r>
            <a:endParaRPr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895382" y="7269584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84725" y="7261559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uz-Cyrl-UZ" sz="3900" b="1" spc="-52" baseline="2136" dirty="0" smtClean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3900" b="1" spc="-630" baseline="2136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000" b="1" dirty="0" smtClean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b="1" spc="-25" dirty="0">
                <a:solidFill>
                  <a:srgbClr val="273B6F"/>
                </a:solidFill>
                <a:latin typeface="Arial"/>
                <a:cs typeface="Arial"/>
              </a:rPr>
              <a:t>120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мл</a:t>
            </a:r>
            <a:r>
              <a:rPr lang="uz-Cyrl-UZ"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н</a:t>
            </a: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500" b="1" spc="-310" dirty="0">
                <a:solidFill>
                  <a:srgbClr val="273B6F"/>
                </a:solidFill>
                <a:latin typeface="Arial"/>
                <a:cs typeface="Arial"/>
              </a:rPr>
              <a:t>22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0" b="1" spc="-310" dirty="0">
                <a:solidFill>
                  <a:srgbClr val="273B6F"/>
                </a:solidFill>
                <a:latin typeface="Arial"/>
                <a:cs typeface="Arial"/>
              </a:rPr>
              <a:t>20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en-US" sz="4300" b="1" spc="-40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8</a:t>
            </a:r>
            <a:r>
              <a:rPr lang="en-US" sz="4300" b="1">
                <a:solidFill>
                  <a:srgbClr val="273B6F"/>
                </a:solidFill>
                <a:latin typeface="Arial"/>
                <a:cs typeface="Arial"/>
              </a:rPr>
              <a:t>4</a:t>
            </a:r>
            <a:r>
              <a:rPr sz="4300" b="1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554293" y="7147761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30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30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2 </a:t>
            </a:r>
            <a:r>
              <a:rPr sz="1950" spc="-15" baseline="2136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008532" y="491577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en-US" sz="4125" b="1" baseline="1010" dirty="0" smtClean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4125" b="1" spc="-30" baseline="10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 аҳоли </a:t>
            </a:r>
            <a:r>
              <a:rPr lang="uz-Cyrl-UZ" sz="3600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lang="uz-Cyrl-UZ" sz="2800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/>
              <a:cs typeface="Tahoma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>
            <a:extLst>
              <a:ext uri="{FF2B5EF4-FFF2-40B4-BE49-F238E27FC236}">
                <a16:creationId xmlns:a16="http://schemas.microsoft.com/office/drawing/2014/main" id="{773F367A-C20E-4392-9E02-D2C7400EB264}"/>
              </a:ext>
            </a:extLst>
          </p:cNvPr>
          <p:cNvSpPr txBox="1"/>
          <p:nvPr/>
        </p:nvSpPr>
        <p:spPr>
          <a:xfrm>
            <a:off x="10309292" y="1788237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12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3" name="object 35">
            <a:extLst>
              <a:ext uri="{FF2B5EF4-FFF2-40B4-BE49-F238E27FC236}">
                <a16:creationId xmlns:a16="http://schemas.microsoft.com/office/drawing/2014/main" id="{F482E9F8-A859-418D-ADF8-93AF0A01D990}"/>
              </a:ext>
            </a:extLst>
          </p:cNvPr>
          <p:cNvSpPr txBox="1"/>
          <p:nvPr/>
        </p:nvSpPr>
        <p:spPr>
          <a:xfrm>
            <a:off x="12549488" y="178017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5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5</a:t>
            </a:r>
            <a:r>
              <a:rPr lang="ru-RU" sz="2400" b="1" spc="-25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4" name="object 126">
            <a:extLst>
              <a:ext uri="{FF2B5EF4-FFF2-40B4-BE49-F238E27FC236}">
                <a16:creationId xmlns:a16="http://schemas.microsoft.com/office/drawing/2014/main" id="{21715D98-9F48-4DC7-B8A1-5E5227CE8463}"/>
              </a:ext>
            </a:extLst>
          </p:cNvPr>
          <p:cNvSpPr txBox="1"/>
          <p:nvPr/>
        </p:nvSpPr>
        <p:spPr>
          <a:xfrm>
            <a:off x="4308363" y="4311290"/>
            <a:ext cx="98681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z-Cyrl-UZ" sz="3000" b="1" spc="-25" dirty="0">
                <a:solidFill>
                  <a:srgbClr val="273B6F"/>
                </a:solidFill>
                <a:latin typeface="Arial"/>
                <a:cs typeface="Arial"/>
              </a:rPr>
              <a:t>21,7</a:t>
            </a:r>
            <a:endParaRPr lang="uz-Cyrl-UZ" sz="3000" dirty="0">
              <a:latin typeface="Arial"/>
              <a:cs typeface="Arial"/>
            </a:endParaRPr>
          </a:p>
        </p:txBody>
      </p:sp>
      <p:sp>
        <p:nvSpPr>
          <p:cNvPr id="225" name="object 128">
            <a:extLst>
              <a:ext uri="{FF2B5EF4-FFF2-40B4-BE49-F238E27FC236}">
                <a16:creationId xmlns:a16="http://schemas.microsoft.com/office/drawing/2014/main" id="{B35C313B-ACD8-4671-9EA6-1D842DABE004}"/>
              </a:ext>
            </a:extLst>
          </p:cNvPr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226" name="object 128">
            <a:extLst>
              <a:ext uri="{FF2B5EF4-FFF2-40B4-BE49-F238E27FC236}">
                <a16:creationId xmlns:a16="http://schemas.microsoft.com/office/drawing/2014/main" id="{490D4438-FFC4-4509-AD96-02341D168D2C}"/>
              </a:ext>
            </a:extLst>
          </p:cNvPr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110536" y="7390861"/>
            <a:ext cx="616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800" spc="-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lang="ru-RU" sz="1800" dirty="0">
              <a:latin typeface="Microsoft Sans Serif"/>
              <a:cs typeface="Microsoft Sans Serif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A1FD3C-F0B8-C567-4DE8-C2352506281F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485964" y="5844752"/>
            <a:ext cx="3095855" cy="19434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7" name="Рисунок 226">
            <a:extLst>
              <a:ext uri="{FF2B5EF4-FFF2-40B4-BE49-F238E27FC236}">
                <a16:creationId xmlns:a16="http://schemas.microsoft.com/office/drawing/2014/main" id="{6E0081DE-737E-4FFA-1657-2FC39E292087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9442" y="5793781"/>
            <a:ext cx="3155414" cy="19819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8" name="object 174"/>
          <p:cNvSpPr txBox="1"/>
          <p:nvPr/>
        </p:nvSpPr>
        <p:spPr>
          <a:xfrm>
            <a:off x="9367711" y="4064988"/>
            <a:ext cx="2966413" cy="45845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uz-Cyrl-UZ" sz="1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Ятт Холходжаева Манзурахон</a:t>
            </a:r>
          </a:p>
          <a:p>
            <a:pPr marL="12700" algn="ctr">
              <a:lnSpc>
                <a:spcPct val="100000"/>
              </a:lnSpc>
              <a:spcBef>
                <a:spcPts val="114"/>
              </a:spcBef>
            </a:pPr>
            <a:endParaRPr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9" name="object 126">
            <a:extLst>
              <a:ext uri="{FF2B5EF4-FFF2-40B4-BE49-F238E27FC236}">
                <a16:creationId xmlns:a16="http://schemas.microsoft.com/office/drawing/2014/main" id="{21715D98-9F48-4DC7-B8A1-5E5227CE8463}"/>
              </a:ext>
            </a:extLst>
          </p:cNvPr>
          <p:cNvSpPr txBox="1"/>
          <p:nvPr/>
        </p:nvSpPr>
        <p:spPr>
          <a:xfrm>
            <a:off x="7241883" y="4349807"/>
            <a:ext cx="98681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z-Cyrl-UZ" sz="3000" b="1" spc="-25" dirty="0">
                <a:solidFill>
                  <a:srgbClr val="273B6F"/>
                </a:solidFill>
                <a:latin typeface="Arial"/>
                <a:cs typeface="Arial"/>
              </a:rPr>
              <a:t>100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02" y="5052991"/>
            <a:ext cx="3862608" cy="22222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397" y="5127582"/>
            <a:ext cx="3840180" cy="20831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0" name="Рисунок 219">
            <a:extLst>
              <a:ext uri="{FF2B5EF4-FFF2-40B4-BE49-F238E27FC236}">
                <a16:creationId xmlns:a16="http://schemas.microsoft.com/office/drawing/2014/main" id="{5743DA9A-659D-269D-D87A-42DCC0F9E46C}"/>
              </a:ext>
            </a:extLst>
          </p:cNvPr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485" y="-619436"/>
            <a:ext cx="3187753" cy="2561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</TotalTime>
  <Words>217</Words>
  <Application>Microsoft Office PowerPoint</Application>
  <PresentationFormat>Произвольный</PresentationFormat>
  <Paragraphs>89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Admin</cp:lastModifiedBy>
  <cp:revision>59</cp:revision>
  <cp:lastPrinted>2025-11-22T15:16:56Z</cp:lastPrinted>
  <dcterms:created xsi:type="dcterms:W3CDTF">2025-11-21T17:17:30Z</dcterms:created>
  <dcterms:modified xsi:type="dcterms:W3CDTF">2026-05-08T05:24:42Z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