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46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660" y="348"/>
      </p:cViewPr>
      <p:guideLst>
        <p:guide orient="horz" pos="2846"/>
        <p:guide pos="214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705" y="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42963"/>
            <a:ext cx="3995737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5275" tIns="27638" rIns="55275" bIns="27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53" y="3241075"/>
            <a:ext cx="7893408" cy="2653255"/>
          </a:xfrm>
          <a:prstGeom prst="rect">
            <a:avLst/>
          </a:prstGeom>
        </p:spPr>
        <p:txBody>
          <a:bodyPr vert="horz" lIns="55275" tIns="27638" rIns="55275" bIns="2763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39833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705" y="639833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hyperlink" Target="https://online-mahalla.uz/tables/credit_expired_details?app_id=3834456&amp;time_type=19&amp;_target=blank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1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0.jp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49.jpe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2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5228" y="207220"/>
            <a:ext cx="13677265" cy="9002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 algn="ctr">
              <a:spcBef>
                <a:spcPts val="100"/>
              </a:spcBef>
            </a:pPr>
            <a:r>
              <a:rPr lang="ru-RU" sz="2800" spc="-45" dirty="0" err="1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Шайҳотоҳур</a:t>
            </a:r>
            <a:r>
              <a:rPr lang="ru-RU" sz="2800" spc="-16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280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ТУМАНИ </a:t>
            </a:r>
            <a:r>
              <a:rPr lang="ru-RU" sz="2800" spc="-16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8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lang="ru-RU" sz="2800" b="1" dirty="0" err="1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Кўкча</a:t>
            </a:r>
            <a:r>
              <a:rPr lang="ru-RU" sz="28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2800" b="1" dirty="0" err="1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Дарвоза</a:t>
            </a:r>
            <a:r>
              <a:rPr lang="ru-RU" sz="28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3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”</a:t>
            </a:r>
            <a:r>
              <a:rPr sz="2800" b="1" spc="-18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МАҲАЛЛАСИДА</a:t>
            </a:r>
            <a:endParaRPr sz="2800" dirty="0">
              <a:latin typeface="Microsoft Sans Serif" panose="020B0604020202020204"/>
              <a:cs typeface="Microsoft Sans Serif" panose="020B0604020202020204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80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АҲОЛИ</a:t>
            </a:r>
            <a:r>
              <a:rPr sz="2800" b="1" spc="-16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4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БАНДЛИГИНИ</a:t>
            </a:r>
            <a:r>
              <a:rPr sz="2800" b="1" spc="-16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5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ТАЪМИНЛАШ</a:t>
            </a:r>
            <a:r>
              <a:rPr sz="2800" b="1" spc="-16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5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ВА</a:t>
            </a:r>
            <a:r>
              <a:rPr sz="2800" b="1" spc="-16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3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ДАРОМАДЛАРИНИ</a:t>
            </a:r>
            <a:r>
              <a:rPr sz="2800" b="1" spc="-15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b="1" spc="-1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ОШИРИШ</a:t>
            </a:r>
            <a:endParaRPr sz="28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3948" y="1089849"/>
            <a:ext cx="166960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4710" y="1538665"/>
            <a:ext cx="2409754" cy="10938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Маҳалла</a:t>
            </a:r>
            <a:r>
              <a:rPr sz="1400" spc="-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банкири</a:t>
            </a:r>
            <a:endParaRPr sz="1400" dirty="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en-US" sz="1400" b="1" spc="-1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Холмуродов Иброхим Истам </a:t>
            </a:r>
            <a:r>
              <a:rPr lang="ru-RU" sz="1400" b="1" spc="-11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ўғли</a:t>
            </a:r>
            <a:r>
              <a:rPr lang="en-US" sz="1400" b="1" spc="-1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0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Ёрдамчи</a:t>
            </a:r>
            <a:r>
              <a:rPr sz="1400" spc="-7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агент</a:t>
            </a:r>
            <a:endParaRPr sz="1400" dirty="0">
              <a:latin typeface="Tahoma" panose="020B0604030504040204"/>
              <a:cs typeface="Tahoma" panose="020B0604030504040204"/>
            </a:endParaRPr>
          </a:p>
          <a:p>
            <a:pPr marL="19685">
              <a:lnSpc>
                <a:spcPct val="100000"/>
              </a:lnSpc>
              <a:spcBef>
                <a:spcPts val="35"/>
              </a:spcBef>
            </a:pPr>
            <a:r>
              <a:rPr lang="ru-RU" sz="1400" b="1" spc="-10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Иногомова</a:t>
            </a:r>
            <a:r>
              <a:rPr lang="ru-RU" sz="1400" b="1" spc="-10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Фарида</a:t>
            </a:r>
            <a:endParaRPr lang="ru-RU"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1452" y="1601181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БИРИКТИРИЛГАН</a:t>
            </a:r>
            <a:r>
              <a:rPr sz="15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sz="15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945" y="1913120"/>
            <a:ext cx="2228324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lang="ru-RU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Туронбанк”АТБ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Тошкент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шахар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 БХМ </a:t>
            </a:r>
            <a:endParaRPr sz="165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7802"/>
            <a:ext cx="6524625" cy="1336040"/>
            <a:chOff x="8042079" y="1507802"/>
            <a:chExt cx="6524625" cy="1336040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80480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54458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Камбағаллик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091662" y="177381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22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30768" y="1769888"/>
            <a:ext cx="957349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ru-RU" sz="3050" b="1" spc="-254" dirty="0" smtClean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74</a:t>
            </a:r>
            <a:r>
              <a:rPr sz="3050" b="1" spc="-254" dirty="0" smtClean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а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567463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</a:t>
            </a:r>
            <a:r>
              <a:rPr lang="ru-RU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10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5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ru-RU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200" dirty="0">
              <a:latin typeface="Tahoma" panose="020B0604030504040204"/>
              <a:cs typeface="Tahoma" panose="020B0604030504040204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8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1,</a:t>
            </a:r>
            <a:r>
              <a:rPr lang="en-US" sz="18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18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баробар</a:t>
            </a:r>
            <a:endParaRPr sz="12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74091" y="2551020"/>
            <a:ext cx="1581785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Ишсизликдан</a:t>
            </a:r>
            <a:r>
              <a:rPr sz="13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ҳоли</a:t>
            </a:r>
            <a:endParaRPr sz="13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60842" y="2590801"/>
            <a:ext cx="207329" cy="17038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2602205" y="2229219"/>
            <a:ext cx="1957495" cy="548868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200" dirty="0">
              <a:latin typeface="Tahoma" panose="020B0604030504040204"/>
              <a:cs typeface="Tahoma" panose="020B0604030504040204"/>
            </a:endParaRPr>
          </a:p>
          <a:p>
            <a:pPr marL="187960">
              <a:lnSpc>
                <a:spcPct val="100000"/>
              </a:lnSpc>
              <a:spcBef>
                <a:spcPts val="625"/>
              </a:spcBef>
            </a:pPr>
            <a:r>
              <a:rPr lang="en-US" sz="1300" b="1" spc="-65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Камбағалликдан холи</a:t>
            </a:r>
            <a:endParaRPr sz="1300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17942"/>
            <a:ext cx="7885430" cy="1141095"/>
            <a:chOff x="8149323" y="1633993"/>
            <a:chExt cx="7885430" cy="1141095"/>
          </a:xfrm>
        </p:grpSpPr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66929" y="2590800"/>
              <a:ext cx="207329" cy="17038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Вилоятдан</a:t>
            </a:r>
            <a:endParaRPr sz="14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8095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10"/>
              </a:spcBef>
            </a:pPr>
            <a:r>
              <a:rPr sz="14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endParaRPr lang="ru-RU" sz="1450" spc="-10" dirty="0">
              <a:solidFill>
                <a:srgbClr val="3C2B98"/>
              </a:solidFill>
              <a:latin typeface="Tahoma" panose="020B0604030504040204"/>
              <a:cs typeface="Tahoma" panose="020B0604030504040204"/>
            </a:endParaRPr>
          </a:p>
          <a:p>
            <a:pPr marL="20955" marR="42545" algn="ctr">
              <a:lnSpc>
                <a:spcPts val="1460"/>
              </a:lnSpc>
              <a:spcBef>
                <a:spcPts val="410"/>
              </a:spcBef>
            </a:pP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ru-RU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12 </a:t>
            </a:r>
            <a:r>
              <a:rPr sz="1600" spc="-90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758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10"/>
              </a:spcBef>
            </a:pPr>
            <a:r>
              <a:rPr sz="14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бўш</a:t>
            </a:r>
            <a:r>
              <a:rPr lang="en-US" sz="1450" spc="-3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ўринлари</a:t>
            </a:r>
            <a:endParaRPr sz="1450" dirty="0">
              <a:latin typeface="Tahoma" panose="020B0604030504040204"/>
              <a:cs typeface="Tahoma" panose="020B0604030504040204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1600" b="1" spc="2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35</a:t>
            </a:r>
            <a:r>
              <a:rPr sz="1600" b="1" spc="2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439365" y="1304813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4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4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79296" y="2131386"/>
            <a:ext cx="208978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ru-RU"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8864</a:t>
            </a:r>
            <a:r>
              <a:rPr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lang="en-US"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1452</a:t>
            </a:r>
            <a:endParaRPr sz="2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04313" y="3081009"/>
            <a:ext cx="8353302" cy="1857381"/>
            <a:chOff x="338423" y="3091416"/>
            <a:chExt cx="8353302" cy="1857381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8423" y="4200131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0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кредитлар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27650" y="3375025"/>
            <a:ext cx="1412787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ru-RU" altLang="ru-RU" sz="2400" b="1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109</a:t>
            </a:r>
            <a:r>
              <a:rPr lang="en-US" altLang="ru-RU" sz="2400" b="1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lang="ru-RU" altLang="ru-RU" sz="2400" b="1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9</a:t>
            </a:r>
            <a:r>
              <a:rPr lang="en-US" sz="2400" spc="37" baseline="1000" dirty="0" smtClean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 panose="020B0604020202020204"/>
              </a:rPr>
              <a:t>млн</a:t>
            </a:r>
            <a:r>
              <a:rPr lang="ru-RU" sz="1200" spc="37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 panose="020B0604020202020204"/>
              </a:rPr>
              <a:t>с</a:t>
            </a:r>
            <a:r>
              <a:rPr lang="en-US" sz="1200" spc="37" dirty="0">
                <a:solidFill>
                  <a:srgbClr val="273B6F"/>
                </a:solidFill>
                <a:latin typeface="+mn-lt"/>
                <a:cs typeface="Microsoft Sans Serif" panose="020B0604020202020204"/>
              </a:rPr>
              <a:t>ўм</a:t>
            </a:r>
            <a:endParaRPr sz="1200" baseline="1000" dirty="0">
              <a:latin typeface="+mn-lt"/>
              <a:cs typeface="Microsoft Sans Serif" panose="020B0604020202020204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100927" y="3149702"/>
            <a:ext cx="2216142" cy="682524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spc="9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ҳолатига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баробар</a:t>
            </a:r>
            <a:endParaRPr sz="7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88630" y="3423023"/>
            <a:ext cx="4572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Х 0</a:t>
            </a:r>
            <a:endParaRPr sz="1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74002" y="4362418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sz="235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39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460990" y="4232221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390647" y="4167323"/>
            <a:ext cx="1450829" cy="61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sz="30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 </a:t>
            </a:r>
            <a:endParaRPr sz="30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346768" y="4198475"/>
            <a:ext cx="2602926" cy="741207"/>
            <a:chOff x="3320658" y="4209695"/>
            <a:chExt cx="2602766" cy="741207"/>
          </a:xfrm>
        </p:grpSpPr>
        <p:sp>
          <p:nvSpPr>
            <p:cNvPr id="115" name="object 115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403913" y="4382816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210313" y="4259942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 err="1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</a:t>
            </a: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646114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lang="ru-RU" sz="235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50" b="1" spc="-6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12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44429" y="4372982"/>
            <a:ext cx="933911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Амалга</a:t>
            </a:r>
            <a:r>
              <a:rPr sz="2200" spc="7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оширилган</a:t>
            </a:r>
            <a:endParaRPr sz="2200" dirty="0">
              <a:latin typeface="Microsoft Sans Serif" panose="020B0604020202020204"/>
              <a:cs typeface="Microsoft Sans Serif" panose="020B0604020202020204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Микролойиҳалар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6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altLang="en-US" sz="3600" b="1" spc="-45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1900" spc="-25" dirty="0" err="1" smtClean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9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90450" y="3180634"/>
            <a:ext cx="2467288" cy="657729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altLang="en-US" sz="3750" b="1" spc="-45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3750" b="1" spc="-45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9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ўринлари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124581" y="4386209"/>
            <a:ext cx="3380475" cy="4962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Қурилиш соҳасида тадбиркорлик фаолиятини йўлга қўйиш 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9440565" y="3879224"/>
            <a:ext cx="2574064" cy="4456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5"/>
              </a:spcBef>
              <a:tabLst>
                <a:tab pos="2757170" algn="l"/>
              </a:tabLst>
            </a:pPr>
            <a:r>
              <a:rPr lang="en-US" sz="1400" b="1" dirty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en-US" sz="1400" b="1" dirty="0" smtClean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lang="ru-RU" sz="1400" b="1" dirty="0" smtClean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." Абдуллаев </a:t>
            </a:r>
            <a:r>
              <a:rPr lang="ru-RU" sz="1400" b="1" dirty="0" err="1" smtClean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Шамсиддин</a:t>
            </a:r>
            <a:r>
              <a:rPr lang="ru-RU" sz="1400" b="1" dirty="0" smtClean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1400" b="1" dirty="0" err="1" smtClean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Хайрулла</a:t>
            </a:r>
            <a:r>
              <a:rPr lang="ru-RU" sz="1400" b="1" dirty="0" smtClean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1400" b="1" dirty="0" err="1" smtClean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уғли</a:t>
            </a:r>
            <a:r>
              <a:rPr lang="ru-RU" sz="1400" b="1" dirty="0" smtClean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" ЯТТ </a:t>
            </a:r>
            <a:r>
              <a:rPr lang="en-US" sz="1400" b="1" dirty="0" smtClean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” </a:t>
            </a:r>
            <a:endParaRPr sz="1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3224203" y="4485098"/>
            <a:ext cx="3848246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en-US" sz="16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 </a:t>
            </a: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Онлайн савдо қилиш</a:t>
            </a:r>
            <a:endParaRPr sz="1600" b="1" dirty="0">
              <a:solidFill>
                <a:srgbClr val="3C2B98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4198293" y="4050322"/>
            <a:ext cx="2227396" cy="259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" sz="1600" dirty="0">
                <a:latin typeface="Arial" panose="020B0604020202020204"/>
                <a:cs typeface="Arial" panose="020B0604020202020204"/>
              </a:rPr>
              <a:t>КАЗИХАНОВА ЭЗОЗА</a:t>
            </a: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5" name="object 195"/>
          <p:cNvGrpSpPr/>
          <p:nvPr/>
        </p:nvGrpSpPr>
        <p:grpSpPr>
          <a:xfrm>
            <a:off x="441645" y="5051425"/>
            <a:ext cx="3971605" cy="2594873"/>
            <a:chOff x="2595733" y="5060236"/>
            <a:chExt cx="3971605" cy="2594873"/>
          </a:xfrm>
        </p:grpSpPr>
        <p:sp>
          <p:nvSpPr>
            <p:cNvPr id="203" name="object 203"/>
            <p:cNvSpPr/>
            <p:nvPr/>
          </p:nvSpPr>
          <p:spPr>
            <a:xfrm>
              <a:off x="6567338" y="5060236"/>
              <a:ext cx="0" cy="2216150"/>
            </a:xfrm>
            <a:custGeom>
              <a:avLst/>
              <a:gdLst/>
              <a:ahLst/>
              <a:cxnLst/>
              <a:rect l="l" t="t" r="r" b="b"/>
              <a:pathLst>
                <a:path h="2216150">
                  <a:moveTo>
                    <a:pt x="0" y="0"/>
                  </a:moveTo>
                  <a:lnTo>
                    <a:pt x="0" y="221586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84491" y="7348092"/>
              <a:ext cx="302418" cy="3070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95733" y="7399672"/>
              <a:ext cx="307199" cy="21590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835298" y="7320023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5">
              <a:lnSpc>
                <a:spcPct val="102000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маблағ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995780" y="728211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435783" y="7275794"/>
            <a:ext cx="1069376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900" b="1" spc="-52" baseline="2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 </a:t>
            </a:r>
            <a:r>
              <a:rPr lang="ru-RU" sz="3900" b="1" spc="-52" baseline="2000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 0</a:t>
            </a:r>
            <a:r>
              <a:rPr sz="3900" b="1" spc="-630" baseline="2000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3612390" y="7284029"/>
            <a:ext cx="784225" cy="415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ru-RU" sz="2600" b="1" spc="5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1250" spc="-10" dirty="0" err="1" smtClean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2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73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b="1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lang="ru-RU" sz="4000" b="1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4300" b="1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0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МИКРОЛОЙИҲАЛАР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КРЕДИТ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 panose="020B0604030504040204"/>
              <a:cs typeface="Tahoma" panose="020B0604030504040204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СОНИ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ЎРНИ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67141" y="8725929"/>
            <a:ext cx="924737" cy="5507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50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3500" b="1" spc="-25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1,2</a:t>
            </a:r>
            <a:endParaRPr sz="4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056558" y="8727766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млрд.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136150" y="8971144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7008196" y="8654439"/>
            <a:ext cx="1882460" cy="346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1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15657898" y="8681407"/>
            <a:ext cx="1105535" cy="715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45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35</a:t>
            </a:r>
            <a:r>
              <a:rPr sz="4500" b="1" spc="-31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50" spc="-7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9913219" y="8689647"/>
            <a:ext cx="4216400" cy="673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ru-RU" sz="3600" b="1" spc="-40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4300" b="1" spc="-40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aseline="1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sz="3000" spc="30" baseline="1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3000" spc="-30" baseline="1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ОИЛА</a:t>
            </a:r>
            <a:r>
              <a:rPr sz="3000" baseline="1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	</a:t>
            </a:r>
            <a:r>
              <a:rPr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altLang="en-US" sz="4300" b="1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85</a:t>
            </a:r>
            <a:r>
              <a:rPr sz="2000" spc="-25" dirty="0" smtClean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00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01.04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ҳолатига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8" name="object 206"/>
          <p:cNvSpPr txBox="1"/>
          <p:nvPr/>
        </p:nvSpPr>
        <p:spPr>
          <a:xfrm>
            <a:off x="2802806" y="731415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бўлган аҳоли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9" name="object 206"/>
          <p:cNvSpPr txBox="1"/>
          <p:nvPr/>
        </p:nvSpPr>
        <p:spPr>
          <a:xfrm>
            <a:off x="4878942" y="729527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5">
              <a:lnSpc>
                <a:spcPct val="102000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маблағ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0" name="object 207"/>
          <p:cNvSpPr txBox="1"/>
          <p:nvPr/>
        </p:nvSpPr>
        <p:spPr>
          <a:xfrm>
            <a:off x="6214546" y="7256333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72" name="object 208"/>
          <p:cNvSpPr txBox="1"/>
          <p:nvPr/>
        </p:nvSpPr>
        <p:spPr>
          <a:xfrm>
            <a:off x="5591621" y="6858644"/>
            <a:ext cx="656810" cy="81560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3900" b="1" spc="-52" baseline="2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  </a:t>
            </a:r>
            <a:r>
              <a:rPr lang="en-US" altLang="en-US" sz="3900" b="1" spc="-52" baseline="2000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lang="ru-RU" altLang="en-US" sz="3900" b="1" spc="-52" baseline="2000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00</a:t>
            </a:r>
            <a:endParaRPr lang="en-US" altLang="en-US" sz="3900" b="1" spc="-52" baseline="2000" dirty="0">
              <a:solidFill>
                <a:srgbClr val="273B6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73" name="object 209"/>
          <p:cNvSpPr txBox="1"/>
          <p:nvPr/>
        </p:nvSpPr>
        <p:spPr>
          <a:xfrm>
            <a:off x="7998725" y="7217475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ru-RU" altLang="en-US" sz="2600" b="1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600" b="1" spc="5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2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74" name="object 206"/>
          <p:cNvSpPr txBox="1"/>
          <p:nvPr/>
        </p:nvSpPr>
        <p:spPr>
          <a:xfrm>
            <a:off x="7167008" y="728610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бўлган аҳоли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77" name="object 20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511277" y="7397854"/>
            <a:ext cx="307199" cy="215900"/>
          </a:xfrm>
          <a:prstGeom prst="rect">
            <a:avLst/>
          </a:prstGeom>
        </p:spPr>
      </p:pic>
      <p:pic>
        <p:nvPicPr>
          <p:cNvPr id="278" name="object 20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747427" y="7343242"/>
            <a:ext cx="302418" cy="307017"/>
          </a:xfrm>
          <a:prstGeom prst="rect">
            <a:avLst/>
          </a:prstGeom>
        </p:spPr>
      </p:pic>
      <p:sp>
        <p:nvSpPr>
          <p:cNvPr id="279" name="object 260"/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НАТИЖАЛА</a:t>
            </a:r>
            <a:r>
              <a:rPr lang="en-US" sz="1800" b="1" spc="-1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Р</a:t>
            </a:r>
            <a:endParaRPr sz="1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0" name="object 178"/>
          <p:cNvSpPr txBox="1"/>
          <p:nvPr/>
        </p:nvSpPr>
        <p:spPr>
          <a:xfrm>
            <a:off x="14381861" y="4860009"/>
            <a:ext cx="2509210" cy="396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en-US"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4125" b="1" spc="-30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en-US" sz="4125" b="1" spc="-30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2.4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млн.сўм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1" name="object 179"/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2" name="object 180"/>
          <p:cNvSpPr txBox="1"/>
          <p:nvPr/>
        </p:nvSpPr>
        <p:spPr>
          <a:xfrm>
            <a:off x="14395677" y="5301614"/>
            <a:ext cx="2338416" cy="4292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altLang="en-US"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7</a:t>
            </a:r>
            <a:r>
              <a:rPr sz="4125" b="1" spc="37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83" name="object 181"/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/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3495331" y="4828342"/>
            <a:ext cx="346563" cy="308749"/>
          </a:xfrm>
          <a:prstGeom prst="rect">
            <a:avLst/>
          </a:prstGeom>
        </p:spPr>
      </p:pic>
      <p:sp>
        <p:nvSpPr>
          <p:cNvPr id="287" name="object 178"/>
          <p:cNvSpPr txBox="1"/>
          <p:nvPr/>
        </p:nvSpPr>
        <p:spPr>
          <a:xfrm>
            <a:off x="10008532" y="4915771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en-US"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4125" b="1" spc="-30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млн.сўм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8" name="object 179"/>
          <p:cNvSpPr txBox="1"/>
          <p:nvPr/>
        </p:nvSpPr>
        <p:spPr>
          <a:xfrm>
            <a:off x="9966273" y="5301614"/>
            <a:ext cx="2084837" cy="488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150" spc="-2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lang="en-US"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1150" spc="-20" dirty="0" err="1" smtClean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lang="ru-RU" sz="1150" spc="-20" dirty="0" smtClean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3</a:t>
            </a:r>
            <a:r>
              <a:rPr lang="en-US" sz="1150" spc="-20" dirty="0" smtClean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800" b="1" spc="37" baseline="1000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нафар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90" name="object 181"/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/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361823" y="4909844"/>
            <a:ext cx="346563" cy="308749"/>
          </a:xfrm>
          <a:prstGeom prst="rect">
            <a:avLst/>
          </a:prstGeom>
        </p:spPr>
      </p:pic>
      <p:sp>
        <p:nvSpPr>
          <p:cNvPr id="222" name="object 35"/>
          <p:cNvSpPr txBox="1"/>
          <p:nvPr/>
        </p:nvSpPr>
        <p:spPr>
          <a:xfrm>
            <a:off x="10309292" y="1788237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       </a:t>
            </a: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ru-RU" sz="240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3" name="object 35"/>
          <p:cNvSpPr txBox="1"/>
          <p:nvPr/>
        </p:nvSpPr>
        <p:spPr>
          <a:xfrm>
            <a:off x="12549488" y="1780179"/>
            <a:ext cx="2013746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48</a:t>
            </a: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3050" b="1" spc="-25" dirty="0" smtClean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73</a:t>
            </a:r>
            <a:r>
              <a:rPr lang="ru-RU" b="1" spc="-25" dirty="0" smtClean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та</a:t>
            </a:r>
            <a:r>
              <a:rPr lang="ru-RU" sz="2400" b="1" spc="-25" dirty="0" smtClean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4" name="object 126"/>
          <p:cNvSpPr txBox="1"/>
          <p:nvPr/>
        </p:nvSpPr>
        <p:spPr>
          <a:xfrm>
            <a:off x="4308363" y="4311290"/>
            <a:ext cx="98681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" altLang="en-US" sz="2400" b="1" dirty="0" smtClean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100.</a:t>
            </a:r>
            <a:r>
              <a:rPr lang="ru-RU" altLang="en-US" sz="24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0</a:t>
            </a:r>
            <a:endParaRPr lang="en-US" altLang="en-US" sz="3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5" name="object 128"/>
          <p:cNvSpPr txBox="1"/>
          <p:nvPr/>
        </p:nvSpPr>
        <p:spPr>
          <a:xfrm>
            <a:off x="2459671" y="4543105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6" name="object 128"/>
          <p:cNvSpPr txBox="1"/>
          <p:nvPr/>
        </p:nvSpPr>
        <p:spPr>
          <a:xfrm>
            <a:off x="5217896" y="4517417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6076558" y="7330479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1800" spc="-25" dirty="0" err="1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lang="ru-RU" sz="180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229" name="Рисунок 228"/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8485" y="-619436"/>
            <a:ext cx="3187753" cy="2561504"/>
          </a:xfrm>
          <a:prstGeom prst="rect">
            <a:avLst/>
          </a:prstGeom>
        </p:spPr>
      </p:pic>
      <p:sp>
        <p:nvSpPr>
          <p:cNvPr id="231" name="object 128"/>
          <p:cNvSpPr txBox="1"/>
          <p:nvPr/>
        </p:nvSpPr>
        <p:spPr>
          <a:xfrm>
            <a:off x="1648250" y="4413929"/>
            <a:ext cx="625760" cy="7649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273B6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ru-RU" dirty="0"/>
              <a:t>0,0</a:t>
            </a:r>
          </a:p>
          <a:p>
            <a:endParaRPr dirty="0"/>
          </a:p>
        </p:txBody>
      </p:sp>
      <p:sp>
        <p:nvSpPr>
          <p:cNvPr id="232" name="object 128"/>
          <p:cNvSpPr txBox="1"/>
          <p:nvPr/>
        </p:nvSpPr>
        <p:spPr>
          <a:xfrm>
            <a:off x="7239850" y="4259942"/>
            <a:ext cx="625760" cy="153247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30"/>
              </a:spcBef>
              <a:defRPr sz="2400" b="1">
                <a:solidFill>
                  <a:srgbClr val="273B6F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r>
              <a:rPr lang="ru-RU" altLang="ru-RU" dirty="0" smtClean="0"/>
              <a:t>0,0</a:t>
            </a:r>
            <a:endParaRPr lang="en-US" altLang="ru-RU" dirty="0"/>
          </a:p>
          <a:p>
            <a:endParaRPr lang="ru-RU" dirty="0"/>
          </a:p>
          <a:p>
            <a:endParaRPr lang="ru-RU" dirty="0"/>
          </a:p>
          <a:p>
            <a:endParaRPr lang="en-US" dirty="0"/>
          </a:p>
        </p:txBody>
      </p:sp>
      <p:graphicFrame>
        <p:nvGraphicFramePr>
          <p:cNvPr id="5" name="Table 4"/>
          <p:cNvGraphicFramePr/>
          <p:nvPr>
            <p:extLst>
              <p:ext uri="{D42A27DB-BD31-4B8C-83A1-F6EECF244321}">
                <p14:modId xmlns:p14="http://schemas.microsoft.com/office/powerpoint/2010/main" val="2429172209"/>
              </p:ext>
            </p:extLst>
          </p:nvPr>
        </p:nvGraphicFramePr>
        <p:xfrm>
          <a:off x="1226185" y="4843780"/>
          <a:ext cx="15060930" cy="263524"/>
        </p:xfrm>
        <a:graphic>
          <a:graphicData uri="http://schemas.openxmlformats.org/drawingml/2006/table">
            <a:tbl>
              <a:tblPr/>
              <a:tblGrid>
                <a:gridCol w="1506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endParaRPr lang="en-US" altLang="zh-CN" sz="1100" b="0" i="0" u="sng" dirty="0">
                        <a:solidFill>
                          <a:srgbClr val="56678F"/>
                        </a:solidFill>
                        <a:latin typeface="sans-serif"/>
                        <a:ea typeface="sans-serif"/>
                        <a:hlinkClick r:id="rId50"/>
                      </a:endParaRPr>
                    </a:p>
                  </a:txBody>
                  <a:tcPr marL="95567" marR="47942" marT="47942" marB="47942" anchor="ctr">
                    <a:lnL w="9525" cap="flat" cmpd="sng">
                      <a:solidFill>
                        <a:srgbClr val="C5CFE2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5CFE2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C5CFE2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C5CFE2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7" name="object 85"/>
          <p:cNvSpPr txBox="1"/>
          <p:nvPr/>
        </p:nvSpPr>
        <p:spPr>
          <a:xfrm>
            <a:off x="6658231" y="3361634"/>
            <a:ext cx="1343243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ru-RU" sz="24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15,2</a:t>
            </a:r>
            <a:r>
              <a:rPr lang="en-US" sz="2400" spc="37" baseline="1000" dirty="0" smtClean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 panose="020B0604020202020204"/>
              </a:rPr>
              <a:t>млн</a:t>
            </a:r>
            <a:r>
              <a:rPr lang="ru-RU" sz="1200" spc="37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 panose="020B0604020202020204"/>
              </a:rPr>
              <a:t>с</a:t>
            </a:r>
            <a:r>
              <a:rPr lang="en-US" sz="1200" spc="37" dirty="0" err="1" smtClean="0">
                <a:solidFill>
                  <a:srgbClr val="273B6F"/>
                </a:solidFill>
                <a:latin typeface="+mn-lt"/>
                <a:cs typeface="Microsoft Sans Serif" panose="020B0604020202020204"/>
              </a:rPr>
              <a:t>ўм</a:t>
            </a:r>
            <a:endParaRPr sz="1200" baseline="1000" dirty="0">
              <a:latin typeface="+mn-lt"/>
              <a:cs typeface="Microsoft Sans Serif" panose="020B0604020202020204"/>
            </a:endParaRPr>
          </a:p>
        </p:txBody>
      </p:sp>
      <p:pic>
        <p:nvPicPr>
          <p:cNvPr id="80" name="Рисунок 79"/>
          <p:cNvPicPr>
            <a:picLocks noChangeAspect="1"/>
          </p:cNvPicPr>
          <p:nvPr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7644" y="5811513"/>
            <a:ext cx="3731035" cy="18152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4" name="Рисунок 83"/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0911" y="5827071"/>
            <a:ext cx="2510862" cy="18804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7" name="Рисунок 106"/>
          <p:cNvPicPr>
            <a:picLocks noChangeAspect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49" y="5200529"/>
            <a:ext cx="3342767" cy="19993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0" name="Рисунок 119"/>
          <p:cNvPicPr>
            <a:picLocks noChangeAspect="1"/>
          </p:cNvPicPr>
          <p:nvPr/>
        </p:nvPicPr>
        <p:blipFill>
          <a:blip r:embed="rId5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579" y="5128278"/>
            <a:ext cx="3551532" cy="20384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28" name="object 265"/>
          <p:cNvSpPr txBox="1"/>
          <p:nvPr/>
        </p:nvSpPr>
        <p:spPr>
          <a:xfrm>
            <a:off x="7008196" y="8955731"/>
            <a:ext cx="1882460" cy="5546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ru-RU" sz="350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52</a:t>
            </a:r>
            <a:endParaRPr sz="3500" b="1" spc="-25" dirty="0">
              <a:solidFill>
                <a:srgbClr val="273B6F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225</Words>
  <Application>Microsoft Office PowerPoint</Application>
  <PresentationFormat>Произвольный</PresentationFormat>
  <Paragraphs>92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Microsoft Sans Serif</vt:lpstr>
      <vt:lpstr>sans-serif</vt:lpstr>
      <vt:lpstr>Tahoma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Admin</cp:lastModifiedBy>
  <cp:revision>57</cp:revision>
  <cp:lastPrinted>2025-11-22T15:16:00Z</cp:lastPrinted>
  <dcterms:created xsi:type="dcterms:W3CDTF">2025-11-21T17:17:00Z</dcterms:created>
  <dcterms:modified xsi:type="dcterms:W3CDTF">2026-05-07T14:25:06Z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2025-11-21T10:00:00Z</vt:filetime>
  </property>
  <property fmtid="{D5CDD505-2E9C-101B-9397-08002B2CF9AE}" pid="3" name="LastSaved">
    <vt:filetime>2025-11-21T10:00:00Z</vt:filetime>
  </property>
  <property fmtid="{D5CDD505-2E9C-101B-9397-08002B2CF9AE}" pid="4" name="Producer">
    <vt:lpwstr>iLovePDF</vt:lpwstr>
  </property>
  <property fmtid="{D5CDD505-2E9C-101B-9397-08002B2CF9AE}" pid="5" name="ICV">
    <vt:lpwstr>D14FD552FD4346AF986592BC44B444DD_13</vt:lpwstr>
  </property>
  <property fmtid="{D5CDD505-2E9C-101B-9397-08002B2CF9AE}" pid="6" name="KSOProductBuildVer">
    <vt:lpwstr>1033-12.1.0.25862</vt:lpwstr>
  </property>
</Properties>
</file>