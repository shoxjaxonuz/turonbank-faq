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513300" cy="9950450"/>
  <p:notesSz cx="10018713" cy="68881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660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66" cy="345068"/>
          </a:xfrm>
          <a:prstGeom prst="rect">
            <a:avLst/>
          </a:prstGeom>
        </p:spPr>
        <p:txBody>
          <a:bodyPr vert="horz" lIns="56287" tIns="28144" rIns="56287" bIns="28144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75031" y="0"/>
            <a:ext cx="4340958" cy="345068"/>
          </a:xfrm>
          <a:prstGeom prst="rect">
            <a:avLst/>
          </a:prstGeom>
        </p:spPr>
        <p:txBody>
          <a:bodyPr vert="horz" lIns="56287" tIns="28144" rIns="56287" bIns="28144" rtlCol="0"/>
          <a:lstStyle>
            <a:lvl1pPr algn="r">
              <a:defRPr sz="700"/>
            </a:lvl1pPr>
          </a:lstStyle>
          <a:p>
            <a:fld id="{4B2D43AA-E8D7-425B-B3C4-D1DF93CFF8C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67038" y="862013"/>
            <a:ext cx="4084637" cy="23225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6287" tIns="28144" rIns="56287" bIns="2814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001690" y="3314407"/>
            <a:ext cx="8015334" cy="2713286"/>
          </a:xfrm>
          <a:prstGeom prst="rect">
            <a:avLst/>
          </a:prstGeom>
        </p:spPr>
        <p:txBody>
          <a:bodyPr vert="horz" lIns="56287" tIns="28144" rIns="56287" bIns="2814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43096"/>
            <a:ext cx="4341866" cy="345068"/>
          </a:xfrm>
          <a:prstGeom prst="rect">
            <a:avLst/>
          </a:prstGeom>
        </p:spPr>
        <p:txBody>
          <a:bodyPr vert="horz" lIns="56287" tIns="28144" rIns="56287" bIns="28144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75031" y="6543096"/>
            <a:ext cx="4340958" cy="345068"/>
          </a:xfrm>
          <a:prstGeom prst="rect">
            <a:avLst/>
          </a:prstGeom>
        </p:spPr>
        <p:txBody>
          <a:bodyPr vert="horz" lIns="56287" tIns="28144" rIns="56287" bIns="28144" rtlCol="0" anchor="b"/>
          <a:lstStyle>
            <a:lvl1pPr algn="r">
              <a:defRPr sz="700"/>
            </a:lvl1pPr>
          </a:lstStyle>
          <a:p>
            <a:fld id="{57CE7007-27A7-4D3E-91BA-E4D1BB46A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18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CE7007-27A7-4D3E-91BA-E4D1BB46A23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524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3497" y="3084639"/>
            <a:ext cx="14886305" cy="208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6995" y="5572252"/>
            <a:ext cx="12259310" cy="2487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5665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19349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20" y="1069084"/>
            <a:ext cx="17279999" cy="87667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ln w="71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220" y="115858"/>
            <a:ext cx="17280255" cy="1094105"/>
          </a:xfrm>
          <a:custGeom>
            <a:avLst/>
            <a:gdLst/>
            <a:ahLst/>
            <a:cxnLst/>
            <a:rect l="l" t="t" r="r" b="b"/>
            <a:pathLst>
              <a:path w="17280255" h="1094105">
                <a:moveTo>
                  <a:pt x="17279999" y="0"/>
                </a:moveTo>
                <a:lnTo>
                  <a:pt x="0" y="0"/>
                </a:lnTo>
                <a:lnTo>
                  <a:pt x="0" y="1094047"/>
                </a:lnTo>
                <a:lnTo>
                  <a:pt x="15390211" y="1094047"/>
                </a:lnTo>
                <a:lnTo>
                  <a:pt x="15510092" y="912757"/>
                </a:lnTo>
                <a:lnTo>
                  <a:pt x="17279999" y="912757"/>
                </a:lnTo>
                <a:lnTo>
                  <a:pt x="17279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375198" y="115865"/>
            <a:ext cx="4765675" cy="1094105"/>
          </a:xfrm>
          <a:custGeom>
            <a:avLst/>
            <a:gdLst/>
            <a:ahLst/>
            <a:cxnLst/>
            <a:rect l="l" t="t" r="r" b="b"/>
            <a:pathLst>
              <a:path w="4765675" h="1094105">
                <a:moveTo>
                  <a:pt x="581393" y="0"/>
                </a:moveTo>
                <a:lnTo>
                  <a:pt x="529424" y="0"/>
                </a:lnTo>
                <a:lnTo>
                  <a:pt x="0" y="1094041"/>
                </a:lnTo>
                <a:lnTo>
                  <a:pt x="51955" y="1094041"/>
                </a:lnTo>
                <a:lnTo>
                  <a:pt x="581393" y="0"/>
                </a:lnTo>
                <a:close/>
              </a:path>
              <a:path w="4765675" h="1094105">
                <a:moveTo>
                  <a:pt x="1038809" y="0"/>
                </a:moveTo>
                <a:lnTo>
                  <a:pt x="927785" y="0"/>
                </a:lnTo>
                <a:lnTo>
                  <a:pt x="398360" y="1094041"/>
                </a:lnTo>
                <a:lnTo>
                  <a:pt x="509371" y="1094041"/>
                </a:lnTo>
                <a:lnTo>
                  <a:pt x="1038809" y="0"/>
                </a:lnTo>
                <a:close/>
              </a:path>
              <a:path w="4765675" h="1094105">
                <a:moveTo>
                  <a:pt x="1547482" y="0"/>
                </a:moveTo>
                <a:lnTo>
                  <a:pt x="1385201" y="0"/>
                </a:lnTo>
                <a:lnTo>
                  <a:pt x="855764" y="1094041"/>
                </a:lnTo>
                <a:lnTo>
                  <a:pt x="1018057" y="1094041"/>
                </a:lnTo>
                <a:lnTo>
                  <a:pt x="1547482" y="0"/>
                </a:lnTo>
                <a:close/>
              </a:path>
              <a:path w="4765675" h="1094105">
                <a:moveTo>
                  <a:pt x="2131110" y="0"/>
                </a:moveTo>
                <a:lnTo>
                  <a:pt x="1893874" y="0"/>
                </a:lnTo>
                <a:lnTo>
                  <a:pt x="1364449" y="1094041"/>
                </a:lnTo>
                <a:lnTo>
                  <a:pt x="1601685" y="1094041"/>
                </a:lnTo>
                <a:lnTo>
                  <a:pt x="2131110" y="0"/>
                </a:lnTo>
                <a:close/>
              </a:path>
              <a:path w="4765675" h="1094105">
                <a:moveTo>
                  <a:pt x="2824302" y="0"/>
                </a:moveTo>
                <a:lnTo>
                  <a:pt x="2477503" y="0"/>
                </a:lnTo>
                <a:lnTo>
                  <a:pt x="1948078" y="1094041"/>
                </a:lnTo>
                <a:lnTo>
                  <a:pt x="2294864" y="1094041"/>
                </a:lnTo>
                <a:lnTo>
                  <a:pt x="2824302" y="0"/>
                </a:lnTo>
                <a:close/>
              </a:path>
              <a:path w="4765675" h="1094105">
                <a:moveTo>
                  <a:pt x="3677628" y="0"/>
                </a:moveTo>
                <a:lnTo>
                  <a:pt x="3170682" y="0"/>
                </a:lnTo>
                <a:lnTo>
                  <a:pt x="2641257" y="1094041"/>
                </a:lnTo>
                <a:lnTo>
                  <a:pt x="3128226" y="1094041"/>
                </a:lnTo>
                <a:lnTo>
                  <a:pt x="3202686" y="981456"/>
                </a:lnTo>
                <a:lnTo>
                  <a:pt x="3677628" y="0"/>
                </a:lnTo>
                <a:close/>
              </a:path>
              <a:path w="4765675" h="1094105">
                <a:moveTo>
                  <a:pt x="4765065" y="0"/>
                </a:moveTo>
                <a:lnTo>
                  <a:pt x="4024020" y="0"/>
                </a:lnTo>
                <a:lnTo>
                  <a:pt x="3582327" y="912761"/>
                </a:lnTo>
                <a:lnTo>
                  <a:pt x="4323359" y="912761"/>
                </a:lnTo>
                <a:lnTo>
                  <a:pt x="4765065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665" y="398018"/>
            <a:ext cx="15761970" cy="1592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65" y="2288603"/>
            <a:ext cx="15761970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4522" y="9253919"/>
            <a:ext cx="5604256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5665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609577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jpe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jp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jp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9201" y="206135"/>
            <a:ext cx="13677265" cy="100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ru-RU" sz="3150" spc="-45" dirty="0">
                <a:solidFill>
                  <a:srgbClr val="273B6F"/>
                </a:solidFill>
                <a:latin typeface="Microsoft Sans Serif"/>
                <a:cs typeface="Microsoft Sans Serif"/>
              </a:rPr>
              <a:t>ЮНУСОБОД</a:t>
            </a:r>
            <a:r>
              <a:rPr sz="3150" spc="-165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15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ТУМАНИ</a:t>
            </a:r>
            <a:r>
              <a:rPr sz="3150" spc="-160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150" b="1" dirty="0" smtClean="0">
                <a:solidFill>
                  <a:srgbClr val="273B6F"/>
                </a:solidFill>
                <a:latin typeface="Arial"/>
                <a:cs typeface="Arial"/>
              </a:rPr>
              <a:t>“</a:t>
            </a:r>
            <a:r>
              <a:rPr lang="ru-RU" sz="3150" b="1" dirty="0" smtClean="0">
                <a:solidFill>
                  <a:srgbClr val="273B6F"/>
                </a:solidFill>
                <a:latin typeface="Arial"/>
                <a:cs typeface="Arial"/>
              </a:rPr>
              <a:t>ХУСНИОБОД</a:t>
            </a:r>
            <a:r>
              <a:rPr sz="3150" b="1" spc="-35" dirty="0" smtClean="0">
                <a:solidFill>
                  <a:srgbClr val="273B6F"/>
                </a:solidFill>
                <a:latin typeface="Arial"/>
                <a:cs typeface="Arial"/>
              </a:rPr>
              <a:t>”</a:t>
            </a:r>
            <a:r>
              <a:rPr sz="3150" b="1" spc="-180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МАҲАЛЛАСИДА</a:t>
            </a:r>
            <a:endParaRPr sz="315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3150" b="1" spc="-25" dirty="0">
                <a:solidFill>
                  <a:srgbClr val="273B6F"/>
                </a:solidFill>
                <a:latin typeface="Arial"/>
                <a:cs typeface="Arial"/>
              </a:rPr>
              <a:t>АҲОЛИ</a:t>
            </a:r>
            <a:r>
              <a:rPr sz="315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b="1" spc="-40" dirty="0">
                <a:solidFill>
                  <a:srgbClr val="273B6F"/>
                </a:solidFill>
                <a:latin typeface="Arial"/>
                <a:cs typeface="Arial"/>
              </a:rPr>
              <a:t>БАНДЛИГИНИ</a:t>
            </a:r>
            <a:r>
              <a:rPr sz="315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b="1" spc="-55" dirty="0">
                <a:solidFill>
                  <a:srgbClr val="273B6F"/>
                </a:solidFill>
                <a:latin typeface="Arial"/>
                <a:cs typeface="Arial"/>
              </a:rPr>
              <a:t>ТАЪМИНЛАШ</a:t>
            </a:r>
            <a:r>
              <a:rPr sz="315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b="1" spc="-50" dirty="0">
                <a:solidFill>
                  <a:srgbClr val="273B6F"/>
                </a:solidFill>
                <a:latin typeface="Arial"/>
                <a:cs typeface="Arial"/>
              </a:rPr>
              <a:t>ВА</a:t>
            </a:r>
            <a:r>
              <a:rPr sz="315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b="1" spc="-30" dirty="0">
                <a:solidFill>
                  <a:srgbClr val="273B6F"/>
                </a:solidFill>
                <a:latin typeface="Arial"/>
                <a:cs typeface="Arial"/>
              </a:rPr>
              <a:t>ДАРОМАДЛАРИНИ</a:t>
            </a:r>
            <a:r>
              <a:rPr sz="3150" b="1" spc="-15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b="1" spc="-10" dirty="0">
                <a:solidFill>
                  <a:srgbClr val="273B6F"/>
                </a:solidFill>
                <a:latin typeface="Arial"/>
                <a:cs typeface="Arial"/>
              </a:rPr>
              <a:t>ОШИРИШ</a:t>
            </a:r>
            <a:endParaRPr sz="315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3948" y="1089849"/>
            <a:ext cx="16696055" cy="1755280"/>
            <a:chOff x="363948" y="1089849"/>
            <a:chExt cx="16696055" cy="1755280"/>
          </a:xfrm>
        </p:grpSpPr>
        <p:sp>
          <p:nvSpPr>
            <p:cNvPr id="4" name="object 4"/>
            <p:cNvSpPr/>
            <p:nvPr/>
          </p:nvSpPr>
          <p:spPr>
            <a:xfrm>
              <a:off x="363948" y="1089849"/>
              <a:ext cx="16696055" cy="181610"/>
            </a:xfrm>
            <a:custGeom>
              <a:avLst/>
              <a:gdLst/>
              <a:ahLst/>
              <a:cxnLst/>
              <a:rect l="l" t="t" r="r" b="b"/>
              <a:pathLst>
                <a:path w="16696055" h="181609">
                  <a:moveTo>
                    <a:pt x="0" y="181288"/>
                  </a:moveTo>
                  <a:lnTo>
                    <a:pt x="15407916" y="181288"/>
                  </a:lnTo>
                  <a:lnTo>
                    <a:pt x="15527797" y="0"/>
                  </a:lnTo>
                  <a:lnTo>
                    <a:pt x="16695734" y="0"/>
                  </a:lnTo>
                </a:path>
              </a:pathLst>
            </a:custGeom>
            <a:ln w="12701">
              <a:solidFill>
                <a:srgbClr val="7E6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5" y="0"/>
                  </a:move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7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01773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45324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29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5" y="345495"/>
                  </a:lnTo>
                  <a:lnTo>
                    <a:pt x="173379" y="351698"/>
                  </a:lnTo>
                  <a:lnTo>
                    <a:pt x="216832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6469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2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4" y="32851"/>
                  </a:lnTo>
                  <a:lnTo>
                    <a:pt x="11947" y="37167"/>
                  </a:lnTo>
                  <a:lnTo>
                    <a:pt x="19058" y="38661"/>
                  </a:lnTo>
                  <a:lnTo>
                    <a:pt x="26139" y="37324"/>
                  </a:lnTo>
                  <a:lnTo>
                    <a:pt x="32333" y="33145"/>
                  </a:lnTo>
                  <a:lnTo>
                    <a:pt x="36408" y="26797"/>
                  </a:lnTo>
                  <a:lnTo>
                    <a:pt x="37713" y="19539"/>
                  </a:lnTo>
                  <a:lnTo>
                    <a:pt x="36256" y="12249"/>
                  </a:lnTo>
                  <a:lnTo>
                    <a:pt x="32046" y="5807"/>
                  </a:lnTo>
                  <a:lnTo>
                    <a:pt x="25762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4825086" y="0"/>
                  </a:moveTo>
                  <a:lnTo>
                    <a:pt x="84016" y="0"/>
                  </a:lnTo>
                  <a:lnTo>
                    <a:pt x="51394" y="6629"/>
                  </a:lnTo>
                  <a:lnTo>
                    <a:pt x="24679" y="24680"/>
                  </a:lnTo>
                  <a:lnTo>
                    <a:pt x="6629" y="51394"/>
                  </a:lnTo>
                  <a:lnTo>
                    <a:pt x="0" y="84016"/>
                  </a:lnTo>
                  <a:lnTo>
                    <a:pt x="0" y="1246244"/>
                  </a:lnTo>
                  <a:lnTo>
                    <a:pt x="6629" y="1278866"/>
                  </a:lnTo>
                  <a:lnTo>
                    <a:pt x="24679" y="1305581"/>
                  </a:lnTo>
                  <a:lnTo>
                    <a:pt x="51394" y="1323632"/>
                  </a:lnTo>
                  <a:lnTo>
                    <a:pt x="84016" y="1330261"/>
                  </a:lnTo>
                  <a:lnTo>
                    <a:pt x="4825086" y="1330261"/>
                  </a:lnTo>
                  <a:lnTo>
                    <a:pt x="4857708" y="1323632"/>
                  </a:lnTo>
                  <a:lnTo>
                    <a:pt x="4884423" y="1305581"/>
                  </a:lnTo>
                  <a:lnTo>
                    <a:pt x="4902474" y="1278866"/>
                  </a:lnTo>
                  <a:lnTo>
                    <a:pt x="4909103" y="1246244"/>
                  </a:lnTo>
                  <a:lnTo>
                    <a:pt x="4909103" y="84016"/>
                  </a:lnTo>
                  <a:lnTo>
                    <a:pt x="4902474" y="51394"/>
                  </a:lnTo>
                  <a:lnTo>
                    <a:pt x="4884423" y="24680"/>
                  </a:lnTo>
                  <a:lnTo>
                    <a:pt x="4857708" y="6629"/>
                  </a:lnTo>
                  <a:lnTo>
                    <a:pt x="4825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84016" y="0"/>
                  </a:moveTo>
                  <a:lnTo>
                    <a:pt x="4825086" y="0"/>
                  </a:lnTo>
                  <a:lnTo>
                    <a:pt x="4857708" y="6629"/>
                  </a:lnTo>
                  <a:lnTo>
                    <a:pt x="4884423" y="24680"/>
                  </a:lnTo>
                  <a:lnTo>
                    <a:pt x="4902474" y="51394"/>
                  </a:lnTo>
                  <a:lnTo>
                    <a:pt x="4909103" y="84016"/>
                  </a:lnTo>
                  <a:lnTo>
                    <a:pt x="4909103" y="1246244"/>
                  </a:lnTo>
                  <a:lnTo>
                    <a:pt x="4902474" y="1278866"/>
                  </a:lnTo>
                  <a:lnTo>
                    <a:pt x="4884423" y="1305581"/>
                  </a:lnTo>
                  <a:lnTo>
                    <a:pt x="4857708" y="1323632"/>
                  </a:lnTo>
                  <a:lnTo>
                    <a:pt x="4825086" y="1330261"/>
                  </a:lnTo>
                  <a:lnTo>
                    <a:pt x="84016" y="1330261"/>
                  </a:lnTo>
                  <a:lnTo>
                    <a:pt x="51394" y="1323632"/>
                  </a:lnTo>
                  <a:lnTo>
                    <a:pt x="24679" y="1305581"/>
                  </a:lnTo>
                  <a:lnTo>
                    <a:pt x="6629" y="1278866"/>
                  </a:lnTo>
                  <a:lnTo>
                    <a:pt x="0" y="1246244"/>
                  </a:lnTo>
                  <a:lnTo>
                    <a:pt x="0" y="84016"/>
                  </a:lnTo>
                  <a:lnTo>
                    <a:pt x="6629" y="51394"/>
                  </a:lnTo>
                  <a:lnTo>
                    <a:pt x="24679" y="24680"/>
                  </a:lnTo>
                  <a:lnTo>
                    <a:pt x="51394" y="6629"/>
                  </a:lnTo>
                  <a:lnTo>
                    <a:pt x="8401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63390" y="1575546"/>
              <a:ext cx="0" cy="1223645"/>
            </a:xfrm>
            <a:custGeom>
              <a:avLst/>
              <a:gdLst/>
              <a:ahLst/>
              <a:cxnLst/>
              <a:rect l="l" t="t" r="r" b="b"/>
              <a:pathLst>
                <a:path h="1223645">
                  <a:moveTo>
                    <a:pt x="0" y="0"/>
                  </a:moveTo>
                  <a:lnTo>
                    <a:pt x="0" y="1223172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63390" y="1755338"/>
              <a:ext cx="0" cy="838835"/>
            </a:xfrm>
            <a:custGeom>
              <a:avLst/>
              <a:gdLst/>
              <a:ahLst/>
              <a:cxnLst/>
              <a:rect l="l" t="t" r="r" b="b"/>
              <a:pathLst>
                <a:path h="838835">
                  <a:moveTo>
                    <a:pt x="0" y="0"/>
                  </a:moveTo>
                  <a:lnTo>
                    <a:pt x="0" y="838616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14710" y="1538665"/>
            <a:ext cx="2409754" cy="116057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</a:pPr>
            <a:r>
              <a:rPr sz="1650" dirty="0">
                <a:solidFill>
                  <a:srgbClr val="3C2B98"/>
                </a:solidFill>
                <a:latin typeface="Tahoma"/>
                <a:cs typeface="Tahoma"/>
              </a:rPr>
              <a:t>Маҳалла</a:t>
            </a:r>
            <a:r>
              <a:rPr sz="1650" spc="-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C2B98"/>
                </a:solidFill>
                <a:latin typeface="Tahoma"/>
                <a:cs typeface="Tahoma"/>
              </a:rPr>
              <a:t>банкири</a:t>
            </a:r>
            <a:endParaRPr sz="16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uz-Cyrl-UZ" sz="1650" b="1" spc="-110" dirty="0">
                <a:solidFill>
                  <a:srgbClr val="16387F"/>
                </a:solidFill>
                <a:latin typeface="Arial"/>
                <a:cs typeface="Arial"/>
              </a:rPr>
              <a:t>Нуруллаев Олтибек</a:t>
            </a:r>
            <a:endParaRPr sz="1650" dirty="0">
              <a:latin typeface="Arial"/>
              <a:cs typeface="Arial"/>
            </a:endParaRPr>
          </a:p>
          <a:p>
            <a:pPr marL="22225">
              <a:lnSpc>
                <a:spcPct val="100000"/>
              </a:lnSpc>
              <a:spcBef>
                <a:spcPts val="1035"/>
              </a:spcBef>
            </a:pPr>
            <a:r>
              <a:rPr sz="1650" dirty="0">
                <a:solidFill>
                  <a:srgbClr val="3C2B98"/>
                </a:solidFill>
                <a:latin typeface="Tahoma"/>
                <a:cs typeface="Tahoma"/>
              </a:rPr>
              <a:t>Ёрдамчи</a:t>
            </a:r>
            <a:r>
              <a:rPr sz="1650" spc="-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C2B98"/>
                </a:solidFill>
                <a:latin typeface="Tahoma"/>
                <a:cs typeface="Tahoma"/>
              </a:rPr>
              <a:t>агент</a:t>
            </a:r>
            <a:endParaRPr sz="1650" dirty="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35"/>
              </a:spcBef>
            </a:pPr>
            <a:r>
              <a:rPr lang="ru-RU" sz="1650" b="1" spc="-100" dirty="0" err="1" smtClean="0">
                <a:solidFill>
                  <a:srgbClr val="16387F"/>
                </a:solidFill>
                <a:latin typeface="Arial"/>
                <a:cs typeface="Arial"/>
              </a:rPr>
              <a:t>Хамидова</a:t>
            </a:r>
            <a:r>
              <a:rPr lang="ru-RU" sz="1650" b="1" spc="-100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1650" b="1" spc="-100" dirty="0" err="1" smtClean="0">
                <a:solidFill>
                  <a:srgbClr val="16387F"/>
                </a:solidFill>
                <a:latin typeface="Arial"/>
                <a:cs typeface="Arial"/>
              </a:rPr>
              <a:t>Динора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6700" y="1534774"/>
            <a:ext cx="20593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3C2B98"/>
                </a:solidFill>
                <a:latin typeface="Tahoma"/>
                <a:cs typeface="Tahoma"/>
              </a:rPr>
              <a:t>БИРИКТИРИЛГАН</a:t>
            </a:r>
            <a:r>
              <a:rPr sz="15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550" spc="-2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5245" y="1991679"/>
            <a:ext cx="2228324" cy="533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>
                <a:solidFill>
                  <a:srgbClr val="16387F"/>
                </a:solidFill>
                <a:latin typeface="Arial"/>
                <a:cs typeface="Arial"/>
              </a:rPr>
              <a:t>ТУРОНБАНК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>
                <a:solidFill>
                  <a:srgbClr val="16387F"/>
                </a:solidFill>
                <a:latin typeface="Arial"/>
                <a:cs typeface="Arial"/>
              </a:rPr>
              <a:t>ЮНУСОБОД </a:t>
            </a:r>
            <a:r>
              <a:rPr sz="1650" b="1" spc="-95" dirty="0">
                <a:solidFill>
                  <a:srgbClr val="16387F"/>
                </a:solidFill>
                <a:latin typeface="Arial"/>
                <a:cs typeface="Arial"/>
              </a:rPr>
              <a:t>БХ</a:t>
            </a:r>
            <a:r>
              <a:rPr lang="uz-Cyrl-UZ" sz="1650" b="1" spc="-95" dirty="0">
                <a:solidFill>
                  <a:srgbClr val="16387F"/>
                </a:solidFill>
                <a:latin typeface="Arial"/>
                <a:cs typeface="Arial"/>
              </a:rPr>
              <a:t>О</a:t>
            </a:r>
            <a:endParaRPr sz="165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42079" y="1505585"/>
            <a:ext cx="6524625" cy="1336040"/>
            <a:chOff x="8042079" y="1507802"/>
            <a:chExt cx="6524625" cy="1336040"/>
          </a:xfrm>
        </p:grpSpPr>
        <p:sp>
          <p:nvSpPr>
            <p:cNvPr id="21" name="object 21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9525" y="2526148"/>
              <a:ext cx="2071166" cy="3133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80480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70" h="313689">
                  <a:moveTo>
                    <a:pt x="2071166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5" y="289159"/>
                  </a:lnTo>
                  <a:lnTo>
                    <a:pt x="2064657" y="262929"/>
                  </a:lnTo>
                  <a:lnTo>
                    <a:pt x="2071166" y="230897"/>
                  </a:lnTo>
                  <a:lnTo>
                    <a:pt x="2071166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491428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69" h="313689">
                  <a:moveTo>
                    <a:pt x="2071165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4" y="289159"/>
                  </a:lnTo>
                  <a:lnTo>
                    <a:pt x="2064656" y="262929"/>
                  </a:lnTo>
                  <a:lnTo>
                    <a:pt x="2071165" y="230897"/>
                  </a:lnTo>
                  <a:lnTo>
                    <a:pt x="2071165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2079" y="1507802"/>
              <a:ext cx="281397" cy="2679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6623" y="1507802"/>
              <a:ext cx="281397" cy="2679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60330" y="1507802"/>
              <a:ext cx="281397" cy="26797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379086" y="1470025"/>
            <a:ext cx="579437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22525" algn="l"/>
                <a:tab pos="4466590" algn="l"/>
              </a:tabLst>
            </a:pP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Тадбиркорлик</a:t>
            </a:r>
            <a:r>
              <a:rPr sz="1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Ишсизлик</a:t>
            </a:r>
            <a:r>
              <a:rPr sz="1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Камбағаллик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24581" y="1867881"/>
            <a:ext cx="4432300" cy="647065"/>
          </a:xfrm>
          <a:custGeom>
            <a:avLst/>
            <a:gdLst/>
            <a:ahLst/>
            <a:cxnLst/>
            <a:rect l="l" t="t" r="r" b="b"/>
            <a:pathLst>
              <a:path w="4432300" h="647064">
                <a:moveTo>
                  <a:pt x="0" y="0"/>
                </a:moveTo>
                <a:lnTo>
                  <a:pt x="0" y="646526"/>
                </a:lnTo>
              </a:path>
              <a:path w="4432300" h="647064">
                <a:moveTo>
                  <a:pt x="2211386" y="0"/>
                </a:moveTo>
                <a:lnTo>
                  <a:pt x="2211386" y="646526"/>
                </a:lnTo>
              </a:path>
              <a:path w="4432300" h="647064">
                <a:moveTo>
                  <a:pt x="4432114" y="0"/>
                </a:moveTo>
                <a:lnTo>
                  <a:pt x="4432114" y="646526"/>
                </a:lnTo>
              </a:path>
            </a:pathLst>
          </a:custGeom>
          <a:ln w="9000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091662" y="1773819"/>
            <a:ext cx="6458248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ru-RU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298</a:t>
            </a:r>
            <a:r>
              <a:rPr sz="3050" b="1" spc="-254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3050" b="1" spc="-25" dirty="0">
                <a:solidFill>
                  <a:srgbClr val="16387F"/>
                </a:solidFill>
                <a:latin typeface="Arial"/>
                <a:cs typeface="Arial"/>
              </a:rPr>
              <a:t>128</a:t>
            </a:r>
            <a:r>
              <a:rPr sz="3050" b="1" spc="-254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 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71 </a:t>
            </a:r>
            <a:r>
              <a:rPr lang="ru-RU" sz="21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3050" b="1" spc="-27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30768" y="1769888"/>
            <a:ext cx="5407959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ru-RU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306</a:t>
            </a:r>
            <a:r>
              <a:rPr lang="ru-RU" sz="3050" b="1" spc="-254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lang="ru-RU"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  </a:t>
            </a:r>
            <a:r>
              <a:rPr lang="ru-RU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24</a:t>
            </a:r>
            <a:r>
              <a:rPr sz="3050" b="1" spc="-270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2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lang="ru-RU"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 </a:t>
            </a:r>
            <a:r>
              <a:rPr lang="ru-RU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18 </a:t>
            </a:r>
            <a:r>
              <a:rPr lang="ru-RU" sz="21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lang="ru-RU" sz="3050" b="1" spc="-27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1652" y="2279753"/>
            <a:ext cx="4037329" cy="57467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064260" algn="l"/>
                <a:tab pos="2223770" algn="l"/>
                <a:tab pos="3275965" algn="l"/>
              </a:tabLst>
            </a:pP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01.01.2025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ru-RU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ru-RU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05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01.0</a:t>
            </a:r>
            <a:r>
              <a:rPr lang="uz-Cyrl-UZ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.20</a:t>
            </a:r>
            <a:r>
              <a:rPr lang="en-US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2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ru-RU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ru-RU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endParaRPr sz="1200" dirty="0">
              <a:latin typeface="Tahoma"/>
              <a:cs typeface="Tahoma"/>
            </a:endParaRPr>
          </a:p>
          <a:p>
            <a:pPr marL="260350">
              <a:lnSpc>
                <a:spcPct val="100000"/>
              </a:lnSpc>
              <a:spcBef>
                <a:spcPts val="395"/>
              </a:spcBef>
            </a:pPr>
            <a:r>
              <a:rPr sz="1450" dirty="0">
                <a:solidFill>
                  <a:srgbClr val="FFFFFF"/>
                </a:solidFill>
                <a:latin typeface="Microsoft Sans Serif"/>
                <a:cs typeface="Microsoft Sans Serif"/>
              </a:rPr>
              <a:t>Ўсиш:</a:t>
            </a:r>
            <a:r>
              <a:rPr sz="145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50" b="1" dirty="0" smtClean="0">
                <a:solidFill>
                  <a:srgbClr val="FFFFFF"/>
                </a:solidFill>
                <a:latin typeface="Arial"/>
                <a:cs typeface="Arial"/>
              </a:rPr>
              <a:t>1,</a:t>
            </a:r>
            <a:r>
              <a:rPr lang="ru-RU" sz="185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850" b="1" spc="-50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баробар</a:t>
            </a:r>
            <a:endParaRPr sz="1200" dirty="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74091" y="2551020"/>
            <a:ext cx="1581785" cy="225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Ишсизликдан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Arial"/>
                <a:cs typeface="Arial"/>
              </a:rPr>
              <a:t>ҳоли</a:t>
            </a:r>
            <a:endParaRPr sz="1300" dirty="0">
              <a:latin typeface="Arial"/>
              <a:cs typeface="Arial"/>
            </a:endParaRPr>
          </a:p>
        </p:txBody>
      </p:sp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60842" y="2590801"/>
            <a:ext cx="207329" cy="170384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2602205" y="2229219"/>
            <a:ext cx="1957495" cy="548868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064260" algn="l"/>
              </a:tabLst>
            </a:pP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01.01.2025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uz-Cyrl-UZ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 smtClean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 smtClean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endParaRPr sz="1200" dirty="0">
              <a:latin typeface="Tahoma"/>
              <a:cs typeface="Tahoma"/>
            </a:endParaRPr>
          </a:p>
          <a:p>
            <a:pPr marL="187960">
              <a:lnSpc>
                <a:spcPct val="100000"/>
              </a:lnSpc>
              <a:spcBef>
                <a:spcPts val="625"/>
              </a:spcBef>
            </a:pPr>
            <a:r>
              <a:rPr lang="uz-Cyrl-UZ" sz="1300" b="1" spc="-65" dirty="0">
                <a:solidFill>
                  <a:schemeClr val="bg1"/>
                </a:solidFill>
                <a:latin typeface="Arial"/>
                <a:cs typeface="Arial"/>
              </a:rPr>
              <a:t>Камбағалликдан холи</a:t>
            </a:r>
            <a:endParaRPr sz="1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39921" y="1617942"/>
            <a:ext cx="7885430" cy="1141095"/>
            <a:chOff x="8149323" y="1633993"/>
            <a:chExt cx="7885430" cy="1141095"/>
          </a:xfrm>
        </p:grpSpPr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66929" y="2590800"/>
              <a:ext cx="207329" cy="17038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49323" y="2572297"/>
              <a:ext cx="202302" cy="2026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6029695" y="1638755"/>
              <a:ext cx="0" cy="1066165"/>
            </a:xfrm>
            <a:custGeom>
              <a:avLst/>
              <a:gdLst/>
              <a:ahLst/>
              <a:cxnLst/>
              <a:rect l="l" t="t" r="r" b="b"/>
              <a:pathLst>
                <a:path h="1066164">
                  <a:moveTo>
                    <a:pt x="0" y="0"/>
                  </a:moveTo>
                  <a:lnTo>
                    <a:pt x="0" y="1066027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4886244" y="1860733"/>
            <a:ext cx="92456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Вилоятдан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783973" y="2059707"/>
            <a:ext cx="1168046" cy="69634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0955" marR="42545" algn="ctr">
              <a:lnSpc>
                <a:spcPts val="1460"/>
              </a:lnSpc>
              <a:spcBef>
                <a:spcPts val="409"/>
              </a:spcBef>
            </a:pPr>
            <a:r>
              <a:rPr sz="1450" dirty="0">
                <a:solidFill>
                  <a:srgbClr val="3C2B98"/>
                </a:solidFill>
                <a:latin typeface="Tahoma"/>
                <a:cs typeface="Tahoma"/>
              </a:rPr>
              <a:t>келган</a:t>
            </a:r>
            <a:r>
              <a:rPr sz="1450" spc="-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банд 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endParaRPr sz="14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lang="en-US" sz="1600" b="1" spc="-90" dirty="0" smtClean="0">
                <a:solidFill>
                  <a:srgbClr val="16387F"/>
                </a:solidFill>
                <a:latin typeface="Arial"/>
                <a:cs typeface="Arial"/>
              </a:rPr>
              <a:t>2</a:t>
            </a:r>
            <a:r>
              <a:rPr lang="uz-Cyrl-UZ" sz="1600" b="1" spc="-90" dirty="0" smtClean="0">
                <a:solidFill>
                  <a:srgbClr val="16387F"/>
                </a:solidFill>
                <a:latin typeface="Arial"/>
                <a:cs typeface="Arial"/>
              </a:rPr>
              <a:t>6</a:t>
            </a:r>
            <a:r>
              <a:rPr sz="1600" b="1" spc="-90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1600" spc="-90" dirty="0">
                <a:solidFill>
                  <a:srgbClr val="16387F"/>
                </a:solidFill>
                <a:latin typeface="Microsoft Sans Serif"/>
                <a:cs typeface="Microsoft Sans Serif"/>
              </a:rPr>
              <a:t>нафар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160650" y="1893062"/>
            <a:ext cx="884555" cy="8758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7310" marR="5080" indent="69850" algn="ctr">
              <a:lnSpc>
                <a:spcPts val="1460"/>
              </a:lnSpc>
              <a:spcBef>
                <a:spcPts val="409"/>
              </a:spcBef>
            </a:pPr>
            <a:r>
              <a:rPr sz="1450" spc="-10" dirty="0" err="1">
                <a:solidFill>
                  <a:srgbClr val="3C2B98"/>
                </a:solidFill>
                <a:latin typeface="Tahoma"/>
                <a:cs typeface="Tahoma"/>
              </a:rPr>
              <a:t>Мавжуд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dirty="0" err="1">
                <a:solidFill>
                  <a:srgbClr val="3C2B98"/>
                </a:solidFill>
                <a:latin typeface="Tahoma"/>
                <a:cs typeface="Tahoma"/>
              </a:rPr>
              <a:t>бўш</a:t>
            </a:r>
            <a:r>
              <a:rPr lang="uz-Cyrl-UZ" sz="1450" spc="-3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5" dirty="0" err="1">
                <a:solidFill>
                  <a:srgbClr val="3C2B98"/>
                </a:solidFill>
                <a:latin typeface="Tahoma"/>
                <a:cs typeface="Tahoma"/>
              </a:rPr>
              <a:t>иш</a:t>
            </a:r>
            <a:r>
              <a:rPr sz="1450" spc="-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ўринлари</a:t>
            </a:r>
            <a:endParaRPr sz="1450" dirty="0">
              <a:latin typeface="Tahoma"/>
              <a:cs typeface="Tahoma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uz-Cyrl-UZ" sz="1600" b="1" spc="220" dirty="0" smtClean="0">
                <a:solidFill>
                  <a:srgbClr val="16387F"/>
                </a:solidFill>
                <a:latin typeface="Arial"/>
                <a:cs typeface="Arial"/>
              </a:rPr>
              <a:t>16</a:t>
            </a:r>
            <a:r>
              <a:rPr sz="1600" b="1" spc="220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1600" dirty="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527909" y="1343620"/>
            <a:ext cx="11210290" cy="1499870"/>
            <a:chOff x="5527909" y="1343620"/>
            <a:chExt cx="11210290" cy="1499870"/>
          </a:xfrm>
        </p:grpSpPr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12378" y="1458377"/>
              <a:ext cx="225364" cy="21469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133424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18489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6" y="345495"/>
                  </a:lnTo>
                  <a:lnTo>
                    <a:pt x="173379" y="351698"/>
                  </a:lnTo>
                  <a:lnTo>
                    <a:pt x="216833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7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188120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3" y="0"/>
                  </a:moveTo>
                  <a:lnTo>
                    <a:pt x="11573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8" y="26411"/>
                  </a:lnTo>
                  <a:lnTo>
                    <a:pt x="5669" y="32851"/>
                  </a:lnTo>
                  <a:lnTo>
                    <a:pt x="11950" y="37167"/>
                  </a:lnTo>
                  <a:lnTo>
                    <a:pt x="19060" y="38661"/>
                  </a:lnTo>
                  <a:lnTo>
                    <a:pt x="26141" y="37324"/>
                  </a:lnTo>
                  <a:lnTo>
                    <a:pt x="32334" y="33145"/>
                  </a:lnTo>
                  <a:lnTo>
                    <a:pt x="36408" y="26797"/>
                  </a:lnTo>
                  <a:lnTo>
                    <a:pt x="37712" y="19539"/>
                  </a:lnTo>
                  <a:lnTo>
                    <a:pt x="36255" y="12249"/>
                  </a:lnTo>
                  <a:lnTo>
                    <a:pt x="32045" y="5807"/>
                  </a:lnTo>
                  <a:lnTo>
                    <a:pt x="25764" y="1493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35981" y="1437488"/>
              <a:ext cx="232192" cy="2365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90409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41883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1" y="0"/>
                  </a:moveTo>
                  <a:lnTo>
                    <a:pt x="126228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2" y="327873"/>
                  </a:lnTo>
                  <a:lnTo>
                    <a:pt x="129803" y="345495"/>
                  </a:lnTo>
                  <a:lnTo>
                    <a:pt x="173376" y="351698"/>
                  </a:lnTo>
                  <a:lnTo>
                    <a:pt x="216829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2" y="264344"/>
                  </a:lnTo>
                  <a:lnTo>
                    <a:pt x="337945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5" y="23825"/>
                  </a:lnTo>
                  <a:lnTo>
                    <a:pt x="213254" y="6202"/>
                  </a:lnTo>
                  <a:lnTo>
                    <a:pt x="169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45105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1" y="1337"/>
                  </a:lnTo>
                  <a:lnTo>
                    <a:pt x="5378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8" y="38661"/>
                  </a:lnTo>
                  <a:lnTo>
                    <a:pt x="26138" y="37324"/>
                  </a:lnTo>
                  <a:lnTo>
                    <a:pt x="32331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5" y="12249"/>
                  </a:lnTo>
                  <a:lnTo>
                    <a:pt x="32046" y="5807"/>
                  </a:lnTo>
                  <a:lnTo>
                    <a:pt x="25763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87301" y="1638756"/>
              <a:ext cx="0" cy="1132840"/>
            </a:xfrm>
            <a:custGeom>
              <a:avLst/>
              <a:gdLst/>
              <a:ahLst/>
              <a:cxnLst/>
              <a:rect l="l" t="t" r="r" b="b"/>
              <a:pathLst>
                <a:path h="1132839">
                  <a:moveTo>
                    <a:pt x="0" y="0"/>
                  </a:moveTo>
                  <a:lnTo>
                    <a:pt x="0" y="1132649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357555" y="366561"/>
                  </a:move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922060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73534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5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3" y="327873"/>
                  </a:lnTo>
                  <a:lnTo>
                    <a:pt x="129805" y="345495"/>
                  </a:lnTo>
                  <a:lnTo>
                    <a:pt x="173377" y="351698"/>
                  </a:lnTo>
                  <a:lnTo>
                    <a:pt x="216830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3" y="264344"/>
                  </a:lnTo>
                  <a:lnTo>
                    <a:pt x="337946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6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76757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1" y="0"/>
                  </a:moveTo>
                  <a:lnTo>
                    <a:pt x="11570" y="1337"/>
                  </a:lnTo>
                  <a:lnTo>
                    <a:pt x="5377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7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9" y="38661"/>
                  </a:lnTo>
                  <a:lnTo>
                    <a:pt x="26140" y="37324"/>
                  </a:lnTo>
                  <a:lnTo>
                    <a:pt x="32334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3" y="12249"/>
                  </a:lnTo>
                  <a:lnTo>
                    <a:pt x="32045" y="5807"/>
                  </a:lnTo>
                  <a:lnTo>
                    <a:pt x="25762" y="1493"/>
                  </a:lnTo>
                  <a:lnTo>
                    <a:pt x="18651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24614" y="1437488"/>
              <a:ext cx="232192" cy="23657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98445" y="1447077"/>
              <a:ext cx="216712" cy="22862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751038" y="2477165"/>
            <a:ext cx="702945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30" dirty="0">
                <a:solidFill>
                  <a:srgbClr val="16387F"/>
                </a:solidFill>
                <a:latin typeface="Microsoft Sans Serif"/>
                <a:cs typeface="Microsoft Sans Serif"/>
              </a:rPr>
              <a:t>нафар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603062" y="1881713"/>
            <a:ext cx="98488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450" spc="-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45424" y="1872922"/>
            <a:ext cx="115824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Хонадон</a:t>
            </a:r>
            <a:r>
              <a:rPr sz="1450" spc="-4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79296" y="2131386"/>
            <a:ext cx="208978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56030" algn="l"/>
              </a:tabLst>
            </a:pPr>
            <a:r>
              <a:rPr lang="ru-RU" sz="2600" b="1" dirty="0" smtClean="0">
                <a:solidFill>
                  <a:srgbClr val="16387F"/>
                </a:solidFill>
                <a:latin typeface="Arial"/>
                <a:cs typeface="Arial"/>
              </a:rPr>
              <a:t>9 100</a:t>
            </a:r>
            <a:r>
              <a:rPr sz="2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lang="ru-RU" sz="2600" b="1" dirty="0">
                <a:solidFill>
                  <a:srgbClr val="16387F"/>
                </a:solidFill>
                <a:latin typeface="Arial"/>
                <a:cs typeface="Arial"/>
              </a:rPr>
              <a:t>2 </a:t>
            </a:r>
            <a:r>
              <a:rPr lang="ru-RU" sz="2600" b="1" dirty="0" smtClean="0">
                <a:solidFill>
                  <a:srgbClr val="16387F"/>
                </a:solidFill>
                <a:latin typeface="Arial"/>
                <a:cs typeface="Arial"/>
              </a:rPr>
              <a:t>849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21818" y="2477165"/>
            <a:ext cx="24892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520556" y="3091416"/>
            <a:ext cx="8171180" cy="1861185"/>
            <a:chOff x="520556" y="3091416"/>
            <a:chExt cx="8171180" cy="1861185"/>
          </a:xfrm>
        </p:grpSpPr>
        <p:sp>
          <p:nvSpPr>
            <p:cNvPr id="77" name="object 77"/>
            <p:cNvSpPr/>
            <p:nvPr/>
          </p:nvSpPr>
          <p:spPr>
            <a:xfrm>
              <a:off x="578966" y="3091416"/>
              <a:ext cx="8112759" cy="847725"/>
            </a:xfrm>
            <a:custGeom>
              <a:avLst/>
              <a:gdLst/>
              <a:ahLst/>
              <a:cxnLst/>
              <a:rect l="l" t="t" r="r" b="b"/>
              <a:pathLst>
                <a:path w="8112759" h="847725">
                  <a:moveTo>
                    <a:pt x="8112643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112643" y="847432"/>
                  </a:lnTo>
                  <a:lnTo>
                    <a:pt x="8112643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76746" y="3189196"/>
              <a:ext cx="7917180" cy="652145"/>
            </a:xfrm>
            <a:custGeom>
              <a:avLst/>
              <a:gdLst/>
              <a:ahLst/>
              <a:cxnLst/>
              <a:rect l="l" t="t" r="r" b="b"/>
              <a:pathLst>
                <a:path w="7917180" h="652145">
                  <a:moveTo>
                    <a:pt x="7596474" y="0"/>
                  </a:moveTo>
                  <a:lnTo>
                    <a:pt x="320601" y="0"/>
                  </a:lnTo>
                  <a:lnTo>
                    <a:pt x="273401" y="3551"/>
                  </a:lnTo>
                  <a:lnTo>
                    <a:pt x="228293" y="13861"/>
                  </a:lnTo>
                  <a:lnTo>
                    <a:pt x="185782" y="30417"/>
                  </a:lnTo>
                  <a:lnTo>
                    <a:pt x="146376" y="52703"/>
                  </a:lnTo>
                  <a:lnTo>
                    <a:pt x="110580" y="80204"/>
                  </a:lnTo>
                  <a:lnTo>
                    <a:pt x="78902" y="112407"/>
                  </a:lnTo>
                  <a:lnTo>
                    <a:pt x="51848" y="148797"/>
                  </a:lnTo>
                  <a:lnTo>
                    <a:pt x="29924" y="188860"/>
                  </a:lnTo>
                  <a:lnTo>
                    <a:pt x="13637" y="232080"/>
                  </a:lnTo>
                  <a:lnTo>
                    <a:pt x="3493" y="277944"/>
                  </a:lnTo>
                  <a:lnTo>
                    <a:pt x="0" y="325936"/>
                  </a:lnTo>
                  <a:lnTo>
                    <a:pt x="3494" y="373934"/>
                  </a:lnTo>
                  <a:lnTo>
                    <a:pt x="13637" y="419801"/>
                  </a:lnTo>
                  <a:lnTo>
                    <a:pt x="29922" y="463023"/>
                  </a:lnTo>
                  <a:lnTo>
                    <a:pt x="51844" y="503085"/>
                  </a:lnTo>
                  <a:lnTo>
                    <a:pt x="78896" y="539475"/>
                  </a:lnTo>
                  <a:lnTo>
                    <a:pt x="110572" y="571676"/>
                  </a:lnTo>
                  <a:lnTo>
                    <a:pt x="146366" y="599176"/>
                  </a:lnTo>
                  <a:lnTo>
                    <a:pt x="185772" y="621460"/>
                  </a:lnTo>
                  <a:lnTo>
                    <a:pt x="228284" y="638014"/>
                  </a:lnTo>
                  <a:lnTo>
                    <a:pt x="273398" y="648323"/>
                  </a:lnTo>
                  <a:lnTo>
                    <a:pt x="320601" y="651874"/>
                  </a:lnTo>
                  <a:lnTo>
                    <a:pt x="7596474" y="651874"/>
                  </a:lnTo>
                  <a:lnTo>
                    <a:pt x="7643687" y="648323"/>
                  </a:lnTo>
                  <a:lnTo>
                    <a:pt x="7688804" y="638014"/>
                  </a:lnTo>
                  <a:lnTo>
                    <a:pt x="7731320" y="621460"/>
                  </a:lnTo>
                  <a:lnTo>
                    <a:pt x="7770727" y="599176"/>
                  </a:lnTo>
                  <a:lnTo>
                    <a:pt x="7806522" y="571676"/>
                  </a:lnTo>
                  <a:lnTo>
                    <a:pt x="7838197" y="539475"/>
                  </a:lnTo>
                  <a:lnTo>
                    <a:pt x="7865247" y="503085"/>
                  </a:lnTo>
                  <a:lnTo>
                    <a:pt x="7887167" y="463023"/>
                  </a:lnTo>
                  <a:lnTo>
                    <a:pt x="7903450" y="419801"/>
                  </a:lnTo>
                  <a:lnTo>
                    <a:pt x="7913590" y="373934"/>
                  </a:lnTo>
                  <a:lnTo>
                    <a:pt x="7917083" y="325936"/>
                  </a:lnTo>
                  <a:lnTo>
                    <a:pt x="7913589" y="277944"/>
                  </a:lnTo>
                  <a:lnTo>
                    <a:pt x="7903444" y="232080"/>
                  </a:lnTo>
                  <a:lnTo>
                    <a:pt x="7887155" y="188860"/>
                  </a:lnTo>
                  <a:lnTo>
                    <a:pt x="7865229" y="148797"/>
                  </a:lnTo>
                  <a:lnTo>
                    <a:pt x="7838171" y="112407"/>
                  </a:lnTo>
                  <a:lnTo>
                    <a:pt x="7806490" y="80204"/>
                  </a:lnTo>
                  <a:lnTo>
                    <a:pt x="7770693" y="52703"/>
                  </a:lnTo>
                  <a:lnTo>
                    <a:pt x="7731285" y="30417"/>
                  </a:lnTo>
                  <a:lnTo>
                    <a:pt x="7688774" y="13861"/>
                  </a:lnTo>
                  <a:lnTo>
                    <a:pt x="7643668" y="3551"/>
                  </a:lnTo>
                  <a:lnTo>
                    <a:pt x="7596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95245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4" y="524916"/>
                  </a:lnTo>
                  <a:lnTo>
                    <a:pt x="44344" y="566817"/>
                  </a:lnTo>
                  <a:lnTo>
                    <a:pt x="67786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7" y="726272"/>
                  </a:lnTo>
                  <a:lnTo>
                    <a:pt x="241114" y="745571"/>
                  </a:lnTo>
                  <a:lnTo>
                    <a:pt x="284481" y="759813"/>
                  </a:lnTo>
                  <a:lnTo>
                    <a:pt x="329907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8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8" y="736207"/>
                  </a:lnTo>
                  <a:lnTo>
                    <a:pt x="1923771" y="730620"/>
                  </a:lnTo>
                  <a:lnTo>
                    <a:pt x="1951566" y="715411"/>
                  </a:lnTo>
                  <a:lnTo>
                    <a:pt x="1970350" y="692907"/>
                  </a:lnTo>
                  <a:lnTo>
                    <a:pt x="1977250" y="665434"/>
                  </a:lnTo>
                  <a:lnTo>
                    <a:pt x="1977250" y="70768"/>
                  </a:lnTo>
                  <a:lnTo>
                    <a:pt x="1970353" y="43300"/>
                  </a:lnTo>
                  <a:lnTo>
                    <a:pt x="1951573" y="20797"/>
                  </a:lnTo>
                  <a:lnTo>
                    <a:pt x="1923779" y="5587"/>
                  </a:lnTo>
                  <a:lnTo>
                    <a:pt x="1889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8" y="0"/>
                  </a:lnTo>
                  <a:lnTo>
                    <a:pt x="1923779" y="5587"/>
                  </a:lnTo>
                  <a:lnTo>
                    <a:pt x="1951573" y="20797"/>
                  </a:lnTo>
                  <a:lnTo>
                    <a:pt x="1970353" y="43300"/>
                  </a:lnTo>
                  <a:lnTo>
                    <a:pt x="1977250" y="70768"/>
                  </a:lnTo>
                  <a:lnTo>
                    <a:pt x="1977250" y="665434"/>
                  </a:lnTo>
                  <a:lnTo>
                    <a:pt x="1970350" y="692907"/>
                  </a:lnTo>
                  <a:lnTo>
                    <a:pt x="1951566" y="715411"/>
                  </a:lnTo>
                  <a:lnTo>
                    <a:pt x="1923771" y="730620"/>
                  </a:lnTo>
                  <a:lnTo>
                    <a:pt x="1889838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0556" y="4209695"/>
              <a:ext cx="1171713" cy="741207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838720" y="3217628"/>
            <a:ext cx="3058160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4805">
              <a:lnSpc>
                <a:spcPct val="107100"/>
              </a:lnSpc>
              <a:spcBef>
                <a:spcPts val="100"/>
              </a:spcBef>
            </a:pP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Тадбиркорлик</a:t>
            </a:r>
            <a:r>
              <a:rPr sz="1500" spc="-6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дастурлари </a:t>
            </a:r>
            <a:r>
              <a:rPr sz="1500" dirty="0">
                <a:solidFill>
                  <a:srgbClr val="3C2B98"/>
                </a:solidFill>
                <a:latin typeface="Microsoft Sans Serif"/>
                <a:cs typeface="Microsoft Sans Serif"/>
              </a:rPr>
              <a:t>доирасида</a:t>
            </a:r>
            <a:r>
              <a:rPr sz="1500" spc="15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3C2B98"/>
                </a:solidFill>
                <a:latin typeface="Microsoft Sans Serif"/>
                <a:cs typeface="Microsoft Sans Serif"/>
              </a:rPr>
              <a:t>ажратилган</a:t>
            </a:r>
            <a:r>
              <a:rPr sz="1500" spc="15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кредитлар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198674" y="3346991"/>
            <a:ext cx="1676660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ru-RU" sz="2800" b="1" dirty="0" smtClean="0">
                <a:solidFill>
                  <a:srgbClr val="273B6F"/>
                </a:solidFill>
                <a:latin typeface="Arial"/>
                <a:cs typeface="Arial"/>
              </a:rPr>
              <a:t>188</a:t>
            </a:r>
            <a:r>
              <a:rPr lang="en-US" sz="2800" b="1" dirty="0" smtClean="0">
                <a:solidFill>
                  <a:srgbClr val="273B6F"/>
                </a:solidFill>
                <a:latin typeface="Arial"/>
                <a:cs typeface="Arial"/>
              </a:rPr>
              <a:t>,</a:t>
            </a:r>
            <a:r>
              <a:rPr lang="ru-RU" sz="2800" b="1" dirty="0" smtClean="0">
                <a:solidFill>
                  <a:srgbClr val="273B6F"/>
                </a:solidFill>
                <a:latin typeface="Arial"/>
                <a:cs typeface="Arial"/>
              </a:rPr>
              <a:t>5</a:t>
            </a:r>
            <a:r>
              <a:rPr lang="en-US" sz="3375" spc="37" baseline="1234" dirty="0" smtClean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млн</a:t>
            </a:r>
            <a:r>
              <a:rPr lang="ru-RU" sz="1200" spc="37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с</a:t>
            </a:r>
            <a:r>
              <a:rPr lang="uz-Cyrl-UZ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ўм</a:t>
            </a:r>
            <a:endParaRPr sz="1200" baseline="1234" dirty="0">
              <a:latin typeface="+mn-lt"/>
              <a:cs typeface="Microsoft Sans Serif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3928011" y="2985781"/>
            <a:ext cx="2898140" cy="1086485"/>
            <a:chOff x="3928011" y="2985781"/>
            <a:chExt cx="2898140" cy="1086485"/>
          </a:xfrm>
        </p:grpSpPr>
        <p:sp>
          <p:nvSpPr>
            <p:cNvPr id="87" name="object 87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900188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928011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20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053380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5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61470" y="3119000"/>
              <a:ext cx="94679" cy="9185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11645" y="3357510"/>
              <a:ext cx="181737" cy="16515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378457" y="3391606"/>
              <a:ext cx="58419" cy="112395"/>
            </a:xfrm>
            <a:custGeom>
              <a:avLst/>
              <a:gdLst/>
              <a:ahLst/>
              <a:cxnLst/>
              <a:rect l="l" t="t" r="r" b="b"/>
              <a:pathLst>
                <a:path w="58420" h="112395">
                  <a:moveTo>
                    <a:pt x="22589" y="0"/>
                  </a:moveTo>
                  <a:lnTo>
                    <a:pt x="22628" y="12891"/>
                  </a:lnTo>
                  <a:lnTo>
                    <a:pt x="18164" y="14883"/>
                  </a:lnTo>
                  <a:lnTo>
                    <a:pt x="14367" y="14497"/>
                  </a:lnTo>
                  <a:lnTo>
                    <a:pt x="5410" y="22359"/>
                  </a:lnTo>
                  <a:lnTo>
                    <a:pt x="2026" y="27155"/>
                  </a:lnTo>
                  <a:lnTo>
                    <a:pt x="1050" y="33559"/>
                  </a:lnTo>
                  <a:lnTo>
                    <a:pt x="2976" y="47815"/>
                  </a:lnTo>
                  <a:lnTo>
                    <a:pt x="11438" y="56538"/>
                  </a:lnTo>
                  <a:lnTo>
                    <a:pt x="22419" y="61882"/>
                  </a:lnTo>
                  <a:lnTo>
                    <a:pt x="31902" y="66003"/>
                  </a:lnTo>
                  <a:lnTo>
                    <a:pt x="37583" y="69256"/>
                  </a:lnTo>
                  <a:lnTo>
                    <a:pt x="39815" y="74484"/>
                  </a:lnTo>
                  <a:lnTo>
                    <a:pt x="36103" y="79254"/>
                  </a:lnTo>
                  <a:lnTo>
                    <a:pt x="31389" y="82193"/>
                  </a:lnTo>
                  <a:lnTo>
                    <a:pt x="24786" y="82927"/>
                  </a:lnTo>
                  <a:lnTo>
                    <a:pt x="17618" y="82094"/>
                  </a:lnTo>
                  <a:lnTo>
                    <a:pt x="11206" y="80333"/>
                  </a:lnTo>
                  <a:lnTo>
                    <a:pt x="8790" y="79462"/>
                  </a:lnTo>
                  <a:lnTo>
                    <a:pt x="5680" y="77558"/>
                  </a:lnTo>
                  <a:lnTo>
                    <a:pt x="3834" y="77058"/>
                  </a:lnTo>
                  <a:lnTo>
                    <a:pt x="0" y="93045"/>
                  </a:lnTo>
                  <a:lnTo>
                    <a:pt x="6018" y="95876"/>
                  </a:lnTo>
                  <a:lnTo>
                    <a:pt x="14104" y="98140"/>
                  </a:lnTo>
                  <a:lnTo>
                    <a:pt x="17736" y="98395"/>
                  </a:lnTo>
                  <a:lnTo>
                    <a:pt x="21930" y="98935"/>
                  </a:lnTo>
                  <a:lnTo>
                    <a:pt x="22010" y="109188"/>
                  </a:lnTo>
                  <a:lnTo>
                    <a:pt x="34761" y="111923"/>
                  </a:lnTo>
                  <a:lnTo>
                    <a:pt x="34847" y="97726"/>
                  </a:lnTo>
                  <a:lnTo>
                    <a:pt x="42496" y="95552"/>
                  </a:lnTo>
                  <a:lnTo>
                    <a:pt x="49031" y="91462"/>
                  </a:lnTo>
                  <a:lnTo>
                    <a:pt x="53995" y="85797"/>
                  </a:lnTo>
                  <a:lnTo>
                    <a:pt x="56930" y="78897"/>
                  </a:lnTo>
                  <a:lnTo>
                    <a:pt x="58323" y="73051"/>
                  </a:lnTo>
                  <a:lnTo>
                    <a:pt x="57743" y="65750"/>
                  </a:lnTo>
                  <a:lnTo>
                    <a:pt x="26700" y="42800"/>
                  </a:lnTo>
                  <a:lnTo>
                    <a:pt x="19828" y="39596"/>
                  </a:lnTo>
                  <a:lnTo>
                    <a:pt x="21588" y="28122"/>
                  </a:lnTo>
                  <a:lnTo>
                    <a:pt x="28234" y="27007"/>
                  </a:lnTo>
                  <a:lnTo>
                    <a:pt x="41266" y="27849"/>
                  </a:lnTo>
                  <a:lnTo>
                    <a:pt x="44444" y="29794"/>
                  </a:lnTo>
                  <a:lnTo>
                    <a:pt x="50129" y="31972"/>
                  </a:lnTo>
                  <a:lnTo>
                    <a:pt x="51087" y="30316"/>
                  </a:lnTo>
                  <a:lnTo>
                    <a:pt x="54082" y="16416"/>
                  </a:lnTo>
                  <a:lnTo>
                    <a:pt x="51342" y="15667"/>
                  </a:lnTo>
                  <a:lnTo>
                    <a:pt x="48708" y="14227"/>
                  </a:lnTo>
                  <a:lnTo>
                    <a:pt x="41831" y="12546"/>
                  </a:lnTo>
                  <a:lnTo>
                    <a:pt x="38825" y="12534"/>
                  </a:lnTo>
                  <a:lnTo>
                    <a:pt x="35294" y="11995"/>
                  </a:lnTo>
                  <a:lnTo>
                    <a:pt x="35312" y="3265"/>
                  </a:lnTo>
                  <a:lnTo>
                    <a:pt x="22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51597" y="3189174"/>
              <a:ext cx="23392" cy="2426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44277" y="3496758"/>
              <a:ext cx="118662" cy="3970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61525" y="3160599"/>
              <a:ext cx="77245" cy="4956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17086" y="3551932"/>
              <a:ext cx="83679" cy="3772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03440" y="3551896"/>
              <a:ext cx="88578" cy="3775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98043" y="3551928"/>
              <a:ext cx="88884" cy="3805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508341" y="3551903"/>
              <a:ext cx="92307" cy="3773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43953" y="3221251"/>
              <a:ext cx="510609" cy="3152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44307" y="3605509"/>
              <a:ext cx="509172" cy="19566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272858" y="3606095"/>
              <a:ext cx="208939" cy="15964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821045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924899" y="320857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200" dirty="0" smtClean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dirty="0" smtClean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ru-RU" sz="1200" dirty="0" smtClean="0">
                <a:solidFill>
                  <a:srgbClr val="3C2B98"/>
                </a:solidFill>
                <a:latin typeface="Tahoma"/>
                <a:cs typeface="Tahoma"/>
              </a:rPr>
              <a:t>05</a:t>
            </a:r>
            <a:r>
              <a:rPr sz="1200" dirty="0" smtClean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spc="9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ҳолатига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340094" y="3381187"/>
            <a:ext cx="424180" cy="457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400" spc="-20" dirty="0">
              <a:solidFill>
                <a:srgbClr val="273B6F"/>
              </a:solidFill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926525" y="3406825"/>
            <a:ext cx="78486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ru-RU" sz="2400" b="1" dirty="0" smtClean="0">
                <a:solidFill>
                  <a:srgbClr val="273B6F"/>
                </a:solidFill>
                <a:latin typeface="Arial"/>
                <a:cs typeface="Arial"/>
              </a:rPr>
              <a:t>130</a:t>
            </a:r>
            <a:r>
              <a:rPr lang="en-US" sz="2400" b="1" dirty="0" smtClean="0">
                <a:solidFill>
                  <a:srgbClr val="273B6F"/>
                </a:solidFill>
                <a:latin typeface="Arial"/>
                <a:cs typeface="Arial"/>
              </a:rPr>
              <a:t>,2</a:t>
            </a:r>
            <a:endParaRPr lang="uz-Cyrl-UZ" sz="2400" b="1" dirty="0" smtClean="0">
              <a:solidFill>
                <a:srgbClr val="273B6F"/>
              </a:solidFill>
              <a:latin typeface="Arial"/>
              <a:cs typeface="Arial"/>
            </a:endParaRPr>
          </a:p>
        </p:txBody>
      </p:sp>
      <p:pic>
        <p:nvPicPr>
          <p:cNvPr id="108" name="object 10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799361" y="3485538"/>
            <a:ext cx="243805" cy="243330"/>
          </a:xfrm>
          <a:prstGeom prst="rect">
            <a:avLst/>
          </a:prstGeom>
        </p:spPr>
      </p:pic>
      <p:sp>
        <p:nvSpPr>
          <p:cNvPr id="109" name="object 109"/>
          <p:cNvSpPr txBox="1"/>
          <p:nvPr/>
        </p:nvSpPr>
        <p:spPr>
          <a:xfrm>
            <a:off x="8072453" y="3632256"/>
            <a:ext cx="3930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баробар</a:t>
            </a:r>
            <a:endParaRPr sz="700" dirty="0">
              <a:latin typeface="Microsoft Sans Serif"/>
              <a:cs typeface="Microsoft Sans Serif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088630" y="3423023"/>
            <a:ext cx="3632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40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1400" spc="25" dirty="0" smtClean="0">
                <a:solidFill>
                  <a:srgbClr val="273B6F"/>
                </a:solidFill>
                <a:latin typeface="Microsoft Sans Serif"/>
                <a:cs typeface="Microsoft Sans Serif"/>
              </a:rPr>
              <a:t>1</a:t>
            </a:r>
            <a:r>
              <a:rPr lang="en-US" sz="1400" spc="25" dirty="0" smtClean="0">
                <a:solidFill>
                  <a:srgbClr val="273B6F"/>
                </a:solidFill>
                <a:latin typeface="Microsoft Sans Serif"/>
                <a:cs typeface="Microsoft Sans Serif"/>
              </a:rPr>
              <a:t>,4</a:t>
            </a:r>
          </a:p>
        </p:txBody>
      </p:sp>
      <p:sp>
        <p:nvSpPr>
          <p:cNvPr id="111" name="object 111"/>
          <p:cNvSpPr txBox="1"/>
          <p:nvPr/>
        </p:nvSpPr>
        <p:spPr>
          <a:xfrm>
            <a:off x="629363" y="4398197"/>
            <a:ext cx="861694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25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235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565726" y="4350365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764942" y="4323904"/>
            <a:ext cx="1340443" cy="5745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50" b="1" spc="-565" dirty="0" smtClean="0">
                <a:solidFill>
                  <a:srgbClr val="273B6F"/>
                </a:solidFill>
                <a:latin typeface="Arial"/>
                <a:cs typeface="Arial"/>
              </a:rPr>
              <a:t>6 0      </a:t>
            </a:r>
            <a:r>
              <a:rPr sz="1850" spc="25" dirty="0" err="1" smtClean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219240" y="4209694"/>
            <a:ext cx="2748352" cy="741207"/>
            <a:chOff x="3320658" y="4209695"/>
            <a:chExt cx="2602766" cy="741207"/>
          </a:xfrm>
        </p:grpSpPr>
        <p:sp>
          <p:nvSpPr>
            <p:cNvPr id="115" name="object 115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20658" y="4209695"/>
              <a:ext cx="934544" cy="741207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3335063" y="4412865"/>
            <a:ext cx="6940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334020" y="434866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4174326" y="4325538"/>
            <a:ext cx="1836337" cy="5745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50" b="1" spc="-10" dirty="0" smtClean="0">
                <a:solidFill>
                  <a:srgbClr val="273B6F"/>
                </a:solidFill>
                <a:latin typeface="Arial"/>
                <a:cs typeface="Arial"/>
              </a:rPr>
              <a:t>80  </a:t>
            </a:r>
            <a:r>
              <a:rPr lang="en-US" sz="3650" b="1" spc="-10" dirty="0" smtClean="0">
                <a:solidFill>
                  <a:srgbClr val="273B6F"/>
                </a:solidFill>
                <a:latin typeface="Arial"/>
                <a:cs typeface="Arial"/>
              </a:rPr>
              <a:t>   </a:t>
            </a:r>
            <a:r>
              <a:rPr sz="18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6110536" y="4209695"/>
            <a:ext cx="2565190" cy="741207"/>
            <a:chOff x="6008976" y="4209695"/>
            <a:chExt cx="2666598" cy="741207"/>
          </a:xfrm>
        </p:grpSpPr>
        <p:sp>
          <p:nvSpPr>
            <p:cNvPr id="122" name="object 122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008976" y="4209695"/>
              <a:ext cx="1138056" cy="741207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6124324" y="4386375"/>
            <a:ext cx="96710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-85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60" dirty="0">
                <a:solidFill>
                  <a:srgbClr val="FFFFFF"/>
                </a:solidFill>
                <a:latin typeface="Arial"/>
                <a:cs typeface="Arial"/>
              </a:rPr>
              <a:t>312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244470" y="4286072"/>
            <a:ext cx="803275" cy="5745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50" b="1" spc="-25" dirty="0" smtClean="0">
                <a:solidFill>
                  <a:srgbClr val="273B6F"/>
                </a:solidFill>
                <a:latin typeface="Arial"/>
                <a:cs typeface="Arial"/>
              </a:rPr>
              <a:t>48</a:t>
            </a:r>
            <a:endParaRPr sz="3650" dirty="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070815" y="431913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070815" y="4531249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8935955" y="3091416"/>
            <a:ext cx="8223884" cy="4269105"/>
            <a:chOff x="8935955" y="3091416"/>
            <a:chExt cx="8223884" cy="4269105"/>
          </a:xfrm>
        </p:grpSpPr>
        <p:sp>
          <p:nvSpPr>
            <p:cNvPr id="130" name="object 130"/>
            <p:cNvSpPr/>
            <p:nvPr/>
          </p:nvSpPr>
          <p:spPr>
            <a:xfrm>
              <a:off x="8949607" y="3101421"/>
              <a:ext cx="0" cy="4254500"/>
            </a:xfrm>
            <a:custGeom>
              <a:avLst/>
              <a:gdLst/>
              <a:ahLst/>
              <a:cxnLst/>
              <a:rect l="l" t="t" r="r" b="b"/>
              <a:pathLst>
                <a:path h="4254500">
                  <a:moveTo>
                    <a:pt x="0" y="0"/>
                  </a:moveTo>
                  <a:lnTo>
                    <a:pt x="0" y="4254303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949607" y="3804940"/>
              <a:ext cx="0" cy="3281679"/>
            </a:xfrm>
            <a:custGeom>
              <a:avLst/>
              <a:gdLst/>
              <a:ahLst/>
              <a:cxnLst/>
              <a:rect l="l" t="t" r="r" b="b"/>
              <a:pathLst>
                <a:path h="3281679">
                  <a:moveTo>
                    <a:pt x="0" y="0"/>
                  </a:moveTo>
                  <a:lnTo>
                    <a:pt x="0" y="3281504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090453" y="3091416"/>
              <a:ext cx="8061325" cy="847725"/>
            </a:xfrm>
            <a:custGeom>
              <a:avLst/>
              <a:gdLst/>
              <a:ahLst/>
              <a:cxnLst/>
              <a:rect l="l" t="t" r="r" b="b"/>
              <a:pathLst>
                <a:path w="8061325" h="847725">
                  <a:moveTo>
                    <a:pt x="8061030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061030" y="847432"/>
                  </a:lnTo>
                  <a:lnTo>
                    <a:pt x="80610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188233" y="3189196"/>
              <a:ext cx="7865745" cy="652145"/>
            </a:xfrm>
            <a:custGeom>
              <a:avLst/>
              <a:gdLst/>
              <a:ahLst/>
              <a:cxnLst/>
              <a:rect l="l" t="t" r="r" b="b"/>
              <a:pathLst>
                <a:path w="7865744" h="652145">
                  <a:moveTo>
                    <a:pt x="7546950" y="0"/>
                  </a:moveTo>
                  <a:lnTo>
                    <a:pt x="318510" y="0"/>
                  </a:lnTo>
                  <a:lnTo>
                    <a:pt x="271619" y="3551"/>
                  </a:lnTo>
                  <a:lnTo>
                    <a:pt x="226805" y="13861"/>
                  </a:lnTo>
                  <a:lnTo>
                    <a:pt x="184572" y="30417"/>
                  </a:lnTo>
                  <a:lnTo>
                    <a:pt x="145422" y="52703"/>
                  </a:lnTo>
                  <a:lnTo>
                    <a:pt x="109860" y="80204"/>
                  </a:lnTo>
                  <a:lnTo>
                    <a:pt x="78388" y="112407"/>
                  </a:lnTo>
                  <a:lnTo>
                    <a:pt x="51510" y="148797"/>
                  </a:lnTo>
                  <a:lnTo>
                    <a:pt x="29729" y="188860"/>
                  </a:lnTo>
                  <a:lnTo>
                    <a:pt x="13548" y="232080"/>
                  </a:lnTo>
                  <a:lnTo>
                    <a:pt x="3471" y="277944"/>
                  </a:lnTo>
                  <a:lnTo>
                    <a:pt x="0" y="325936"/>
                  </a:lnTo>
                  <a:lnTo>
                    <a:pt x="3471" y="373934"/>
                  </a:lnTo>
                  <a:lnTo>
                    <a:pt x="13548" y="419801"/>
                  </a:lnTo>
                  <a:lnTo>
                    <a:pt x="29728" y="463023"/>
                  </a:lnTo>
                  <a:lnTo>
                    <a:pt x="51507" y="503085"/>
                  </a:lnTo>
                  <a:lnTo>
                    <a:pt x="78382" y="539475"/>
                  </a:lnTo>
                  <a:lnTo>
                    <a:pt x="109852" y="571676"/>
                  </a:lnTo>
                  <a:lnTo>
                    <a:pt x="145412" y="599176"/>
                  </a:lnTo>
                  <a:lnTo>
                    <a:pt x="184561" y="621460"/>
                  </a:lnTo>
                  <a:lnTo>
                    <a:pt x="226796" y="638014"/>
                  </a:lnTo>
                  <a:lnTo>
                    <a:pt x="271616" y="648323"/>
                  </a:lnTo>
                  <a:lnTo>
                    <a:pt x="318510" y="651874"/>
                  </a:lnTo>
                  <a:lnTo>
                    <a:pt x="7546950" y="651874"/>
                  </a:lnTo>
                  <a:lnTo>
                    <a:pt x="7593856" y="648323"/>
                  </a:lnTo>
                  <a:lnTo>
                    <a:pt x="7638679" y="638014"/>
                  </a:lnTo>
                  <a:lnTo>
                    <a:pt x="7680917" y="621460"/>
                  </a:lnTo>
                  <a:lnTo>
                    <a:pt x="7720068" y="599176"/>
                  </a:lnTo>
                  <a:lnTo>
                    <a:pt x="7755629" y="571676"/>
                  </a:lnTo>
                  <a:lnTo>
                    <a:pt x="7787098" y="539475"/>
                  </a:lnTo>
                  <a:lnTo>
                    <a:pt x="7813972" y="503085"/>
                  </a:lnTo>
                  <a:lnTo>
                    <a:pt x="7835749" y="463023"/>
                  </a:lnTo>
                  <a:lnTo>
                    <a:pt x="7851926" y="419801"/>
                  </a:lnTo>
                  <a:lnTo>
                    <a:pt x="7862000" y="373934"/>
                  </a:lnTo>
                  <a:lnTo>
                    <a:pt x="7865470" y="325936"/>
                  </a:lnTo>
                  <a:lnTo>
                    <a:pt x="7861999" y="277944"/>
                  </a:lnTo>
                  <a:lnTo>
                    <a:pt x="7851920" y="232080"/>
                  </a:lnTo>
                  <a:lnTo>
                    <a:pt x="7835737" y="188860"/>
                  </a:lnTo>
                  <a:lnTo>
                    <a:pt x="7813953" y="148797"/>
                  </a:lnTo>
                  <a:lnTo>
                    <a:pt x="7787073" y="112407"/>
                  </a:lnTo>
                  <a:lnTo>
                    <a:pt x="7755598" y="80204"/>
                  </a:lnTo>
                  <a:lnTo>
                    <a:pt x="7720033" y="52703"/>
                  </a:lnTo>
                  <a:lnTo>
                    <a:pt x="7680882" y="30417"/>
                  </a:lnTo>
                  <a:lnTo>
                    <a:pt x="7638648" y="13861"/>
                  </a:lnTo>
                  <a:lnTo>
                    <a:pt x="7593836" y="3551"/>
                  </a:lnTo>
                  <a:lnTo>
                    <a:pt x="754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086191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3" y="524916"/>
                  </a:lnTo>
                  <a:lnTo>
                    <a:pt x="44343" y="566817"/>
                  </a:lnTo>
                  <a:lnTo>
                    <a:pt x="67785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6" y="726272"/>
                  </a:lnTo>
                  <a:lnTo>
                    <a:pt x="241113" y="745571"/>
                  </a:lnTo>
                  <a:lnTo>
                    <a:pt x="284480" y="759813"/>
                  </a:lnTo>
                  <a:lnTo>
                    <a:pt x="329906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9640365" y="3149701"/>
            <a:ext cx="2525395" cy="681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110"/>
              </a:spcBef>
            </a:pPr>
            <a:r>
              <a:rPr sz="2200" dirty="0">
                <a:solidFill>
                  <a:srgbClr val="3C2B98"/>
                </a:solidFill>
                <a:latin typeface="Microsoft Sans Serif"/>
                <a:cs typeface="Microsoft Sans Serif"/>
              </a:rPr>
              <a:t>Амалга</a:t>
            </a:r>
            <a:r>
              <a:rPr sz="2200" spc="7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оширилган</a:t>
            </a:r>
            <a:endParaRPr sz="2200" dirty="0">
              <a:latin typeface="Microsoft Sans Serif"/>
              <a:cs typeface="Microsoft Sans Serif"/>
            </a:endParaRPr>
          </a:p>
          <a:p>
            <a:pPr marL="43180">
              <a:lnSpc>
                <a:spcPts val="2575"/>
              </a:lnSpc>
            </a:pPr>
            <a:r>
              <a:rPr sz="2200" b="1" spc="-10" dirty="0">
                <a:solidFill>
                  <a:srgbClr val="3C2B98"/>
                </a:solidFill>
                <a:latin typeface="Arial"/>
                <a:cs typeface="Arial"/>
              </a:rPr>
              <a:t>Микролойиҳалар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4073908" y="3306635"/>
            <a:ext cx="92964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750" b="1" dirty="0">
                <a:solidFill>
                  <a:srgbClr val="273B6F"/>
                </a:solidFill>
                <a:latin typeface="Arial"/>
                <a:cs typeface="Arial"/>
              </a:rPr>
              <a:t>5</a:t>
            </a:r>
            <a:r>
              <a:rPr sz="3750" b="1" spc="-45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1900" dirty="0">
              <a:latin typeface="Microsoft Sans Serif"/>
              <a:cs typeface="Microsoft Sans Serif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2418956" y="2985781"/>
            <a:ext cx="2898140" cy="1086485"/>
            <a:chOff x="12418956" y="2985781"/>
            <a:chExt cx="2898140" cy="1086485"/>
          </a:xfrm>
        </p:grpSpPr>
        <p:sp>
          <p:nvSpPr>
            <p:cNvPr id="138" name="object 138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900189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418956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19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544326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4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552416" y="3119000"/>
              <a:ext cx="94679" cy="91856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5311991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681583" y="3419071"/>
              <a:ext cx="348350" cy="378179"/>
            </a:xfrm>
            <a:prstGeom prst="rect">
              <a:avLst/>
            </a:prstGeom>
          </p:spPr>
        </p:pic>
      </p:grpSp>
      <p:sp>
        <p:nvSpPr>
          <p:cNvPr id="145" name="object 145"/>
          <p:cNvSpPr txBox="1"/>
          <p:nvPr/>
        </p:nvSpPr>
        <p:spPr>
          <a:xfrm>
            <a:off x="13729568" y="3183591"/>
            <a:ext cx="13550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Микролойиҳа</a:t>
            </a:r>
            <a:r>
              <a:rPr sz="1200" spc="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5809901" y="3290396"/>
            <a:ext cx="92964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750" b="1" dirty="0" smtClean="0">
                <a:solidFill>
                  <a:srgbClr val="273B6F"/>
                </a:solidFill>
                <a:latin typeface="Arial"/>
                <a:cs typeface="Arial"/>
              </a:rPr>
              <a:t>25</a:t>
            </a:r>
            <a:r>
              <a:rPr sz="3750" b="1" spc="-45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1900" dirty="0">
              <a:latin typeface="Microsoft Sans Serif"/>
              <a:cs typeface="Microsoft Sans Serif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5471007" y="3183591"/>
            <a:ext cx="1332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Янги иш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ўринлари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2650405" y="3217606"/>
            <a:ext cx="3108305" cy="606574"/>
            <a:chOff x="12652263" y="3222781"/>
            <a:chExt cx="3108305" cy="606574"/>
          </a:xfrm>
        </p:grpSpPr>
        <p:pic>
          <p:nvPicPr>
            <p:cNvPr id="149" name="object 1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652263" y="3222781"/>
              <a:ext cx="635908" cy="60657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393146" y="3408723"/>
              <a:ext cx="367422" cy="373008"/>
            </a:xfrm>
            <a:prstGeom prst="rect">
              <a:avLst/>
            </a:prstGeom>
          </p:spPr>
        </p:pic>
      </p:grpSp>
      <p:sp>
        <p:nvSpPr>
          <p:cNvPr id="166" name="object 166"/>
          <p:cNvSpPr txBox="1"/>
          <p:nvPr/>
        </p:nvSpPr>
        <p:spPr>
          <a:xfrm>
            <a:off x="9215659" y="4387339"/>
            <a:ext cx="3243094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45720" algn="ctr">
              <a:lnSpc>
                <a:spcPts val="1810"/>
              </a:lnSpc>
              <a:spcBef>
                <a:spcPts val="270"/>
              </a:spcBef>
            </a:pPr>
            <a:r>
              <a:rPr lang="uz-Cyrl-UZ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Гўзаллик салони</a:t>
            </a:r>
            <a:r>
              <a:rPr lang="uz-Cyrl-UZ" sz="1600" dirty="0">
                <a:solidFill>
                  <a:srgbClr val="3C2B98"/>
                </a:solidFill>
                <a:latin typeface="Microsoft Sans Serif"/>
                <a:cs typeface="Microsoft Sans Serif"/>
              </a:rPr>
              <a:t> ташкил этиш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9159674" y="4379485"/>
            <a:ext cx="3380476" cy="0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2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 txBox="1"/>
          <p:nvPr/>
        </p:nvSpPr>
        <p:spPr>
          <a:xfrm>
            <a:off x="9879352" y="4018785"/>
            <a:ext cx="2413006" cy="2609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57170" algn="l"/>
              </a:tabLst>
            </a:pPr>
            <a:r>
              <a:rPr lang="uz-Cyrl-UZ" sz="1600" b="1" dirty="0">
                <a:solidFill>
                  <a:srgbClr val="3C2B98"/>
                </a:solidFill>
                <a:latin typeface="Arial"/>
                <a:cs typeface="Arial"/>
              </a:rPr>
              <a:t>  </a:t>
            </a:r>
            <a:r>
              <a:rPr lang="uz-Cyrl-UZ" sz="1600" b="1" dirty="0" smtClean="0">
                <a:solidFill>
                  <a:srgbClr val="3C2B98"/>
                </a:solidFill>
                <a:latin typeface="Arial"/>
                <a:cs typeface="Arial"/>
              </a:rPr>
              <a:t>Шамсиева Хилола 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3224203" y="4485098"/>
            <a:ext cx="3848246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r>
              <a:rPr lang="uz-Cyrl-UZ" sz="1600" dirty="0">
                <a:solidFill>
                  <a:srgbClr val="3C2B98"/>
                </a:solidFill>
                <a:latin typeface="Microsoft Sans Serif"/>
                <a:cs typeface="Microsoft Sans Serif"/>
              </a:rPr>
              <a:t>  </a:t>
            </a:r>
            <a:r>
              <a:rPr lang="uz-Cyrl-UZ" sz="1600" dirty="0" smtClean="0">
                <a:solidFill>
                  <a:srgbClr val="3C2B98"/>
                </a:solidFill>
                <a:latin typeface="Microsoft Sans Serif"/>
                <a:cs typeface="Microsoft Sans Serif"/>
              </a:rPr>
              <a:t>Тикувчилик  </a:t>
            </a:r>
            <a:r>
              <a:rPr lang="uz-Cyrl-UZ" sz="1600" b="1" dirty="0" smtClean="0">
                <a:solidFill>
                  <a:srgbClr val="3C2B98"/>
                </a:solidFill>
                <a:latin typeface="Microsoft Sans Serif"/>
                <a:cs typeface="Microsoft Sans Serif"/>
              </a:rPr>
              <a:t>(Милий либослар </a:t>
            </a:r>
            <a:r>
              <a:rPr lang="uz-Cyrl-UZ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тикиш</a:t>
            </a:r>
            <a:r>
              <a:rPr lang="uz-Cyrl-UZ" sz="1600" dirty="0">
                <a:solidFill>
                  <a:srgbClr val="3C2B98"/>
                </a:solidFill>
                <a:latin typeface="Microsoft Sans Serif"/>
                <a:cs typeface="Microsoft Sans Serif"/>
              </a:rPr>
              <a:t>)</a:t>
            </a:r>
            <a:r>
              <a:rPr sz="160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</a:p>
        </p:txBody>
      </p:sp>
      <p:sp>
        <p:nvSpPr>
          <p:cNvPr id="174" name="object 174"/>
          <p:cNvSpPr txBox="1"/>
          <p:nvPr/>
        </p:nvSpPr>
        <p:spPr>
          <a:xfrm>
            <a:off x="14073909" y="4043179"/>
            <a:ext cx="2889674" cy="5200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uz-Cyrl-UZ" sz="1600" b="1" dirty="0" smtClean="0">
                <a:solidFill>
                  <a:srgbClr val="3C2B98"/>
                </a:solidFill>
                <a:latin typeface="Arial"/>
                <a:cs typeface="Arial"/>
              </a:rPr>
              <a:t>Хамидова Динара</a:t>
            </a: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endParaRPr sz="1600" dirty="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 flipV="1">
            <a:off x="13532105" y="4378095"/>
            <a:ext cx="3351830" cy="45719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3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95" name="object 195"/>
          <p:cNvGrpSpPr/>
          <p:nvPr/>
        </p:nvGrpSpPr>
        <p:grpSpPr>
          <a:xfrm>
            <a:off x="441645" y="5123131"/>
            <a:ext cx="3901763" cy="2523167"/>
            <a:chOff x="2595733" y="5131942"/>
            <a:chExt cx="3901763" cy="2523167"/>
          </a:xfrm>
        </p:grpSpPr>
        <p:sp>
          <p:nvSpPr>
            <p:cNvPr id="203" name="object 203"/>
            <p:cNvSpPr/>
            <p:nvPr/>
          </p:nvSpPr>
          <p:spPr>
            <a:xfrm>
              <a:off x="6497496" y="5131942"/>
              <a:ext cx="0" cy="2216150"/>
            </a:xfrm>
            <a:custGeom>
              <a:avLst/>
              <a:gdLst/>
              <a:ahLst/>
              <a:cxnLst/>
              <a:rect l="l" t="t" r="r" b="b"/>
              <a:pathLst>
                <a:path h="2216150">
                  <a:moveTo>
                    <a:pt x="0" y="0"/>
                  </a:moveTo>
                  <a:lnTo>
                    <a:pt x="0" y="221586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584491" y="7348092"/>
              <a:ext cx="302418" cy="30701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95733" y="7399672"/>
              <a:ext cx="307199" cy="215900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>
            <a:off x="835298" y="7320023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4">
              <a:lnSpc>
                <a:spcPct val="102299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маблағ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1995780" y="7282116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1435783" y="7275794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</a:t>
            </a:r>
            <a:r>
              <a:rPr lang="uz-Cyrl-UZ" sz="3900" b="1" spc="-52" baseline="2136" dirty="0" smtClean="0">
                <a:solidFill>
                  <a:srgbClr val="273B6F"/>
                </a:solidFill>
                <a:latin typeface="Arial"/>
                <a:cs typeface="Arial"/>
              </a:rPr>
              <a:t>15</a:t>
            </a:r>
            <a:r>
              <a:rPr sz="3900" b="1" spc="-630" baseline="2136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3612390" y="7284029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1696925" y="8689647"/>
            <a:ext cx="1105535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4300" b="1" dirty="0" smtClean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300" b="1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978978" y="8209257"/>
            <a:ext cx="197485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МИКРОЛОЙИҲАЛАР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43" name="object 243"/>
          <p:cNvGrpSpPr/>
          <p:nvPr/>
        </p:nvGrpSpPr>
        <p:grpSpPr>
          <a:xfrm>
            <a:off x="3561102" y="8551864"/>
            <a:ext cx="13408025" cy="738505"/>
            <a:chOff x="3561102" y="8551864"/>
            <a:chExt cx="13408025" cy="738505"/>
          </a:xfrm>
        </p:grpSpPr>
        <p:sp>
          <p:nvSpPr>
            <p:cNvPr id="244" name="object 244"/>
            <p:cNvSpPr/>
            <p:nvPr/>
          </p:nvSpPr>
          <p:spPr>
            <a:xfrm>
              <a:off x="3565865" y="8556627"/>
              <a:ext cx="13398500" cy="0"/>
            </a:xfrm>
            <a:custGeom>
              <a:avLst/>
              <a:gdLst/>
              <a:ahLst/>
              <a:cxnLst/>
              <a:rect l="l" t="t" r="r" b="b"/>
              <a:pathLst>
                <a:path w="13398500">
                  <a:moveTo>
                    <a:pt x="2310932" y="0"/>
                  </a:moveTo>
                  <a:lnTo>
                    <a:pt x="0" y="0"/>
                  </a:lnTo>
                </a:path>
                <a:path w="13398500">
                  <a:moveTo>
                    <a:pt x="5082702" y="0"/>
                  </a:moveTo>
                  <a:lnTo>
                    <a:pt x="2771768" y="0"/>
                  </a:lnTo>
                </a:path>
                <a:path w="13398500">
                  <a:moveTo>
                    <a:pt x="7854472" y="0"/>
                  </a:moveTo>
                  <a:lnTo>
                    <a:pt x="5543538" y="0"/>
                  </a:lnTo>
                </a:path>
                <a:path w="13398500">
                  <a:moveTo>
                    <a:pt x="10626242" y="0"/>
                  </a:moveTo>
                  <a:lnTo>
                    <a:pt x="8315308" y="0"/>
                  </a:lnTo>
                </a:path>
                <a:path w="13398500">
                  <a:moveTo>
                    <a:pt x="13398011" y="0"/>
                  </a:moveTo>
                  <a:lnTo>
                    <a:pt x="11087078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693062" y="8874100"/>
              <a:ext cx="164332" cy="149338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3753474" y="8904931"/>
              <a:ext cx="53340" cy="101600"/>
            </a:xfrm>
            <a:custGeom>
              <a:avLst/>
              <a:gdLst/>
              <a:ahLst/>
              <a:cxnLst/>
              <a:rect l="l" t="t" r="r" b="b"/>
              <a:pathLst>
                <a:path w="53339" h="101600">
                  <a:moveTo>
                    <a:pt x="20426" y="0"/>
                  </a:moveTo>
                  <a:lnTo>
                    <a:pt x="20462" y="11656"/>
                  </a:lnTo>
                  <a:lnTo>
                    <a:pt x="16427" y="13455"/>
                  </a:lnTo>
                  <a:lnTo>
                    <a:pt x="12993" y="13106"/>
                  </a:lnTo>
                  <a:lnTo>
                    <a:pt x="4893" y="20220"/>
                  </a:lnTo>
                  <a:lnTo>
                    <a:pt x="1832" y="24555"/>
                  </a:lnTo>
                  <a:lnTo>
                    <a:pt x="953" y="30344"/>
                  </a:lnTo>
                  <a:lnTo>
                    <a:pt x="2693" y="43235"/>
                  </a:lnTo>
                  <a:lnTo>
                    <a:pt x="10344" y="51121"/>
                  </a:lnTo>
                  <a:lnTo>
                    <a:pt x="20273" y="55953"/>
                  </a:lnTo>
                  <a:lnTo>
                    <a:pt x="28846" y="59679"/>
                  </a:lnTo>
                  <a:lnTo>
                    <a:pt x="33983" y="62624"/>
                  </a:lnTo>
                  <a:lnTo>
                    <a:pt x="36000" y="67351"/>
                  </a:lnTo>
                  <a:lnTo>
                    <a:pt x="28634" y="76794"/>
                  </a:lnTo>
                  <a:lnTo>
                    <a:pt x="16877" y="75067"/>
                  </a:lnTo>
                  <a:lnTo>
                    <a:pt x="7948" y="71851"/>
                  </a:lnTo>
                  <a:lnTo>
                    <a:pt x="5137" y="70130"/>
                  </a:lnTo>
                  <a:lnTo>
                    <a:pt x="3467" y="69677"/>
                  </a:lnTo>
                  <a:lnTo>
                    <a:pt x="0" y="84134"/>
                  </a:lnTo>
                  <a:lnTo>
                    <a:pt x="5443" y="86694"/>
                  </a:lnTo>
                  <a:lnTo>
                    <a:pt x="12754" y="88739"/>
                  </a:lnTo>
                  <a:lnTo>
                    <a:pt x="16041" y="88973"/>
                  </a:lnTo>
                  <a:lnTo>
                    <a:pt x="19832" y="89462"/>
                  </a:lnTo>
                  <a:lnTo>
                    <a:pt x="19904" y="98729"/>
                  </a:lnTo>
                  <a:lnTo>
                    <a:pt x="31432" y="101202"/>
                  </a:lnTo>
                  <a:lnTo>
                    <a:pt x="31511" y="88365"/>
                  </a:lnTo>
                  <a:lnTo>
                    <a:pt x="38427" y="86400"/>
                  </a:lnTo>
                  <a:lnTo>
                    <a:pt x="44337" y="82703"/>
                  </a:lnTo>
                  <a:lnTo>
                    <a:pt x="48826" y="77580"/>
                  </a:lnTo>
                  <a:lnTo>
                    <a:pt x="51480" y="71340"/>
                  </a:lnTo>
                  <a:lnTo>
                    <a:pt x="52740" y="66055"/>
                  </a:lnTo>
                  <a:lnTo>
                    <a:pt x="52214" y="59453"/>
                  </a:lnTo>
                  <a:lnTo>
                    <a:pt x="24145" y="38703"/>
                  </a:lnTo>
                  <a:lnTo>
                    <a:pt x="17928" y="35805"/>
                  </a:lnTo>
                  <a:lnTo>
                    <a:pt x="19523" y="25429"/>
                  </a:lnTo>
                  <a:lnTo>
                    <a:pt x="25532" y="24422"/>
                  </a:lnTo>
                  <a:lnTo>
                    <a:pt x="37313" y="25181"/>
                  </a:lnTo>
                  <a:lnTo>
                    <a:pt x="40190" y="26937"/>
                  </a:lnTo>
                  <a:lnTo>
                    <a:pt x="45331" y="28911"/>
                  </a:lnTo>
                  <a:lnTo>
                    <a:pt x="46194" y="27412"/>
                  </a:lnTo>
                  <a:lnTo>
                    <a:pt x="48906" y="14842"/>
                  </a:lnTo>
                  <a:lnTo>
                    <a:pt x="46426" y="14169"/>
                  </a:lnTo>
                  <a:lnTo>
                    <a:pt x="44042" y="12866"/>
                  </a:lnTo>
                  <a:lnTo>
                    <a:pt x="37825" y="11343"/>
                  </a:lnTo>
                  <a:lnTo>
                    <a:pt x="35111" y="11332"/>
                  </a:lnTo>
                  <a:lnTo>
                    <a:pt x="31913" y="10845"/>
                  </a:lnTo>
                  <a:lnTo>
                    <a:pt x="31932" y="2955"/>
                  </a:lnTo>
                  <a:lnTo>
                    <a:pt x="20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632144" y="9000013"/>
              <a:ext cx="107302" cy="35902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738164" y="8696046"/>
              <a:ext cx="102600" cy="47776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969251" y="9049902"/>
              <a:ext cx="75665" cy="34113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776065" y="9049869"/>
              <a:ext cx="80097" cy="3413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80762" y="9049899"/>
              <a:ext cx="80373" cy="34412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870921" y="9049877"/>
              <a:ext cx="83465" cy="34121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631853" y="8750890"/>
              <a:ext cx="461708" cy="285044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632169" y="9098351"/>
              <a:ext cx="460414" cy="176926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655822" y="9098879"/>
              <a:ext cx="191097" cy="144358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381369" y="8763602"/>
              <a:ext cx="518285" cy="52627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051110" y="8758939"/>
              <a:ext cx="528894" cy="506008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731403" y="8763602"/>
              <a:ext cx="518285" cy="526279"/>
            </a:xfrm>
            <a:prstGeom prst="rect">
              <a:avLst/>
            </a:prstGeom>
          </p:spPr>
        </p:pic>
      </p:grpSp>
      <p:sp>
        <p:nvSpPr>
          <p:cNvPr id="259" name="object 259"/>
          <p:cNvSpPr txBox="1"/>
          <p:nvPr/>
        </p:nvSpPr>
        <p:spPr>
          <a:xfrm>
            <a:off x="3562906" y="8209257"/>
            <a:ext cx="23571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180" dirty="0">
                <a:solidFill>
                  <a:srgbClr val="4E3F9E"/>
                </a:solidFill>
                <a:latin typeface="Arial"/>
                <a:cs typeface="Arial"/>
              </a:rPr>
              <a:t>АЖРАТИЛАДИГАН</a:t>
            </a:r>
            <a:r>
              <a:rPr sz="1600" b="1" spc="-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35" dirty="0">
                <a:solidFill>
                  <a:srgbClr val="4E3F9E"/>
                </a:solidFill>
                <a:latin typeface="Arial"/>
                <a:cs typeface="Arial"/>
              </a:rPr>
              <a:t>КРЕДИТ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6256343" y="7912999"/>
            <a:ext cx="7979409" cy="5386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 dirty="0">
              <a:latin typeface="Tahoma"/>
              <a:cs typeface="Tahoma"/>
            </a:endParaRPr>
          </a:p>
          <a:p>
            <a:pPr marL="93345">
              <a:lnSpc>
                <a:spcPct val="100000"/>
              </a:lnSpc>
              <a:tabLst>
                <a:tab pos="3089275" algn="l"/>
                <a:tab pos="5738495" algn="l"/>
              </a:tabLst>
            </a:pPr>
            <a:r>
              <a:rPr sz="1600" b="1" spc="-150" dirty="0">
                <a:solidFill>
                  <a:srgbClr val="4E3F9E"/>
                </a:solidFill>
                <a:latin typeface="Arial"/>
                <a:cs typeface="Arial"/>
              </a:rPr>
              <a:t>БАНДЛИКНИ</a:t>
            </a:r>
            <a:r>
              <a:rPr sz="1600" b="1" spc="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/>
                <a:cs typeface="Arial"/>
              </a:rPr>
              <a:t>ТАЪМИНЛАШ</a:t>
            </a:r>
            <a:r>
              <a:rPr sz="1600" b="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ҚЎШИМЧА</a:t>
            </a:r>
            <a:r>
              <a:rPr sz="1600" b="1" spc="-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/>
                <a:cs typeface="Arial"/>
              </a:rPr>
              <a:t>ДАРОМАД</a:t>
            </a:r>
            <a:r>
              <a:rPr sz="1600" b="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1600" b="1" spc="-55" dirty="0">
                <a:solidFill>
                  <a:srgbClr val="4E3F9E"/>
                </a:solidFill>
                <a:latin typeface="Arial"/>
                <a:cs typeface="Arial"/>
              </a:rPr>
              <a:t>ТАДБИРКОРЛАР</a:t>
            </a:r>
            <a:r>
              <a:rPr sz="1600" b="1" spc="-35" dirty="0">
                <a:solidFill>
                  <a:srgbClr val="4E3F9E"/>
                </a:solidFill>
                <a:latin typeface="Arial"/>
                <a:cs typeface="Arial"/>
              </a:rPr>
              <a:t> СОНИ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4837824" y="8209257"/>
            <a:ext cx="204978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30" dirty="0">
                <a:solidFill>
                  <a:srgbClr val="4E3F9E"/>
                </a:solidFill>
                <a:latin typeface="Arial"/>
                <a:cs typeface="Arial"/>
              </a:rPr>
              <a:t>ЯНГИ</a:t>
            </a:r>
            <a:r>
              <a:rPr sz="1600" b="1" spc="-7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БЎШ</a:t>
            </a:r>
            <a:r>
              <a:rPr sz="1600" b="1" spc="-6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ИШ</a:t>
            </a:r>
            <a:r>
              <a:rPr sz="1600" b="1" spc="-6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4E3F9E"/>
                </a:solidFill>
                <a:latin typeface="Arial"/>
                <a:cs typeface="Arial"/>
              </a:rPr>
              <a:t>ЎРНИ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4184831" y="8689647"/>
            <a:ext cx="864629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200" b="1" spc="-25" dirty="0" smtClean="0">
                <a:solidFill>
                  <a:srgbClr val="273B6F"/>
                </a:solidFill>
                <a:latin typeface="Arial"/>
                <a:cs typeface="Arial"/>
              </a:rPr>
              <a:t>1</a:t>
            </a:r>
            <a:r>
              <a:rPr sz="3200" b="1" spc="-25" dirty="0" smtClean="0">
                <a:solidFill>
                  <a:srgbClr val="273B6F"/>
                </a:solidFill>
                <a:latin typeface="Arial"/>
                <a:cs typeface="Arial"/>
              </a:rPr>
              <a:t>,</a:t>
            </a:r>
            <a:r>
              <a:rPr lang="ru-RU" sz="3200" b="1" spc="-25" dirty="0">
                <a:solidFill>
                  <a:srgbClr val="273B6F"/>
                </a:solidFill>
                <a:latin typeface="Arial"/>
                <a:cs typeface="Arial"/>
              </a:rPr>
              <a:t>8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5014545" y="8718332"/>
            <a:ext cx="7867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10" dirty="0" err="1" smtClean="0">
                <a:solidFill>
                  <a:srgbClr val="273B6F"/>
                </a:solidFill>
                <a:latin typeface="Microsoft Sans Serif"/>
                <a:cs typeface="Microsoft Sans Serif"/>
              </a:rPr>
              <a:t>мл</a:t>
            </a:r>
            <a:r>
              <a:rPr lang="ru-RU" sz="2150" spc="-10" dirty="0" err="1" smtClean="0">
                <a:solidFill>
                  <a:srgbClr val="273B6F"/>
                </a:solidFill>
                <a:latin typeface="Microsoft Sans Serif"/>
                <a:cs typeface="Microsoft Sans Serif"/>
              </a:rPr>
              <a:t>рд</a:t>
            </a:r>
            <a:r>
              <a:rPr sz="2150" spc="-10" dirty="0" smtClean="0">
                <a:solidFill>
                  <a:srgbClr val="273B6F"/>
                </a:solidFill>
                <a:latin typeface="Microsoft Sans Serif"/>
                <a:cs typeface="Microsoft Sans Serif"/>
              </a:rPr>
              <a:t>.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5014541" y="8964785"/>
            <a:ext cx="606321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25" dirty="0" err="1" smtClean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5" name="object 265"/>
          <p:cNvSpPr txBox="1"/>
          <p:nvPr/>
        </p:nvSpPr>
        <p:spPr>
          <a:xfrm>
            <a:off x="7010006" y="8492990"/>
            <a:ext cx="1670050" cy="70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4500" b="1" dirty="0" smtClean="0">
                <a:solidFill>
                  <a:srgbClr val="273B6F"/>
                </a:solidFill>
                <a:latin typeface="Arial"/>
                <a:cs typeface="Arial"/>
              </a:rPr>
              <a:t>84</a:t>
            </a:r>
            <a:r>
              <a:rPr sz="4500" b="1" spc="-310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135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6" name="object 266"/>
          <p:cNvSpPr txBox="1"/>
          <p:nvPr/>
        </p:nvSpPr>
        <p:spPr>
          <a:xfrm>
            <a:off x="15657898" y="8681407"/>
            <a:ext cx="1105535" cy="70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uz-Cyrl-UZ" sz="4500" b="1" spc="-310" dirty="0" smtClean="0">
                <a:solidFill>
                  <a:srgbClr val="273B6F"/>
                </a:solidFill>
                <a:latin typeface="Arial"/>
                <a:cs typeface="Arial"/>
              </a:rPr>
              <a:t>20 </a:t>
            </a:r>
            <a:r>
              <a:rPr sz="2150" spc="-75" dirty="0" smtClean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9913219" y="8689647"/>
            <a:ext cx="421640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9400" algn="l"/>
              </a:tabLst>
            </a:pPr>
            <a:r>
              <a:rPr lang="uz-Cyrl-UZ" sz="4300" b="1" dirty="0" smtClean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300" b="1" spc="-40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r>
              <a:rPr sz="3000" spc="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000" spc="-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ОИЛА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4300" b="1" smtClean="0">
                <a:solidFill>
                  <a:srgbClr val="273B6F"/>
                </a:solidFill>
                <a:latin typeface="Arial"/>
                <a:cs typeface="Arial"/>
              </a:rPr>
              <a:t>320</a:t>
            </a:r>
            <a:r>
              <a:rPr sz="4300" b="1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268" name="object 268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9121213" y="8775147"/>
            <a:ext cx="461785" cy="549044"/>
          </a:xfrm>
          <a:prstGeom prst="rect">
            <a:avLst/>
          </a:prstGeom>
        </p:spPr>
      </p:pic>
      <p:sp>
        <p:nvSpPr>
          <p:cNvPr id="269" name="object 105"/>
          <p:cNvSpPr txBox="1"/>
          <p:nvPr/>
        </p:nvSpPr>
        <p:spPr>
          <a:xfrm>
            <a:off x="5312873" y="320832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200" dirty="0" smtClean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dirty="0" smtClean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ru-RU" sz="1200" dirty="0" smtClean="0">
                <a:solidFill>
                  <a:srgbClr val="3C2B98"/>
                </a:solidFill>
                <a:latin typeface="Tahoma"/>
                <a:cs typeface="Tahoma"/>
              </a:rPr>
              <a:t>1</a:t>
            </a:r>
            <a:r>
              <a:rPr lang="en-US" sz="1200" dirty="0" smtClean="0">
                <a:solidFill>
                  <a:srgbClr val="3C2B98"/>
                </a:solidFill>
                <a:latin typeface="Tahoma"/>
                <a:cs typeface="Tahoma"/>
              </a:rPr>
              <a:t>2</a:t>
            </a:r>
            <a:r>
              <a:rPr sz="1200" dirty="0" smtClean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spc="90" dirty="0" smtClean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ҳолатига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38" name="object 206">
            <a:extLst>
              <a:ext uri="{FF2B5EF4-FFF2-40B4-BE49-F238E27FC236}">
                <a16:creationId xmlns="" xmlns:a16="http://schemas.microsoft.com/office/drawing/2014/main" id="{6E93C883-F608-4A10-AAF9-A9318B2251EB}"/>
              </a:ext>
            </a:extLst>
          </p:cNvPr>
          <p:cNvSpPr txBox="1"/>
          <p:nvPr/>
        </p:nvSpPr>
        <p:spPr>
          <a:xfrm>
            <a:off x="2802806" y="731415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бўлган аҳоли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39" name="object 206">
            <a:extLst>
              <a:ext uri="{FF2B5EF4-FFF2-40B4-BE49-F238E27FC236}">
                <a16:creationId xmlns="" xmlns:a16="http://schemas.microsoft.com/office/drawing/2014/main" id="{A23239F0-01BC-49CC-808C-54FCF90AD920}"/>
              </a:ext>
            </a:extLst>
          </p:cNvPr>
          <p:cNvSpPr txBox="1"/>
          <p:nvPr/>
        </p:nvSpPr>
        <p:spPr>
          <a:xfrm>
            <a:off x="4878942" y="729527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4">
              <a:lnSpc>
                <a:spcPct val="102299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маблағ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40" name="object 207">
            <a:extLst>
              <a:ext uri="{FF2B5EF4-FFF2-40B4-BE49-F238E27FC236}">
                <a16:creationId xmlns="" xmlns:a16="http://schemas.microsoft.com/office/drawing/2014/main" id="{511B1F94-ECA4-43C3-AD39-FCEBAC4A46CC}"/>
              </a:ext>
            </a:extLst>
          </p:cNvPr>
          <p:cNvSpPr txBox="1"/>
          <p:nvPr/>
        </p:nvSpPr>
        <p:spPr>
          <a:xfrm>
            <a:off x="6214546" y="7256333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72" name="object 208">
            <a:extLst>
              <a:ext uri="{FF2B5EF4-FFF2-40B4-BE49-F238E27FC236}">
                <a16:creationId xmlns="" xmlns:a16="http://schemas.microsoft.com/office/drawing/2014/main" id="{C003DBB8-DE00-4C8F-B9D3-D845A3202CBF}"/>
              </a:ext>
            </a:extLst>
          </p:cNvPr>
          <p:cNvSpPr txBox="1"/>
          <p:nvPr/>
        </p:nvSpPr>
        <p:spPr>
          <a:xfrm>
            <a:off x="5475975" y="7274077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100</a:t>
            </a:r>
            <a:r>
              <a:rPr sz="3900" b="1" spc="-630" baseline="2136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73" name="object 209">
            <a:extLst>
              <a:ext uri="{FF2B5EF4-FFF2-40B4-BE49-F238E27FC236}">
                <a16:creationId xmlns="" xmlns:a16="http://schemas.microsoft.com/office/drawing/2014/main" id="{7BE78314-0296-4087-A1F5-86BF0686CF23}"/>
              </a:ext>
            </a:extLst>
          </p:cNvPr>
          <p:cNvSpPr txBox="1"/>
          <p:nvPr/>
        </p:nvSpPr>
        <p:spPr>
          <a:xfrm>
            <a:off x="7998725" y="7217475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4</a:t>
            </a:r>
            <a:r>
              <a:rPr sz="2600" b="1" spc="5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74" name="object 206">
            <a:extLst>
              <a:ext uri="{FF2B5EF4-FFF2-40B4-BE49-F238E27FC236}">
                <a16:creationId xmlns="" xmlns:a16="http://schemas.microsoft.com/office/drawing/2014/main" id="{20D8C58D-4D07-4643-8329-0DE3103CEF94}"/>
              </a:ext>
            </a:extLst>
          </p:cNvPr>
          <p:cNvSpPr txBox="1"/>
          <p:nvPr/>
        </p:nvSpPr>
        <p:spPr>
          <a:xfrm>
            <a:off x="7167008" y="728610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бўлган аҳоли</a:t>
            </a:r>
            <a:endParaRPr sz="1050" dirty="0">
              <a:latin typeface="Tahoma"/>
              <a:cs typeface="Tahoma"/>
            </a:endParaRPr>
          </a:p>
        </p:txBody>
      </p:sp>
      <p:pic>
        <p:nvPicPr>
          <p:cNvPr id="277" name="object 205">
            <a:extLst>
              <a:ext uri="{FF2B5EF4-FFF2-40B4-BE49-F238E27FC236}">
                <a16:creationId xmlns="" xmlns:a16="http://schemas.microsoft.com/office/drawing/2014/main" id="{1035D2DA-304E-4035-AB4F-9CAD2C645E41}"/>
              </a:ext>
            </a:extLst>
          </p:cNvPr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511277" y="7397854"/>
            <a:ext cx="307199" cy="215900"/>
          </a:xfrm>
          <a:prstGeom prst="rect">
            <a:avLst/>
          </a:prstGeom>
        </p:spPr>
      </p:pic>
      <p:pic>
        <p:nvPicPr>
          <p:cNvPr id="278" name="object 204">
            <a:extLst>
              <a:ext uri="{FF2B5EF4-FFF2-40B4-BE49-F238E27FC236}">
                <a16:creationId xmlns="" xmlns:a16="http://schemas.microsoft.com/office/drawing/2014/main" id="{1C1DB969-E870-4631-B3C0-F01760747919}"/>
              </a:ext>
            </a:extLst>
          </p:cNvPr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747427" y="7343242"/>
            <a:ext cx="302418" cy="307017"/>
          </a:xfrm>
          <a:prstGeom prst="rect">
            <a:avLst/>
          </a:prstGeom>
        </p:spPr>
      </p:pic>
      <p:sp>
        <p:nvSpPr>
          <p:cNvPr id="279" name="object 260">
            <a:extLst>
              <a:ext uri="{FF2B5EF4-FFF2-40B4-BE49-F238E27FC236}">
                <a16:creationId xmlns="" xmlns:a16="http://schemas.microsoft.com/office/drawing/2014/main" id="{7DAA36D2-DF17-4D93-890C-944A989A715E}"/>
              </a:ext>
            </a:extLst>
          </p:cNvPr>
          <p:cNvSpPr txBox="1"/>
          <p:nvPr/>
        </p:nvSpPr>
        <p:spPr>
          <a:xfrm>
            <a:off x="5531719" y="7849723"/>
            <a:ext cx="7979409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ЙИЛ</a:t>
            </a:r>
            <a:r>
              <a:rPr sz="1800" spc="1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ЯКУНИГА</a:t>
            </a:r>
            <a:r>
              <a:rPr sz="1800" spc="16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ҚАДАР</a:t>
            </a:r>
            <a:r>
              <a:rPr sz="1800" spc="1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E3F9E"/>
                </a:solidFill>
                <a:latin typeface="Tahoma"/>
                <a:cs typeface="Tahoma"/>
              </a:rPr>
              <a:t>КУТИЛАЁТГАН</a:t>
            </a:r>
            <a:r>
              <a:rPr sz="1800" b="1" spc="15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E3F9E"/>
                </a:solidFill>
                <a:latin typeface="Tahoma"/>
                <a:cs typeface="Tahoma"/>
              </a:rPr>
              <a:t>НАТИЖАЛА</a:t>
            </a:r>
            <a:r>
              <a:rPr lang="uz-Cyrl-UZ" sz="1800" b="1" spc="-1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280" name="object 178">
            <a:extLst>
              <a:ext uri="{FF2B5EF4-FFF2-40B4-BE49-F238E27FC236}">
                <a16:creationId xmlns="" xmlns:a16="http://schemas.microsoft.com/office/drawing/2014/main" id="{BBFEF55F-E51D-4F7D-A6D5-75E9AE2C6714}"/>
              </a:ext>
            </a:extLst>
          </p:cNvPr>
          <p:cNvSpPr txBox="1"/>
          <p:nvPr/>
        </p:nvSpPr>
        <p:spPr>
          <a:xfrm>
            <a:off x="14381861" y="4860009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uz-Cyrl-UZ" sz="115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/>
                <a:cs typeface="Tahoma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uz-Cyrl-UZ" sz="4125" b="1" spc="459" baseline="1010" dirty="0">
                <a:solidFill>
                  <a:srgbClr val="273B6F"/>
                </a:solidFill>
                <a:latin typeface="Arial"/>
                <a:cs typeface="Arial"/>
              </a:rPr>
              <a:t>50</a:t>
            </a:r>
            <a:r>
              <a:rPr sz="4125" b="1" spc="-30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млн.сўм</a:t>
            </a:r>
            <a:endParaRPr sz="1950" baseline="2136" dirty="0">
              <a:latin typeface="Microsoft Sans Serif"/>
              <a:cs typeface="Microsoft Sans Serif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/>
              <a:cs typeface="Tahoma"/>
            </a:endParaRPr>
          </a:p>
        </p:txBody>
      </p:sp>
      <p:sp>
        <p:nvSpPr>
          <p:cNvPr id="281" name="object 179">
            <a:extLst>
              <a:ext uri="{FF2B5EF4-FFF2-40B4-BE49-F238E27FC236}">
                <a16:creationId xmlns="" xmlns:a16="http://schemas.microsoft.com/office/drawing/2014/main" id="{35D56D96-3009-4FD7-BB4D-EB48345AE909}"/>
              </a:ext>
            </a:extLst>
          </p:cNvPr>
          <p:cNvSpPr txBox="1"/>
          <p:nvPr/>
        </p:nvSpPr>
        <p:spPr>
          <a:xfrm>
            <a:off x="14386085" y="5334669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282" name="object 180">
            <a:extLst>
              <a:ext uri="{FF2B5EF4-FFF2-40B4-BE49-F238E27FC236}">
                <a16:creationId xmlns="" xmlns:a16="http://schemas.microsoft.com/office/drawing/2014/main" id="{344B7FF8-A4D2-4397-AFF3-3E4CFA40D9F0}"/>
              </a:ext>
            </a:extLst>
          </p:cNvPr>
          <p:cNvSpPr txBox="1"/>
          <p:nvPr/>
        </p:nvSpPr>
        <p:spPr>
          <a:xfrm>
            <a:off x="14395677" y="5301614"/>
            <a:ext cx="2338416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4125" b="1" baseline="1010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4125" b="1" spc="37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950" baseline="2136" dirty="0">
              <a:latin typeface="Microsoft Sans Serif"/>
              <a:cs typeface="Microsoft Sans Serif"/>
            </a:endParaRPr>
          </a:p>
        </p:txBody>
      </p:sp>
      <p:grpSp>
        <p:nvGrpSpPr>
          <p:cNvPr id="283" name="object 181">
            <a:extLst>
              <a:ext uri="{FF2B5EF4-FFF2-40B4-BE49-F238E27FC236}">
                <a16:creationId xmlns="" xmlns:a16="http://schemas.microsoft.com/office/drawing/2014/main" id="{3BACB0B9-18D8-44BC-9F29-9362AFE5E730}"/>
              </a:ext>
            </a:extLst>
          </p:cNvPr>
          <p:cNvGrpSpPr/>
          <p:nvPr/>
        </p:nvGrpSpPr>
        <p:grpSpPr>
          <a:xfrm>
            <a:off x="13445328" y="5287287"/>
            <a:ext cx="3334135" cy="479113"/>
            <a:chOff x="9312472" y="5395204"/>
            <a:chExt cx="2129374" cy="344038"/>
          </a:xfrm>
        </p:grpSpPr>
        <p:pic>
          <p:nvPicPr>
            <p:cNvPr id="284" name="object 182">
              <a:extLst>
                <a:ext uri="{FF2B5EF4-FFF2-40B4-BE49-F238E27FC236}">
                  <a16:creationId xmlns="" xmlns:a16="http://schemas.microsoft.com/office/drawing/2014/main" id="{9492F024-8974-45DC-80D7-893450EDC553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85" name="object 183">
              <a:extLst>
                <a:ext uri="{FF2B5EF4-FFF2-40B4-BE49-F238E27FC236}">
                  <a16:creationId xmlns="" xmlns:a16="http://schemas.microsoft.com/office/drawing/2014/main" id="{8CA87C38-AFC5-418C-997F-FD86C9332586}"/>
                </a:ext>
              </a:extLst>
            </p:cNvPr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6" name="object 177">
            <a:extLst>
              <a:ext uri="{FF2B5EF4-FFF2-40B4-BE49-F238E27FC236}">
                <a16:creationId xmlns="" xmlns:a16="http://schemas.microsoft.com/office/drawing/2014/main" id="{0F97881E-99CD-49D1-A5AA-159866EF66EE}"/>
              </a:ext>
            </a:extLst>
          </p:cNvPr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3495331" y="4828342"/>
            <a:ext cx="346563" cy="308749"/>
          </a:xfrm>
          <a:prstGeom prst="rect">
            <a:avLst/>
          </a:prstGeom>
        </p:spPr>
      </p:pic>
      <p:sp>
        <p:nvSpPr>
          <p:cNvPr id="287" name="object 178">
            <a:extLst>
              <a:ext uri="{FF2B5EF4-FFF2-40B4-BE49-F238E27FC236}">
                <a16:creationId xmlns="" xmlns:a16="http://schemas.microsoft.com/office/drawing/2014/main" id="{9FF2D5D5-0C80-4624-8637-EFDF9AC3E28E}"/>
              </a:ext>
            </a:extLst>
          </p:cNvPr>
          <p:cNvSpPr txBox="1"/>
          <p:nvPr/>
        </p:nvSpPr>
        <p:spPr>
          <a:xfrm>
            <a:off x="10244384" y="4841846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uz-Cyrl-UZ" sz="115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/>
                <a:cs typeface="Tahoma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uz-Cyrl-UZ" sz="4125" b="1" spc="459" baseline="1010" dirty="0">
                <a:solidFill>
                  <a:srgbClr val="273B6F"/>
                </a:solidFill>
                <a:latin typeface="Arial"/>
                <a:cs typeface="Arial"/>
              </a:rPr>
              <a:t>50</a:t>
            </a:r>
            <a:r>
              <a:rPr sz="4125" b="1" spc="-30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млн.сўм</a:t>
            </a:r>
            <a:endParaRPr sz="1950" baseline="2136" dirty="0">
              <a:latin typeface="Microsoft Sans Serif"/>
              <a:cs typeface="Microsoft Sans Serif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/>
              <a:cs typeface="Tahoma"/>
            </a:endParaRPr>
          </a:p>
        </p:txBody>
      </p:sp>
      <p:sp>
        <p:nvSpPr>
          <p:cNvPr id="288" name="object 179">
            <a:extLst>
              <a:ext uri="{FF2B5EF4-FFF2-40B4-BE49-F238E27FC236}">
                <a16:creationId xmlns="" xmlns:a16="http://schemas.microsoft.com/office/drawing/2014/main" id="{00FC2685-1D61-407F-806C-7711547DAC22}"/>
              </a:ext>
            </a:extLst>
          </p:cNvPr>
          <p:cNvSpPr txBox="1"/>
          <p:nvPr/>
        </p:nvSpPr>
        <p:spPr>
          <a:xfrm>
            <a:off x="10248608" y="5316506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289" name="object 180">
            <a:extLst>
              <a:ext uri="{FF2B5EF4-FFF2-40B4-BE49-F238E27FC236}">
                <a16:creationId xmlns="" xmlns:a16="http://schemas.microsoft.com/office/drawing/2014/main" id="{E63C86A1-4B1A-4042-9D46-54EC256277B5}"/>
              </a:ext>
            </a:extLst>
          </p:cNvPr>
          <p:cNvSpPr txBox="1"/>
          <p:nvPr/>
        </p:nvSpPr>
        <p:spPr>
          <a:xfrm>
            <a:off x="10258200" y="5283451"/>
            <a:ext cx="2338416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4125" b="1" baseline="1010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4125" b="1" spc="37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950" baseline="2136" dirty="0">
              <a:latin typeface="Microsoft Sans Serif"/>
              <a:cs typeface="Microsoft Sans Serif"/>
            </a:endParaRPr>
          </a:p>
        </p:txBody>
      </p:sp>
      <p:grpSp>
        <p:nvGrpSpPr>
          <p:cNvPr id="290" name="object 181">
            <a:extLst>
              <a:ext uri="{FF2B5EF4-FFF2-40B4-BE49-F238E27FC236}">
                <a16:creationId xmlns="" xmlns:a16="http://schemas.microsoft.com/office/drawing/2014/main" id="{1A33B2B4-D85E-4050-8E3A-BEBB810266DE}"/>
              </a:ext>
            </a:extLst>
          </p:cNvPr>
          <p:cNvGrpSpPr/>
          <p:nvPr/>
        </p:nvGrpSpPr>
        <p:grpSpPr>
          <a:xfrm>
            <a:off x="9307851" y="5269124"/>
            <a:ext cx="3334135" cy="479113"/>
            <a:chOff x="9312472" y="5395204"/>
            <a:chExt cx="2129374" cy="344038"/>
          </a:xfrm>
        </p:grpSpPr>
        <p:pic>
          <p:nvPicPr>
            <p:cNvPr id="291" name="object 182">
              <a:extLst>
                <a:ext uri="{FF2B5EF4-FFF2-40B4-BE49-F238E27FC236}">
                  <a16:creationId xmlns="" xmlns:a16="http://schemas.microsoft.com/office/drawing/2014/main" id="{F8FC8220-0EC2-4B58-B7FB-7A59FE195308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92" name="object 183">
              <a:extLst>
                <a:ext uri="{FF2B5EF4-FFF2-40B4-BE49-F238E27FC236}">
                  <a16:creationId xmlns="" xmlns:a16="http://schemas.microsoft.com/office/drawing/2014/main" id="{A44E7EC5-32B2-4AA9-AC05-B37CE0B789C0}"/>
                </a:ext>
              </a:extLst>
            </p:cNvPr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3" name="object 177">
            <a:extLst>
              <a:ext uri="{FF2B5EF4-FFF2-40B4-BE49-F238E27FC236}">
                <a16:creationId xmlns="" xmlns:a16="http://schemas.microsoft.com/office/drawing/2014/main" id="{1D5A4637-F4D4-4FE6-B28D-F9A9699677EF}"/>
              </a:ext>
            </a:extLst>
          </p:cNvPr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9357854" y="4810179"/>
            <a:ext cx="346563" cy="30874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03F42B6A-2403-DE46-F642-CE9B817A3148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9770"/>
            <a:ext cx="2228324" cy="81253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6020" y="5866831"/>
            <a:ext cx="3726629" cy="17755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2" name="Рисунок 151"/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188" y="5894761"/>
            <a:ext cx="3783158" cy="17818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3" name="Рисунок 152"/>
          <p:cNvPicPr>
            <a:picLocks noChangeAspect="1"/>
          </p:cNvPicPr>
          <p:nvPr/>
        </p:nvPicPr>
        <p:blipFill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073" y="5144991"/>
            <a:ext cx="3742649" cy="19035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4" name="Рисунок 153"/>
          <p:cNvPicPr>
            <a:picLocks noChangeAspect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16" y="5172126"/>
            <a:ext cx="3501772" cy="18764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1" name="Рисунок 150"/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535" y="1776665"/>
            <a:ext cx="735818" cy="423444"/>
          </a:xfrm>
          <a:prstGeom prst="rect">
            <a:avLst/>
          </a:prstGeom>
        </p:spPr>
      </p:pic>
      <p:pic>
        <p:nvPicPr>
          <p:cNvPr id="155" name="Рисунок 154"/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0950" y="1869564"/>
            <a:ext cx="514396" cy="378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634</TotalTime>
  <Words>198</Words>
  <Application>Microsoft Office PowerPoint</Application>
  <PresentationFormat>Произвольный</PresentationFormat>
  <Paragraphs>86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Microsoft Sans Serif</vt:lpstr>
      <vt:lpstr>Tahoma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d.majidov</dc:creator>
  <cp:lastModifiedBy>Пользователь</cp:lastModifiedBy>
  <cp:revision>49</cp:revision>
  <cp:lastPrinted>2025-11-26T17:30:38Z</cp:lastPrinted>
  <dcterms:created xsi:type="dcterms:W3CDTF">2025-11-21T17:17:30Z</dcterms:created>
  <dcterms:modified xsi:type="dcterms:W3CDTF">2026-05-07T05:58:43Z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2025-11-21T00:00:00Z</vt:filetime>
  </property>
  <property fmtid="{D5CDD505-2E9C-101B-9397-08002B2CF9AE}" pid="3" name="LastSaved">
    <vt:filetime>2025-11-21T00:00:00Z</vt:filetime>
  </property>
  <property fmtid="{D5CDD505-2E9C-101B-9397-08002B2CF9AE}" pid="4" name="Producer">
    <vt:lpwstr>iLovePDF</vt:lpwstr>
  </property>
</Properties>
</file>