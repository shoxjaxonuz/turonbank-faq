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7513300" cy="9950450"/>
  <p:notesSz cx="9866313" cy="6735763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EA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0" d="100"/>
          <a:sy n="50" d="100"/>
        </p:scale>
        <p:origin x="636" y="36"/>
      </p:cViewPr>
      <p:guideLst>
        <p:guide orient="horz" pos="2880"/>
        <p:guide pos="2160"/>
      </p:guideLst>
    </p:cSldViewPr>
  </p:slideViewPr>
  <p:notesTextViewPr>
    <p:cViewPr>
      <p:scale>
        <a:sx n="200" d="100"/>
        <a:sy n="2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5820" cy="337433"/>
          </a:xfrm>
          <a:prstGeom prst="rect">
            <a:avLst/>
          </a:prstGeom>
        </p:spPr>
        <p:txBody>
          <a:bodyPr vert="horz" lIns="55275" tIns="27638" rIns="55275" bIns="27638" rtlCol="0"/>
          <a:lstStyle>
            <a:lvl1pPr algn="l">
              <a:defRPr sz="7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5588705" y="0"/>
            <a:ext cx="4274925" cy="337433"/>
          </a:xfrm>
          <a:prstGeom prst="rect">
            <a:avLst/>
          </a:prstGeom>
        </p:spPr>
        <p:txBody>
          <a:bodyPr vert="horz" lIns="55275" tIns="27638" rIns="55275" bIns="27638" rtlCol="0"/>
          <a:lstStyle>
            <a:lvl1pPr algn="r">
              <a:defRPr sz="700"/>
            </a:lvl1pPr>
          </a:lstStyle>
          <a:p>
            <a:fld id="{4B2D43AA-E8D7-425B-B3C4-D1DF93CFF8CE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2935288" y="842963"/>
            <a:ext cx="3995737" cy="22717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55275" tIns="27638" rIns="55275" bIns="27638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986453" y="3241075"/>
            <a:ext cx="7893408" cy="2653255"/>
          </a:xfrm>
          <a:prstGeom prst="rect">
            <a:avLst/>
          </a:prstGeom>
        </p:spPr>
        <p:txBody>
          <a:bodyPr vert="horz" lIns="55275" tIns="27638" rIns="55275" bIns="27638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6398330"/>
            <a:ext cx="4275820" cy="337433"/>
          </a:xfrm>
          <a:prstGeom prst="rect">
            <a:avLst/>
          </a:prstGeom>
        </p:spPr>
        <p:txBody>
          <a:bodyPr vert="horz" lIns="55275" tIns="27638" rIns="55275" bIns="27638" rtlCol="0" anchor="b"/>
          <a:lstStyle>
            <a:lvl1pPr algn="l">
              <a:defRPr sz="7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5588705" y="6398330"/>
            <a:ext cx="4274925" cy="337433"/>
          </a:xfrm>
          <a:prstGeom prst="rect">
            <a:avLst/>
          </a:prstGeom>
        </p:spPr>
        <p:txBody>
          <a:bodyPr vert="horz" lIns="55275" tIns="27638" rIns="55275" bIns="27638" rtlCol="0" anchor="b"/>
          <a:lstStyle>
            <a:lvl1pPr algn="r">
              <a:defRPr sz="700"/>
            </a:lvl1pPr>
          </a:lstStyle>
          <a:p>
            <a:fld id="{57CE7007-27A7-4D3E-91BA-E4D1BB46A2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91803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CE7007-27A7-4D3E-91BA-E4D1BB46A239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55248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3497" y="3084639"/>
            <a:ext cx="14886305" cy="2089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6995" y="5572252"/>
            <a:ext cx="12259310" cy="24876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75665" y="2288603"/>
            <a:ext cx="7618285" cy="65672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019349" y="2288603"/>
            <a:ext cx="7618285" cy="65672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3220" y="1069084"/>
            <a:ext cx="17279999" cy="8766737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4743087" y="1533365"/>
            <a:ext cx="2412365" cy="1306195"/>
          </a:xfrm>
          <a:custGeom>
            <a:avLst/>
            <a:gdLst/>
            <a:ahLst/>
            <a:cxnLst/>
            <a:rect l="l" t="t" r="r" b="b"/>
            <a:pathLst>
              <a:path w="2412365" h="1306195">
                <a:moveTo>
                  <a:pt x="2329602" y="0"/>
                </a:moveTo>
                <a:lnTo>
                  <a:pt x="82494" y="0"/>
                </a:lnTo>
                <a:lnTo>
                  <a:pt x="50462" y="6509"/>
                </a:lnTo>
                <a:lnTo>
                  <a:pt x="24231" y="24232"/>
                </a:lnTo>
                <a:lnTo>
                  <a:pt x="6508" y="50462"/>
                </a:lnTo>
                <a:lnTo>
                  <a:pt x="0" y="82494"/>
                </a:lnTo>
                <a:lnTo>
                  <a:pt x="0" y="1223680"/>
                </a:lnTo>
                <a:lnTo>
                  <a:pt x="6508" y="1255712"/>
                </a:lnTo>
                <a:lnTo>
                  <a:pt x="24231" y="1281943"/>
                </a:lnTo>
                <a:lnTo>
                  <a:pt x="50462" y="1299665"/>
                </a:lnTo>
                <a:lnTo>
                  <a:pt x="82494" y="1306174"/>
                </a:lnTo>
                <a:lnTo>
                  <a:pt x="2329602" y="1306174"/>
                </a:lnTo>
                <a:lnTo>
                  <a:pt x="2361635" y="1299665"/>
                </a:lnTo>
                <a:lnTo>
                  <a:pt x="2387865" y="1281943"/>
                </a:lnTo>
                <a:lnTo>
                  <a:pt x="2405588" y="1255712"/>
                </a:lnTo>
                <a:lnTo>
                  <a:pt x="2412097" y="1223680"/>
                </a:lnTo>
                <a:lnTo>
                  <a:pt x="2412097" y="82494"/>
                </a:lnTo>
                <a:lnTo>
                  <a:pt x="2405588" y="50462"/>
                </a:lnTo>
                <a:lnTo>
                  <a:pt x="2387865" y="24232"/>
                </a:lnTo>
                <a:lnTo>
                  <a:pt x="2361635" y="6509"/>
                </a:lnTo>
                <a:lnTo>
                  <a:pt x="232960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4743087" y="1533365"/>
            <a:ext cx="2412365" cy="1306195"/>
          </a:xfrm>
          <a:custGeom>
            <a:avLst/>
            <a:gdLst/>
            <a:ahLst/>
            <a:cxnLst/>
            <a:rect l="l" t="t" r="r" b="b"/>
            <a:pathLst>
              <a:path w="2412365" h="1306195">
                <a:moveTo>
                  <a:pt x="2329602" y="0"/>
                </a:moveTo>
                <a:lnTo>
                  <a:pt x="82494" y="0"/>
                </a:lnTo>
                <a:lnTo>
                  <a:pt x="50462" y="6509"/>
                </a:lnTo>
                <a:lnTo>
                  <a:pt x="24231" y="24232"/>
                </a:lnTo>
                <a:lnTo>
                  <a:pt x="6508" y="50462"/>
                </a:lnTo>
                <a:lnTo>
                  <a:pt x="0" y="82494"/>
                </a:lnTo>
                <a:lnTo>
                  <a:pt x="0" y="1223680"/>
                </a:lnTo>
                <a:lnTo>
                  <a:pt x="6508" y="1255712"/>
                </a:lnTo>
                <a:lnTo>
                  <a:pt x="24231" y="1281943"/>
                </a:lnTo>
                <a:lnTo>
                  <a:pt x="50462" y="1299665"/>
                </a:lnTo>
                <a:lnTo>
                  <a:pt x="82494" y="1306174"/>
                </a:lnTo>
                <a:lnTo>
                  <a:pt x="2329602" y="1306174"/>
                </a:lnTo>
                <a:lnTo>
                  <a:pt x="2361635" y="1299665"/>
                </a:lnTo>
                <a:lnTo>
                  <a:pt x="2387865" y="1281943"/>
                </a:lnTo>
                <a:lnTo>
                  <a:pt x="2405588" y="1255712"/>
                </a:lnTo>
                <a:lnTo>
                  <a:pt x="2412097" y="1223680"/>
                </a:lnTo>
                <a:lnTo>
                  <a:pt x="2412097" y="82494"/>
                </a:lnTo>
                <a:lnTo>
                  <a:pt x="2405588" y="50462"/>
                </a:lnTo>
                <a:lnTo>
                  <a:pt x="2387865" y="24232"/>
                </a:lnTo>
                <a:lnTo>
                  <a:pt x="2361635" y="6509"/>
                </a:lnTo>
                <a:lnTo>
                  <a:pt x="2329602" y="0"/>
                </a:lnTo>
                <a:close/>
              </a:path>
            </a:pathLst>
          </a:custGeom>
          <a:ln w="7199">
            <a:solidFill>
              <a:srgbClr val="00A3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13220" y="115858"/>
            <a:ext cx="17280255" cy="1094105"/>
          </a:xfrm>
          <a:custGeom>
            <a:avLst/>
            <a:gdLst/>
            <a:ahLst/>
            <a:cxnLst/>
            <a:rect l="l" t="t" r="r" b="b"/>
            <a:pathLst>
              <a:path w="17280255" h="1094105">
                <a:moveTo>
                  <a:pt x="17279999" y="0"/>
                </a:moveTo>
                <a:lnTo>
                  <a:pt x="0" y="0"/>
                </a:lnTo>
                <a:lnTo>
                  <a:pt x="0" y="1094047"/>
                </a:lnTo>
                <a:lnTo>
                  <a:pt x="15390211" y="1094047"/>
                </a:lnTo>
                <a:lnTo>
                  <a:pt x="15510092" y="912757"/>
                </a:lnTo>
                <a:lnTo>
                  <a:pt x="17279999" y="912757"/>
                </a:lnTo>
                <a:lnTo>
                  <a:pt x="1727999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2375198" y="115865"/>
            <a:ext cx="4765675" cy="1094105"/>
          </a:xfrm>
          <a:custGeom>
            <a:avLst/>
            <a:gdLst/>
            <a:ahLst/>
            <a:cxnLst/>
            <a:rect l="l" t="t" r="r" b="b"/>
            <a:pathLst>
              <a:path w="4765675" h="1094105">
                <a:moveTo>
                  <a:pt x="581393" y="0"/>
                </a:moveTo>
                <a:lnTo>
                  <a:pt x="529424" y="0"/>
                </a:lnTo>
                <a:lnTo>
                  <a:pt x="0" y="1094041"/>
                </a:lnTo>
                <a:lnTo>
                  <a:pt x="51955" y="1094041"/>
                </a:lnTo>
                <a:lnTo>
                  <a:pt x="581393" y="0"/>
                </a:lnTo>
                <a:close/>
              </a:path>
              <a:path w="4765675" h="1094105">
                <a:moveTo>
                  <a:pt x="1038809" y="0"/>
                </a:moveTo>
                <a:lnTo>
                  <a:pt x="927785" y="0"/>
                </a:lnTo>
                <a:lnTo>
                  <a:pt x="398360" y="1094041"/>
                </a:lnTo>
                <a:lnTo>
                  <a:pt x="509371" y="1094041"/>
                </a:lnTo>
                <a:lnTo>
                  <a:pt x="1038809" y="0"/>
                </a:lnTo>
                <a:close/>
              </a:path>
              <a:path w="4765675" h="1094105">
                <a:moveTo>
                  <a:pt x="1547482" y="0"/>
                </a:moveTo>
                <a:lnTo>
                  <a:pt x="1385201" y="0"/>
                </a:lnTo>
                <a:lnTo>
                  <a:pt x="855764" y="1094041"/>
                </a:lnTo>
                <a:lnTo>
                  <a:pt x="1018057" y="1094041"/>
                </a:lnTo>
                <a:lnTo>
                  <a:pt x="1547482" y="0"/>
                </a:lnTo>
                <a:close/>
              </a:path>
              <a:path w="4765675" h="1094105">
                <a:moveTo>
                  <a:pt x="2131110" y="0"/>
                </a:moveTo>
                <a:lnTo>
                  <a:pt x="1893874" y="0"/>
                </a:lnTo>
                <a:lnTo>
                  <a:pt x="1364449" y="1094041"/>
                </a:lnTo>
                <a:lnTo>
                  <a:pt x="1601685" y="1094041"/>
                </a:lnTo>
                <a:lnTo>
                  <a:pt x="2131110" y="0"/>
                </a:lnTo>
                <a:close/>
              </a:path>
              <a:path w="4765675" h="1094105">
                <a:moveTo>
                  <a:pt x="2824302" y="0"/>
                </a:moveTo>
                <a:lnTo>
                  <a:pt x="2477503" y="0"/>
                </a:lnTo>
                <a:lnTo>
                  <a:pt x="1948078" y="1094041"/>
                </a:lnTo>
                <a:lnTo>
                  <a:pt x="2294864" y="1094041"/>
                </a:lnTo>
                <a:lnTo>
                  <a:pt x="2824302" y="0"/>
                </a:lnTo>
                <a:close/>
              </a:path>
              <a:path w="4765675" h="1094105">
                <a:moveTo>
                  <a:pt x="3677628" y="0"/>
                </a:moveTo>
                <a:lnTo>
                  <a:pt x="3170682" y="0"/>
                </a:lnTo>
                <a:lnTo>
                  <a:pt x="2641257" y="1094041"/>
                </a:lnTo>
                <a:lnTo>
                  <a:pt x="3128226" y="1094041"/>
                </a:lnTo>
                <a:lnTo>
                  <a:pt x="3202686" y="981456"/>
                </a:lnTo>
                <a:lnTo>
                  <a:pt x="3677628" y="0"/>
                </a:lnTo>
                <a:close/>
              </a:path>
              <a:path w="4765675" h="1094105">
                <a:moveTo>
                  <a:pt x="4765065" y="0"/>
                </a:moveTo>
                <a:lnTo>
                  <a:pt x="4024020" y="0"/>
                </a:lnTo>
                <a:lnTo>
                  <a:pt x="3582327" y="912761"/>
                </a:lnTo>
                <a:lnTo>
                  <a:pt x="4323359" y="912761"/>
                </a:lnTo>
                <a:lnTo>
                  <a:pt x="4765065" y="0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75665" y="398018"/>
            <a:ext cx="15761970" cy="15920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5665" y="2288603"/>
            <a:ext cx="15761970" cy="65672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954522" y="9253919"/>
            <a:ext cx="5604256" cy="49752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75665" y="9253919"/>
            <a:ext cx="4028059" cy="49752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609577" y="9253919"/>
            <a:ext cx="4028059" cy="49752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9" Type="http://schemas.openxmlformats.org/officeDocument/2006/relationships/image" Target="../media/image38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42" Type="http://schemas.openxmlformats.org/officeDocument/2006/relationships/image" Target="../media/image41.png"/><Relationship Id="rId47" Type="http://schemas.openxmlformats.org/officeDocument/2006/relationships/image" Target="../media/image46.png"/><Relationship Id="rId50" Type="http://schemas.openxmlformats.org/officeDocument/2006/relationships/image" Target="../media/image49.jpe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png"/><Relationship Id="rId46" Type="http://schemas.openxmlformats.org/officeDocument/2006/relationships/image" Target="../media/image4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41" Type="http://schemas.openxmlformats.org/officeDocument/2006/relationships/image" Target="../media/image4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37" Type="http://schemas.openxmlformats.org/officeDocument/2006/relationships/image" Target="../media/image36.png"/><Relationship Id="rId40" Type="http://schemas.openxmlformats.org/officeDocument/2006/relationships/image" Target="../media/image39.png"/><Relationship Id="rId45" Type="http://schemas.openxmlformats.org/officeDocument/2006/relationships/image" Target="../media/image44.png"/><Relationship Id="rId53" Type="http://schemas.openxmlformats.org/officeDocument/2006/relationships/image" Target="../media/image52.jpe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49" Type="http://schemas.openxmlformats.org/officeDocument/2006/relationships/image" Target="../media/image48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png"/><Relationship Id="rId52" Type="http://schemas.openxmlformats.org/officeDocument/2006/relationships/image" Target="../media/image51.jpe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png"/><Relationship Id="rId8" Type="http://schemas.openxmlformats.org/officeDocument/2006/relationships/image" Target="../media/image7.png"/><Relationship Id="rId51" Type="http://schemas.openxmlformats.org/officeDocument/2006/relationships/image" Target="../media/image5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75228" y="207220"/>
            <a:ext cx="13677265" cy="9002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lvl="1" algn="ctr">
              <a:spcBef>
                <a:spcPts val="100"/>
              </a:spcBef>
            </a:pPr>
            <a:r>
              <a:rPr lang="uz-Cyrl-UZ" sz="2800" spc="-45" dirty="0">
                <a:solidFill>
                  <a:srgbClr val="273B6F"/>
                </a:solidFill>
                <a:latin typeface="Microsoft Sans Serif"/>
                <a:cs typeface="Microsoft Sans Serif"/>
              </a:rPr>
              <a:t>ЧИЛОНЗОР</a:t>
            </a:r>
            <a:r>
              <a:rPr lang="ru-RU" sz="2800" spc="-45" dirty="0">
                <a:solidFill>
                  <a:srgbClr val="273B6F"/>
                </a:solidFill>
                <a:latin typeface="Microsoft Sans Serif"/>
                <a:cs typeface="Microsoft Sans Serif"/>
              </a:rPr>
              <a:t> </a:t>
            </a:r>
            <a:r>
              <a:rPr lang="ru-RU" sz="2800" spc="-165" dirty="0">
                <a:solidFill>
                  <a:srgbClr val="273B6F"/>
                </a:solidFill>
                <a:latin typeface="Microsoft Sans Serif"/>
                <a:cs typeface="Microsoft Sans Serif"/>
              </a:rPr>
              <a:t> </a:t>
            </a:r>
            <a:r>
              <a:rPr lang="ru-RU" sz="2800" spc="-10" dirty="0">
                <a:solidFill>
                  <a:srgbClr val="273B6F"/>
                </a:solidFill>
                <a:latin typeface="Microsoft Sans Serif"/>
                <a:cs typeface="Microsoft Sans Serif"/>
              </a:rPr>
              <a:t>ТУМАНИ </a:t>
            </a:r>
            <a:r>
              <a:rPr lang="ru-RU" sz="2800" spc="-160" dirty="0">
                <a:solidFill>
                  <a:srgbClr val="273B6F"/>
                </a:solidFill>
                <a:latin typeface="Microsoft Sans Serif"/>
                <a:cs typeface="Microsoft Sans Serif"/>
              </a:rPr>
              <a:t> </a:t>
            </a:r>
            <a:r>
              <a:rPr sz="2800" b="1" dirty="0">
                <a:solidFill>
                  <a:srgbClr val="273B6F"/>
                </a:solidFill>
                <a:latin typeface="Arial"/>
                <a:cs typeface="Arial"/>
              </a:rPr>
              <a:t>“</a:t>
            </a:r>
            <a:r>
              <a:rPr lang="ru-RU" sz="2800" b="1" dirty="0">
                <a:solidFill>
                  <a:srgbClr val="273B6F"/>
                </a:solidFill>
                <a:latin typeface="Arial"/>
                <a:cs typeface="Arial"/>
              </a:rPr>
              <a:t>КЎТАРМА</a:t>
            </a:r>
            <a:r>
              <a:rPr sz="2800" b="1" spc="-35" dirty="0">
                <a:solidFill>
                  <a:srgbClr val="273B6F"/>
                </a:solidFill>
                <a:latin typeface="Arial"/>
                <a:cs typeface="Arial"/>
              </a:rPr>
              <a:t>”</a:t>
            </a:r>
            <a:r>
              <a:rPr sz="2800" b="1" spc="-180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273B6F"/>
                </a:solidFill>
                <a:latin typeface="Microsoft Sans Serif"/>
                <a:cs typeface="Microsoft Sans Serif"/>
              </a:rPr>
              <a:t>МАҲАЛЛАСИДА</a:t>
            </a:r>
            <a:endParaRPr sz="2800" dirty="0">
              <a:latin typeface="Microsoft Sans Serif"/>
              <a:cs typeface="Microsoft Sans Serif"/>
            </a:endParaRPr>
          </a:p>
          <a:p>
            <a:pPr algn="ctr">
              <a:lnSpc>
                <a:spcPct val="100000"/>
              </a:lnSpc>
              <a:spcBef>
                <a:spcPts val="165"/>
              </a:spcBef>
            </a:pPr>
            <a:r>
              <a:rPr sz="2800" b="1" spc="-25" dirty="0">
                <a:solidFill>
                  <a:srgbClr val="273B6F"/>
                </a:solidFill>
                <a:latin typeface="Arial"/>
                <a:cs typeface="Arial"/>
              </a:rPr>
              <a:t>АҲОЛИ</a:t>
            </a:r>
            <a:r>
              <a:rPr sz="2800" b="1" spc="-160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2800" b="1" spc="-40" dirty="0">
                <a:solidFill>
                  <a:srgbClr val="273B6F"/>
                </a:solidFill>
                <a:latin typeface="Arial"/>
                <a:cs typeface="Arial"/>
              </a:rPr>
              <a:t>БАНДЛИГИНИ</a:t>
            </a:r>
            <a:r>
              <a:rPr sz="2800" b="1" spc="-160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2800" b="1" spc="-55" dirty="0">
                <a:solidFill>
                  <a:srgbClr val="273B6F"/>
                </a:solidFill>
                <a:latin typeface="Arial"/>
                <a:cs typeface="Arial"/>
              </a:rPr>
              <a:t>ТАЪМИНЛАШ</a:t>
            </a:r>
            <a:r>
              <a:rPr sz="2800" b="1" spc="-160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2800" b="1" spc="-50" dirty="0">
                <a:solidFill>
                  <a:srgbClr val="273B6F"/>
                </a:solidFill>
                <a:latin typeface="Arial"/>
                <a:cs typeface="Arial"/>
              </a:rPr>
              <a:t>ВА</a:t>
            </a:r>
            <a:r>
              <a:rPr sz="2800" b="1" spc="-160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2800" b="1" spc="-30" dirty="0">
                <a:solidFill>
                  <a:srgbClr val="273B6F"/>
                </a:solidFill>
                <a:latin typeface="Arial"/>
                <a:cs typeface="Arial"/>
              </a:rPr>
              <a:t>ДАРОМАДЛАРИНИ</a:t>
            </a:r>
            <a:r>
              <a:rPr sz="2800" b="1" spc="-155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273B6F"/>
                </a:solidFill>
                <a:latin typeface="Arial"/>
                <a:cs typeface="Arial"/>
              </a:rPr>
              <a:t>ОШИРИШ</a:t>
            </a:r>
            <a:endParaRPr sz="2800" dirty="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63948" y="1089849"/>
            <a:ext cx="16696055" cy="1755280"/>
            <a:chOff x="363948" y="1089849"/>
            <a:chExt cx="16696055" cy="1755280"/>
          </a:xfrm>
        </p:grpSpPr>
        <p:sp>
          <p:nvSpPr>
            <p:cNvPr id="4" name="object 4"/>
            <p:cNvSpPr/>
            <p:nvPr/>
          </p:nvSpPr>
          <p:spPr>
            <a:xfrm>
              <a:off x="363948" y="1089849"/>
              <a:ext cx="16696055" cy="181610"/>
            </a:xfrm>
            <a:custGeom>
              <a:avLst/>
              <a:gdLst/>
              <a:ahLst/>
              <a:cxnLst/>
              <a:rect l="l" t="t" r="r" b="b"/>
              <a:pathLst>
                <a:path w="16696055" h="181609">
                  <a:moveTo>
                    <a:pt x="0" y="181288"/>
                  </a:moveTo>
                  <a:lnTo>
                    <a:pt x="15407916" y="181288"/>
                  </a:lnTo>
                  <a:lnTo>
                    <a:pt x="15527797" y="0"/>
                  </a:lnTo>
                  <a:lnTo>
                    <a:pt x="16695734" y="0"/>
                  </a:lnTo>
                </a:path>
              </a:pathLst>
            </a:custGeom>
            <a:ln w="12701">
              <a:solidFill>
                <a:srgbClr val="7E6F6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6416674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59" h="426719">
                  <a:moveTo>
                    <a:pt x="182965" y="0"/>
                  </a:moveTo>
                  <a:lnTo>
                    <a:pt x="138164" y="9755"/>
                  </a:lnTo>
                  <a:lnTo>
                    <a:pt x="96133" y="29790"/>
                  </a:lnTo>
                  <a:lnTo>
                    <a:pt x="58648" y="60125"/>
                  </a:lnTo>
                  <a:lnTo>
                    <a:pt x="29058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6" y="280673"/>
                  </a:lnTo>
                  <a:lnTo>
                    <a:pt x="31429" y="324204"/>
                  </a:lnTo>
                  <a:lnTo>
                    <a:pt x="61835" y="363296"/>
                  </a:lnTo>
                  <a:lnTo>
                    <a:pt x="99966" y="394466"/>
                  </a:lnTo>
                  <a:lnTo>
                    <a:pt x="142427" y="415434"/>
                  </a:lnTo>
                  <a:lnTo>
                    <a:pt x="187443" y="426181"/>
                  </a:lnTo>
                  <a:lnTo>
                    <a:pt x="233239" y="426687"/>
                  </a:lnTo>
                  <a:lnTo>
                    <a:pt x="278040" y="416932"/>
                  </a:lnTo>
                  <a:lnTo>
                    <a:pt x="320071" y="396896"/>
                  </a:lnTo>
                  <a:lnTo>
                    <a:pt x="357557" y="366561"/>
                  </a:lnTo>
                  <a:lnTo>
                    <a:pt x="387147" y="328131"/>
                  </a:lnTo>
                  <a:lnTo>
                    <a:pt x="406691" y="285042"/>
                  </a:lnTo>
                  <a:lnTo>
                    <a:pt x="416206" y="239113"/>
                  </a:lnTo>
                  <a:lnTo>
                    <a:pt x="415713" y="192164"/>
                  </a:lnTo>
                  <a:lnTo>
                    <a:pt x="405230" y="146014"/>
                  </a:lnTo>
                  <a:lnTo>
                    <a:pt x="384776" y="102483"/>
                  </a:lnTo>
                  <a:lnTo>
                    <a:pt x="354370" y="63390"/>
                  </a:lnTo>
                  <a:lnTo>
                    <a:pt x="316239" y="32220"/>
                  </a:lnTo>
                  <a:lnTo>
                    <a:pt x="273778" y="11252"/>
                  </a:lnTo>
                  <a:lnTo>
                    <a:pt x="228761" y="505"/>
                  </a:lnTo>
                  <a:lnTo>
                    <a:pt x="18296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6416674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59" h="426719">
                  <a:moveTo>
                    <a:pt x="357557" y="366561"/>
                  </a:moveTo>
                  <a:lnTo>
                    <a:pt x="387147" y="328131"/>
                  </a:lnTo>
                  <a:lnTo>
                    <a:pt x="406691" y="285042"/>
                  </a:lnTo>
                  <a:lnTo>
                    <a:pt x="416206" y="239113"/>
                  </a:lnTo>
                  <a:lnTo>
                    <a:pt x="415713" y="192164"/>
                  </a:lnTo>
                  <a:lnTo>
                    <a:pt x="405230" y="146014"/>
                  </a:lnTo>
                  <a:lnTo>
                    <a:pt x="384776" y="102483"/>
                  </a:lnTo>
                  <a:lnTo>
                    <a:pt x="354370" y="63390"/>
                  </a:lnTo>
                  <a:lnTo>
                    <a:pt x="316239" y="32220"/>
                  </a:lnTo>
                  <a:lnTo>
                    <a:pt x="273778" y="11252"/>
                  </a:lnTo>
                  <a:lnTo>
                    <a:pt x="228761" y="505"/>
                  </a:lnTo>
                  <a:lnTo>
                    <a:pt x="182965" y="0"/>
                  </a:lnTo>
                  <a:lnTo>
                    <a:pt x="138164" y="9755"/>
                  </a:lnTo>
                  <a:lnTo>
                    <a:pt x="96133" y="29790"/>
                  </a:lnTo>
                  <a:lnTo>
                    <a:pt x="58648" y="60125"/>
                  </a:lnTo>
                  <a:lnTo>
                    <a:pt x="29058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6" y="280673"/>
                  </a:lnTo>
                  <a:lnTo>
                    <a:pt x="31429" y="324204"/>
                  </a:lnTo>
                  <a:lnTo>
                    <a:pt x="61835" y="363296"/>
                  </a:lnTo>
                  <a:lnTo>
                    <a:pt x="99966" y="394466"/>
                  </a:lnTo>
                  <a:lnTo>
                    <a:pt x="142427" y="415434"/>
                  </a:lnTo>
                  <a:lnTo>
                    <a:pt x="187443" y="426181"/>
                  </a:lnTo>
                  <a:lnTo>
                    <a:pt x="233239" y="426687"/>
                  </a:lnTo>
                  <a:lnTo>
                    <a:pt x="278040" y="416932"/>
                  </a:lnTo>
                  <a:lnTo>
                    <a:pt x="320071" y="396896"/>
                  </a:lnTo>
                  <a:lnTo>
                    <a:pt x="357557" y="366561"/>
                  </a:lnTo>
                  <a:close/>
                </a:path>
              </a:pathLst>
            </a:custGeom>
            <a:ln w="7199">
              <a:solidFill>
                <a:srgbClr val="64B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6401773" y="1343620"/>
              <a:ext cx="446405" cy="454659"/>
            </a:xfrm>
            <a:custGeom>
              <a:avLst/>
              <a:gdLst/>
              <a:ahLst/>
              <a:cxnLst/>
              <a:rect l="l" t="t" r="r" b="b"/>
              <a:pathLst>
                <a:path w="446405" h="454660">
                  <a:moveTo>
                    <a:pt x="446011" y="0"/>
                  </a:moveTo>
                  <a:lnTo>
                    <a:pt x="0" y="0"/>
                  </a:lnTo>
                  <a:lnTo>
                    <a:pt x="0" y="454647"/>
                  </a:lnTo>
                  <a:lnTo>
                    <a:pt x="446011" y="454647"/>
                  </a:lnTo>
                  <a:lnTo>
                    <a:pt x="446011" y="0"/>
                  </a:lnTo>
                  <a:close/>
                </a:path>
              </a:pathLst>
            </a:custGeom>
            <a:solidFill>
              <a:srgbClr val="151616">
                <a:alpha val="20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6453247" y="1395094"/>
              <a:ext cx="343535" cy="351790"/>
            </a:xfrm>
            <a:custGeom>
              <a:avLst/>
              <a:gdLst/>
              <a:ahLst/>
              <a:cxnLst/>
              <a:rect l="l" t="t" r="r" b="b"/>
              <a:pathLst>
                <a:path w="343534" h="351789">
                  <a:moveTo>
                    <a:pt x="169683" y="0"/>
                  </a:moveTo>
                  <a:lnTo>
                    <a:pt x="126229" y="5242"/>
                  </a:lnTo>
                  <a:lnTo>
                    <a:pt x="85208" y="21954"/>
                  </a:lnTo>
                  <a:lnTo>
                    <a:pt x="48933" y="50163"/>
                  </a:lnTo>
                  <a:lnTo>
                    <a:pt x="21416" y="87353"/>
                  </a:lnTo>
                  <a:lnTo>
                    <a:pt x="5113" y="129407"/>
                  </a:lnTo>
                  <a:lnTo>
                    <a:pt x="0" y="173955"/>
                  </a:lnTo>
                  <a:lnTo>
                    <a:pt x="6051" y="218626"/>
                  </a:lnTo>
                  <a:lnTo>
                    <a:pt x="23241" y="261050"/>
                  </a:lnTo>
                  <a:lnTo>
                    <a:pt x="51546" y="298856"/>
                  </a:lnTo>
                  <a:lnTo>
                    <a:pt x="88424" y="327873"/>
                  </a:lnTo>
                  <a:lnTo>
                    <a:pt x="129805" y="345495"/>
                  </a:lnTo>
                  <a:lnTo>
                    <a:pt x="173379" y="351698"/>
                  </a:lnTo>
                  <a:lnTo>
                    <a:pt x="216832" y="346456"/>
                  </a:lnTo>
                  <a:lnTo>
                    <a:pt x="257853" y="329743"/>
                  </a:lnTo>
                  <a:lnTo>
                    <a:pt x="294129" y="301534"/>
                  </a:lnTo>
                  <a:lnTo>
                    <a:pt x="321646" y="264344"/>
                  </a:lnTo>
                  <a:lnTo>
                    <a:pt x="337949" y="222290"/>
                  </a:lnTo>
                  <a:lnTo>
                    <a:pt x="343062" y="177743"/>
                  </a:lnTo>
                  <a:lnTo>
                    <a:pt x="337011" y="133072"/>
                  </a:lnTo>
                  <a:lnTo>
                    <a:pt x="319821" y="90648"/>
                  </a:lnTo>
                  <a:lnTo>
                    <a:pt x="291515" y="52842"/>
                  </a:lnTo>
                  <a:lnTo>
                    <a:pt x="254638" y="23825"/>
                  </a:lnTo>
                  <a:lnTo>
                    <a:pt x="213256" y="6202"/>
                  </a:lnTo>
                  <a:lnTo>
                    <a:pt x="1696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6456469" y="1398397"/>
              <a:ext cx="38100" cy="38735"/>
            </a:xfrm>
            <a:custGeom>
              <a:avLst/>
              <a:gdLst/>
              <a:ahLst/>
              <a:cxnLst/>
              <a:rect l="l" t="t" r="r" b="b"/>
              <a:pathLst>
                <a:path w="38100" h="38734">
                  <a:moveTo>
                    <a:pt x="18652" y="0"/>
                  </a:moveTo>
                  <a:lnTo>
                    <a:pt x="11572" y="1337"/>
                  </a:lnTo>
                  <a:lnTo>
                    <a:pt x="5380" y="5515"/>
                  </a:lnTo>
                  <a:lnTo>
                    <a:pt x="1304" y="11864"/>
                  </a:lnTo>
                  <a:lnTo>
                    <a:pt x="0" y="19122"/>
                  </a:lnTo>
                  <a:lnTo>
                    <a:pt x="1456" y="26411"/>
                  </a:lnTo>
                  <a:lnTo>
                    <a:pt x="5664" y="32851"/>
                  </a:lnTo>
                  <a:lnTo>
                    <a:pt x="11947" y="37167"/>
                  </a:lnTo>
                  <a:lnTo>
                    <a:pt x="19058" y="38661"/>
                  </a:lnTo>
                  <a:lnTo>
                    <a:pt x="26139" y="37324"/>
                  </a:lnTo>
                  <a:lnTo>
                    <a:pt x="32333" y="33145"/>
                  </a:lnTo>
                  <a:lnTo>
                    <a:pt x="36408" y="26797"/>
                  </a:lnTo>
                  <a:lnTo>
                    <a:pt x="37713" y="19539"/>
                  </a:lnTo>
                  <a:lnTo>
                    <a:pt x="36256" y="12249"/>
                  </a:lnTo>
                  <a:lnTo>
                    <a:pt x="32046" y="5807"/>
                  </a:lnTo>
                  <a:lnTo>
                    <a:pt x="25762" y="1493"/>
                  </a:lnTo>
                  <a:lnTo>
                    <a:pt x="18652" y="0"/>
                  </a:lnTo>
                  <a:close/>
                </a:path>
              </a:pathLst>
            </a:custGeom>
            <a:solidFill>
              <a:srgbClr val="64B1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22284" y="1514804"/>
              <a:ext cx="4909185" cy="1330325"/>
            </a:xfrm>
            <a:custGeom>
              <a:avLst/>
              <a:gdLst/>
              <a:ahLst/>
              <a:cxnLst/>
              <a:rect l="l" t="t" r="r" b="b"/>
              <a:pathLst>
                <a:path w="4909185" h="1330325">
                  <a:moveTo>
                    <a:pt x="4825086" y="0"/>
                  </a:moveTo>
                  <a:lnTo>
                    <a:pt x="84016" y="0"/>
                  </a:lnTo>
                  <a:lnTo>
                    <a:pt x="51394" y="6629"/>
                  </a:lnTo>
                  <a:lnTo>
                    <a:pt x="24679" y="24680"/>
                  </a:lnTo>
                  <a:lnTo>
                    <a:pt x="6629" y="51394"/>
                  </a:lnTo>
                  <a:lnTo>
                    <a:pt x="0" y="84016"/>
                  </a:lnTo>
                  <a:lnTo>
                    <a:pt x="0" y="1246244"/>
                  </a:lnTo>
                  <a:lnTo>
                    <a:pt x="6629" y="1278866"/>
                  </a:lnTo>
                  <a:lnTo>
                    <a:pt x="24679" y="1305581"/>
                  </a:lnTo>
                  <a:lnTo>
                    <a:pt x="51394" y="1323632"/>
                  </a:lnTo>
                  <a:lnTo>
                    <a:pt x="84016" y="1330261"/>
                  </a:lnTo>
                  <a:lnTo>
                    <a:pt x="4825086" y="1330261"/>
                  </a:lnTo>
                  <a:lnTo>
                    <a:pt x="4857708" y="1323632"/>
                  </a:lnTo>
                  <a:lnTo>
                    <a:pt x="4884423" y="1305581"/>
                  </a:lnTo>
                  <a:lnTo>
                    <a:pt x="4902474" y="1278866"/>
                  </a:lnTo>
                  <a:lnTo>
                    <a:pt x="4909103" y="1246244"/>
                  </a:lnTo>
                  <a:lnTo>
                    <a:pt x="4909103" y="84016"/>
                  </a:lnTo>
                  <a:lnTo>
                    <a:pt x="4902474" y="51394"/>
                  </a:lnTo>
                  <a:lnTo>
                    <a:pt x="4884423" y="24680"/>
                  </a:lnTo>
                  <a:lnTo>
                    <a:pt x="4857708" y="6629"/>
                  </a:lnTo>
                  <a:lnTo>
                    <a:pt x="482508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3" name="object 13"/>
            <p:cNvSpPr/>
            <p:nvPr/>
          </p:nvSpPr>
          <p:spPr>
            <a:xfrm>
              <a:off x="522284" y="1514804"/>
              <a:ext cx="4909185" cy="1330325"/>
            </a:xfrm>
            <a:custGeom>
              <a:avLst/>
              <a:gdLst/>
              <a:ahLst/>
              <a:cxnLst/>
              <a:rect l="l" t="t" r="r" b="b"/>
              <a:pathLst>
                <a:path w="4909185" h="1330325">
                  <a:moveTo>
                    <a:pt x="84016" y="0"/>
                  </a:moveTo>
                  <a:lnTo>
                    <a:pt x="4825086" y="0"/>
                  </a:lnTo>
                  <a:lnTo>
                    <a:pt x="4857708" y="6629"/>
                  </a:lnTo>
                  <a:lnTo>
                    <a:pt x="4884423" y="24680"/>
                  </a:lnTo>
                  <a:lnTo>
                    <a:pt x="4902474" y="51394"/>
                  </a:lnTo>
                  <a:lnTo>
                    <a:pt x="4909103" y="84016"/>
                  </a:lnTo>
                  <a:lnTo>
                    <a:pt x="4909103" y="1246244"/>
                  </a:lnTo>
                  <a:lnTo>
                    <a:pt x="4902474" y="1278866"/>
                  </a:lnTo>
                  <a:lnTo>
                    <a:pt x="4884423" y="1305581"/>
                  </a:lnTo>
                  <a:lnTo>
                    <a:pt x="4857708" y="1323632"/>
                  </a:lnTo>
                  <a:lnTo>
                    <a:pt x="4825086" y="1330261"/>
                  </a:lnTo>
                  <a:lnTo>
                    <a:pt x="84016" y="1330261"/>
                  </a:lnTo>
                  <a:lnTo>
                    <a:pt x="51394" y="1323632"/>
                  </a:lnTo>
                  <a:lnTo>
                    <a:pt x="24679" y="1305581"/>
                  </a:lnTo>
                  <a:lnTo>
                    <a:pt x="6629" y="1278866"/>
                  </a:lnTo>
                  <a:lnTo>
                    <a:pt x="0" y="1246244"/>
                  </a:lnTo>
                  <a:lnTo>
                    <a:pt x="0" y="84016"/>
                  </a:lnTo>
                  <a:lnTo>
                    <a:pt x="6629" y="51394"/>
                  </a:lnTo>
                  <a:lnTo>
                    <a:pt x="24679" y="24680"/>
                  </a:lnTo>
                  <a:lnTo>
                    <a:pt x="51394" y="6629"/>
                  </a:lnTo>
                  <a:lnTo>
                    <a:pt x="84016" y="0"/>
                  </a:lnTo>
                  <a:close/>
                </a:path>
              </a:pathLst>
            </a:custGeom>
            <a:ln w="7199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963390" y="1575546"/>
              <a:ext cx="0" cy="1223645"/>
            </a:xfrm>
            <a:custGeom>
              <a:avLst/>
              <a:gdLst/>
              <a:ahLst/>
              <a:cxnLst/>
              <a:rect l="l" t="t" r="r" b="b"/>
              <a:pathLst>
                <a:path h="1223645">
                  <a:moveTo>
                    <a:pt x="0" y="0"/>
                  </a:moveTo>
                  <a:lnTo>
                    <a:pt x="0" y="1223172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963390" y="1755338"/>
              <a:ext cx="0" cy="838835"/>
            </a:xfrm>
            <a:custGeom>
              <a:avLst/>
              <a:gdLst/>
              <a:ahLst/>
              <a:cxnLst/>
              <a:rect l="l" t="t" r="r" b="b"/>
              <a:pathLst>
                <a:path h="838835">
                  <a:moveTo>
                    <a:pt x="0" y="0"/>
                  </a:moveTo>
                  <a:lnTo>
                    <a:pt x="0" y="838616"/>
                  </a:lnTo>
                </a:path>
              </a:pathLst>
            </a:custGeom>
            <a:ln w="27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014710" y="1538665"/>
            <a:ext cx="2409754" cy="109388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130"/>
              </a:spcBef>
            </a:pPr>
            <a:r>
              <a:rPr sz="1400" dirty="0">
                <a:solidFill>
                  <a:srgbClr val="3C2B98"/>
                </a:solidFill>
                <a:latin typeface="Tahoma"/>
                <a:cs typeface="Tahoma"/>
              </a:rPr>
              <a:t>Маҳалла</a:t>
            </a:r>
            <a:r>
              <a:rPr sz="1400" spc="-5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3C2B98"/>
                </a:solidFill>
                <a:latin typeface="Tahoma"/>
                <a:cs typeface="Tahoma"/>
              </a:rPr>
              <a:t>банкири</a:t>
            </a:r>
            <a:endParaRPr sz="14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lang="uz-Cyrl-UZ" sz="1400" b="1" spc="-110" dirty="0">
                <a:solidFill>
                  <a:srgbClr val="16387F"/>
                </a:solidFill>
                <a:latin typeface="Arial"/>
                <a:cs typeface="Arial"/>
              </a:rPr>
              <a:t>Рашидов Наврўз Ўткир ўғли</a:t>
            </a:r>
            <a:endParaRPr lang="en-US" sz="1400" b="1" spc="-110" dirty="0">
              <a:solidFill>
                <a:srgbClr val="16387F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400" dirty="0" err="1">
                <a:solidFill>
                  <a:srgbClr val="3C2B98"/>
                </a:solidFill>
                <a:latin typeface="Tahoma"/>
                <a:cs typeface="Tahoma"/>
              </a:rPr>
              <a:t>Ёрдамчи</a:t>
            </a:r>
            <a:r>
              <a:rPr sz="1400" spc="-70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400" spc="-10" dirty="0" err="1">
                <a:solidFill>
                  <a:srgbClr val="3C2B98"/>
                </a:solidFill>
                <a:latin typeface="Tahoma"/>
                <a:cs typeface="Tahoma"/>
              </a:rPr>
              <a:t>агент</a:t>
            </a:r>
            <a:endParaRPr sz="1400" dirty="0">
              <a:latin typeface="Tahoma"/>
              <a:cs typeface="Tahoma"/>
            </a:endParaRPr>
          </a:p>
          <a:p>
            <a:pPr marL="19685">
              <a:lnSpc>
                <a:spcPct val="100000"/>
              </a:lnSpc>
              <a:spcBef>
                <a:spcPts val="35"/>
              </a:spcBef>
            </a:pPr>
            <a:r>
              <a:rPr lang="ru-RU" sz="1400" b="1" spc="-100" dirty="0">
                <a:solidFill>
                  <a:srgbClr val="16387F"/>
                </a:solidFill>
                <a:latin typeface="Arial"/>
                <a:cs typeface="Arial"/>
              </a:rPr>
              <a:t>Турсунов </a:t>
            </a:r>
            <a:r>
              <a:rPr lang="ru-RU" sz="1400" b="1" spc="-100" dirty="0" err="1">
                <a:solidFill>
                  <a:srgbClr val="16387F"/>
                </a:solidFill>
                <a:latin typeface="Arial"/>
                <a:cs typeface="Arial"/>
              </a:rPr>
              <a:t>Мехрўз</a:t>
            </a:r>
            <a:r>
              <a:rPr lang="ru-RU" sz="1400" b="1" spc="-100" dirty="0">
                <a:solidFill>
                  <a:srgbClr val="16387F"/>
                </a:solidFill>
                <a:latin typeface="Arial"/>
                <a:cs typeface="Arial"/>
              </a:rPr>
              <a:t> </a:t>
            </a:r>
            <a:r>
              <a:rPr lang="ru-RU" sz="1400" b="1" spc="-100" dirty="0" err="1">
                <a:solidFill>
                  <a:srgbClr val="16387F"/>
                </a:solidFill>
                <a:latin typeface="Arial"/>
                <a:cs typeface="Arial"/>
              </a:rPr>
              <a:t>Абдивали</a:t>
            </a:r>
            <a:r>
              <a:rPr lang="ru-RU" sz="1400" b="1" spc="-100" dirty="0">
                <a:solidFill>
                  <a:srgbClr val="16387F"/>
                </a:solidFill>
                <a:latin typeface="Arial"/>
                <a:cs typeface="Arial"/>
              </a:rPr>
              <a:t> </a:t>
            </a:r>
            <a:r>
              <a:rPr lang="ru-RU" sz="1400" b="1" spc="-100" dirty="0" err="1">
                <a:solidFill>
                  <a:srgbClr val="16387F"/>
                </a:solidFill>
                <a:latin typeface="Arial"/>
                <a:cs typeface="Arial"/>
              </a:rPr>
              <a:t>ўғли</a:t>
            </a:r>
            <a:endParaRPr lang="ru-RU" sz="1400" dirty="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01452" y="1601181"/>
            <a:ext cx="2059305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spc="-50" dirty="0">
                <a:solidFill>
                  <a:srgbClr val="3C2B98"/>
                </a:solidFill>
                <a:latin typeface="Tahoma"/>
                <a:cs typeface="Tahoma"/>
              </a:rPr>
              <a:t>БИРИКТИРИЛГАН</a:t>
            </a:r>
            <a:r>
              <a:rPr sz="1550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550" spc="-20" dirty="0">
                <a:solidFill>
                  <a:srgbClr val="3C2B98"/>
                </a:solidFill>
                <a:latin typeface="Tahoma"/>
                <a:cs typeface="Tahoma"/>
              </a:rPr>
              <a:t>БАНК</a:t>
            </a:r>
            <a:endParaRPr sz="1550" dirty="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60945" y="1913120"/>
            <a:ext cx="2228324" cy="77457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ru-RU" sz="1650" b="1" spc="-120" dirty="0">
                <a:solidFill>
                  <a:srgbClr val="16387F"/>
                </a:solidFill>
                <a:latin typeface="Arial"/>
                <a:cs typeface="Arial"/>
              </a:rPr>
              <a:t>“</a:t>
            </a:r>
            <a:r>
              <a:rPr lang="uz-Cyrl-UZ" sz="1650" b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ТуронБанк</a:t>
            </a:r>
            <a:r>
              <a:rPr lang="ru-RU" sz="1650" b="1" spc="-12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”АТБ </a:t>
            </a:r>
            <a:r>
              <a:rPr lang="ru-RU" sz="1650" b="1" spc="-120" dirty="0" err="1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Тошкент</a:t>
            </a:r>
            <a:r>
              <a:rPr lang="ru-RU" sz="1650" b="1" spc="-12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650" b="1" spc="-120" dirty="0" err="1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шахар</a:t>
            </a:r>
            <a:r>
              <a:rPr lang="ru-RU" sz="1650" b="1" spc="-12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uz-Cyrl-UZ" sz="1650" b="1" spc="-45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Чилонзор </a:t>
            </a:r>
            <a:r>
              <a:rPr lang="ru-RU" sz="1650" b="1" spc="-12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БХ</a:t>
            </a:r>
            <a:r>
              <a:rPr lang="en-US" sz="1650" b="1" spc="-12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endParaRPr sz="1650" b="1" dirty="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8042079" y="1507802"/>
            <a:ext cx="6524625" cy="1336040"/>
            <a:chOff x="8042079" y="1507802"/>
            <a:chExt cx="6524625" cy="1336040"/>
          </a:xfrm>
        </p:grpSpPr>
        <p:sp>
          <p:nvSpPr>
            <p:cNvPr id="21" name="object 21"/>
            <p:cNvSpPr/>
            <p:nvPr/>
          </p:nvSpPr>
          <p:spPr>
            <a:xfrm>
              <a:off x="8069525" y="1533365"/>
              <a:ext cx="2071370" cy="1306195"/>
            </a:xfrm>
            <a:custGeom>
              <a:avLst/>
              <a:gdLst/>
              <a:ahLst/>
              <a:cxnLst/>
              <a:rect l="l" t="t" r="r" b="b"/>
              <a:pathLst>
                <a:path w="2071370" h="1306195">
                  <a:moveTo>
                    <a:pt x="1988672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2" y="24232"/>
                  </a:lnTo>
                  <a:lnTo>
                    <a:pt x="6509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9" y="1255712"/>
                  </a:lnTo>
                  <a:lnTo>
                    <a:pt x="24232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1988672" y="1306174"/>
                  </a:lnTo>
                  <a:lnTo>
                    <a:pt x="2020704" y="1299665"/>
                  </a:lnTo>
                  <a:lnTo>
                    <a:pt x="2046935" y="1281943"/>
                  </a:lnTo>
                  <a:lnTo>
                    <a:pt x="2064657" y="1255712"/>
                  </a:lnTo>
                  <a:lnTo>
                    <a:pt x="2071166" y="1223680"/>
                  </a:lnTo>
                  <a:lnTo>
                    <a:pt x="2071166" y="82494"/>
                  </a:lnTo>
                  <a:lnTo>
                    <a:pt x="2064657" y="50462"/>
                  </a:lnTo>
                  <a:lnTo>
                    <a:pt x="2046935" y="24232"/>
                  </a:lnTo>
                  <a:lnTo>
                    <a:pt x="2020704" y="6509"/>
                  </a:lnTo>
                  <a:lnTo>
                    <a:pt x="19886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69525" y="2526148"/>
              <a:ext cx="2071166" cy="313391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8069525" y="1533365"/>
              <a:ext cx="2071370" cy="1306195"/>
            </a:xfrm>
            <a:custGeom>
              <a:avLst/>
              <a:gdLst/>
              <a:ahLst/>
              <a:cxnLst/>
              <a:rect l="l" t="t" r="r" b="b"/>
              <a:pathLst>
                <a:path w="2071370" h="1306195">
                  <a:moveTo>
                    <a:pt x="1988672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2" y="24232"/>
                  </a:lnTo>
                  <a:lnTo>
                    <a:pt x="6509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9" y="1255712"/>
                  </a:lnTo>
                  <a:lnTo>
                    <a:pt x="24232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1988672" y="1306174"/>
                  </a:lnTo>
                  <a:lnTo>
                    <a:pt x="2020704" y="1299665"/>
                  </a:lnTo>
                  <a:lnTo>
                    <a:pt x="2046935" y="1281943"/>
                  </a:lnTo>
                  <a:lnTo>
                    <a:pt x="2064657" y="1255712"/>
                  </a:lnTo>
                  <a:lnTo>
                    <a:pt x="2071166" y="1223680"/>
                  </a:lnTo>
                  <a:lnTo>
                    <a:pt x="2071166" y="82494"/>
                  </a:lnTo>
                  <a:lnTo>
                    <a:pt x="2064657" y="50462"/>
                  </a:lnTo>
                  <a:lnTo>
                    <a:pt x="2046935" y="24232"/>
                  </a:lnTo>
                  <a:lnTo>
                    <a:pt x="2020704" y="6509"/>
                  </a:lnTo>
                  <a:lnTo>
                    <a:pt x="1988672" y="0"/>
                  </a:lnTo>
                  <a:close/>
                </a:path>
              </a:pathLst>
            </a:custGeom>
            <a:ln w="7199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0280480" y="1533365"/>
              <a:ext cx="2071370" cy="1306195"/>
            </a:xfrm>
            <a:custGeom>
              <a:avLst/>
              <a:gdLst/>
              <a:ahLst/>
              <a:cxnLst/>
              <a:rect l="l" t="t" r="r" b="b"/>
              <a:pathLst>
                <a:path w="2071370" h="1306195">
                  <a:moveTo>
                    <a:pt x="1988672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1" y="24232"/>
                  </a:lnTo>
                  <a:lnTo>
                    <a:pt x="6508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8" y="1255712"/>
                  </a:lnTo>
                  <a:lnTo>
                    <a:pt x="24231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1988672" y="1306174"/>
                  </a:lnTo>
                  <a:lnTo>
                    <a:pt x="2020704" y="1299665"/>
                  </a:lnTo>
                  <a:lnTo>
                    <a:pt x="2046935" y="1281943"/>
                  </a:lnTo>
                  <a:lnTo>
                    <a:pt x="2064657" y="1255712"/>
                  </a:lnTo>
                  <a:lnTo>
                    <a:pt x="2071166" y="1223680"/>
                  </a:lnTo>
                  <a:lnTo>
                    <a:pt x="2071166" y="82494"/>
                  </a:lnTo>
                  <a:lnTo>
                    <a:pt x="2064657" y="50462"/>
                  </a:lnTo>
                  <a:lnTo>
                    <a:pt x="2046935" y="24232"/>
                  </a:lnTo>
                  <a:lnTo>
                    <a:pt x="2020704" y="6509"/>
                  </a:lnTo>
                  <a:lnTo>
                    <a:pt x="19886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0280480" y="2526148"/>
              <a:ext cx="2071370" cy="313690"/>
            </a:xfrm>
            <a:custGeom>
              <a:avLst/>
              <a:gdLst/>
              <a:ahLst/>
              <a:cxnLst/>
              <a:rect l="l" t="t" r="r" b="b"/>
              <a:pathLst>
                <a:path w="2071370" h="313689">
                  <a:moveTo>
                    <a:pt x="2071166" y="0"/>
                  </a:moveTo>
                  <a:lnTo>
                    <a:pt x="0" y="0"/>
                  </a:lnTo>
                  <a:lnTo>
                    <a:pt x="0" y="230897"/>
                  </a:lnTo>
                  <a:lnTo>
                    <a:pt x="6508" y="262929"/>
                  </a:lnTo>
                  <a:lnTo>
                    <a:pt x="24231" y="289159"/>
                  </a:lnTo>
                  <a:lnTo>
                    <a:pt x="50462" y="306882"/>
                  </a:lnTo>
                  <a:lnTo>
                    <a:pt x="82494" y="313391"/>
                  </a:lnTo>
                  <a:lnTo>
                    <a:pt x="1988672" y="313391"/>
                  </a:lnTo>
                  <a:lnTo>
                    <a:pt x="2020704" y="306882"/>
                  </a:lnTo>
                  <a:lnTo>
                    <a:pt x="2046935" y="289159"/>
                  </a:lnTo>
                  <a:lnTo>
                    <a:pt x="2064657" y="262929"/>
                  </a:lnTo>
                  <a:lnTo>
                    <a:pt x="2071166" y="230897"/>
                  </a:lnTo>
                  <a:lnTo>
                    <a:pt x="2071166" y="0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0280480" y="1533365"/>
              <a:ext cx="2071370" cy="1306195"/>
            </a:xfrm>
            <a:custGeom>
              <a:avLst/>
              <a:gdLst/>
              <a:ahLst/>
              <a:cxnLst/>
              <a:rect l="l" t="t" r="r" b="b"/>
              <a:pathLst>
                <a:path w="2071370" h="1306195">
                  <a:moveTo>
                    <a:pt x="1988672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1" y="24232"/>
                  </a:lnTo>
                  <a:lnTo>
                    <a:pt x="6508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8" y="1255712"/>
                  </a:lnTo>
                  <a:lnTo>
                    <a:pt x="24231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1988672" y="1306174"/>
                  </a:lnTo>
                  <a:lnTo>
                    <a:pt x="2020704" y="1299665"/>
                  </a:lnTo>
                  <a:lnTo>
                    <a:pt x="2046935" y="1281943"/>
                  </a:lnTo>
                  <a:lnTo>
                    <a:pt x="2064657" y="1255712"/>
                  </a:lnTo>
                  <a:lnTo>
                    <a:pt x="2071166" y="1223680"/>
                  </a:lnTo>
                  <a:lnTo>
                    <a:pt x="2071166" y="82494"/>
                  </a:lnTo>
                  <a:lnTo>
                    <a:pt x="2064657" y="50462"/>
                  </a:lnTo>
                  <a:lnTo>
                    <a:pt x="2046935" y="24232"/>
                  </a:lnTo>
                  <a:lnTo>
                    <a:pt x="2020704" y="6509"/>
                  </a:lnTo>
                  <a:lnTo>
                    <a:pt x="1988672" y="0"/>
                  </a:lnTo>
                  <a:close/>
                </a:path>
              </a:pathLst>
            </a:custGeom>
            <a:ln w="7199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2491428" y="1533365"/>
              <a:ext cx="2071370" cy="1306195"/>
            </a:xfrm>
            <a:custGeom>
              <a:avLst/>
              <a:gdLst/>
              <a:ahLst/>
              <a:cxnLst/>
              <a:rect l="l" t="t" r="r" b="b"/>
              <a:pathLst>
                <a:path w="2071369" h="1306195">
                  <a:moveTo>
                    <a:pt x="1988672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1" y="24232"/>
                  </a:lnTo>
                  <a:lnTo>
                    <a:pt x="6508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8" y="1255712"/>
                  </a:lnTo>
                  <a:lnTo>
                    <a:pt x="24231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1988672" y="1306174"/>
                  </a:lnTo>
                  <a:lnTo>
                    <a:pt x="2020704" y="1299665"/>
                  </a:lnTo>
                  <a:lnTo>
                    <a:pt x="2046934" y="1281943"/>
                  </a:lnTo>
                  <a:lnTo>
                    <a:pt x="2064656" y="1255712"/>
                  </a:lnTo>
                  <a:lnTo>
                    <a:pt x="2071165" y="1223680"/>
                  </a:lnTo>
                  <a:lnTo>
                    <a:pt x="2071165" y="82494"/>
                  </a:lnTo>
                  <a:lnTo>
                    <a:pt x="2064656" y="50462"/>
                  </a:lnTo>
                  <a:lnTo>
                    <a:pt x="2046934" y="24232"/>
                  </a:lnTo>
                  <a:lnTo>
                    <a:pt x="2020704" y="6509"/>
                  </a:lnTo>
                  <a:lnTo>
                    <a:pt x="19886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2491428" y="2526148"/>
              <a:ext cx="2071370" cy="313690"/>
            </a:xfrm>
            <a:custGeom>
              <a:avLst/>
              <a:gdLst/>
              <a:ahLst/>
              <a:cxnLst/>
              <a:rect l="l" t="t" r="r" b="b"/>
              <a:pathLst>
                <a:path w="2071369" h="313689">
                  <a:moveTo>
                    <a:pt x="2071165" y="0"/>
                  </a:moveTo>
                  <a:lnTo>
                    <a:pt x="0" y="0"/>
                  </a:lnTo>
                  <a:lnTo>
                    <a:pt x="0" y="230897"/>
                  </a:lnTo>
                  <a:lnTo>
                    <a:pt x="6508" y="262929"/>
                  </a:lnTo>
                  <a:lnTo>
                    <a:pt x="24231" y="289159"/>
                  </a:lnTo>
                  <a:lnTo>
                    <a:pt x="50462" y="306882"/>
                  </a:lnTo>
                  <a:lnTo>
                    <a:pt x="82494" y="313391"/>
                  </a:lnTo>
                  <a:lnTo>
                    <a:pt x="1988672" y="313391"/>
                  </a:lnTo>
                  <a:lnTo>
                    <a:pt x="2020704" y="306882"/>
                  </a:lnTo>
                  <a:lnTo>
                    <a:pt x="2046934" y="289159"/>
                  </a:lnTo>
                  <a:lnTo>
                    <a:pt x="2064656" y="262929"/>
                  </a:lnTo>
                  <a:lnTo>
                    <a:pt x="2071165" y="230897"/>
                  </a:lnTo>
                  <a:lnTo>
                    <a:pt x="2071165" y="0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9" name="object 29"/>
            <p:cNvSpPr/>
            <p:nvPr/>
          </p:nvSpPr>
          <p:spPr>
            <a:xfrm>
              <a:off x="12491428" y="1533365"/>
              <a:ext cx="2071370" cy="1306195"/>
            </a:xfrm>
            <a:custGeom>
              <a:avLst/>
              <a:gdLst/>
              <a:ahLst/>
              <a:cxnLst/>
              <a:rect l="l" t="t" r="r" b="b"/>
              <a:pathLst>
                <a:path w="2071369" h="1306195">
                  <a:moveTo>
                    <a:pt x="1988672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1" y="24232"/>
                  </a:lnTo>
                  <a:lnTo>
                    <a:pt x="6508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8" y="1255712"/>
                  </a:lnTo>
                  <a:lnTo>
                    <a:pt x="24231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1988672" y="1306174"/>
                  </a:lnTo>
                  <a:lnTo>
                    <a:pt x="2020704" y="1299665"/>
                  </a:lnTo>
                  <a:lnTo>
                    <a:pt x="2046934" y="1281943"/>
                  </a:lnTo>
                  <a:lnTo>
                    <a:pt x="2064656" y="1255712"/>
                  </a:lnTo>
                  <a:lnTo>
                    <a:pt x="2071165" y="1223680"/>
                  </a:lnTo>
                  <a:lnTo>
                    <a:pt x="2071165" y="82494"/>
                  </a:lnTo>
                  <a:lnTo>
                    <a:pt x="2064656" y="50462"/>
                  </a:lnTo>
                  <a:lnTo>
                    <a:pt x="2046934" y="24232"/>
                  </a:lnTo>
                  <a:lnTo>
                    <a:pt x="2020704" y="6509"/>
                  </a:lnTo>
                  <a:lnTo>
                    <a:pt x="1988672" y="0"/>
                  </a:lnTo>
                  <a:close/>
                </a:path>
              </a:pathLst>
            </a:custGeom>
            <a:ln w="7199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42079" y="1507802"/>
              <a:ext cx="281397" cy="267976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246623" y="1507802"/>
              <a:ext cx="281397" cy="267976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460330" y="1507802"/>
              <a:ext cx="281397" cy="267976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8379086" y="1544585"/>
            <a:ext cx="5794375" cy="27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422525" algn="l"/>
                <a:tab pos="4466590" algn="l"/>
              </a:tabLst>
            </a:pPr>
            <a:r>
              <a:rPr sz="1600" b="1" spc="-10" dirty="0">
                <a:solidFill>
                  <a:srgbClr val="16387F"/>
                </a:solidFill>
                <a:latin typeface="Arial"/>
                <a:cs typeface="Arial"/>
              </a:rPr>
              <a:t>Тадбиркорлик</a:t>
            </a:r>
            <a:r>
              <a:rPr sz="1600" b="1" dirty="0">
                <a:solidFill>
                  <a:srgbClr val="16387F"/>
                </a:solidFill>
                <a:latin typeface="Arial"/>
                <a:cs typeface="Arial"/>
              </a:rPr>
              <a:t>	</a:t>
            </a:r>
            <a:r>
              <a:rPr sz="1600" b="1" spc="-10" dirty="0">
                <a:solidFill>
                  <a:srgbClr val="16387F"/>
                </a:solidFill>
                <a:latin typeface="Arial"/>
                <a:cs typeface="Arial"/>
              </a:rPr>
              <a:t>Ишсизлик</a:t>
            </a:r>
            <a:r>
              <a:rPr sz="1600" b="1" dirty="0">
                <a:solidFill>
                  <a:srgbClr val="16387F"/>
                </a:solidFill>
                <a:latin typeface="Arial"/>
                <a:cs typeface="Arial"/>
              </a:rPr>
              <a:t>	</a:t>
            </a:r>
            <a:r>
              <a:rPr sz="1600" b="1" spc="-10" dirty="0">
                <a:solidFill>
                  <a:srgbClr val="16387F"/>
                </a:solidFill>
                <a:latin typeface="Arial"/>
                <a:cs typeface="Arial"/>
              </a:rPr>
              <a:t>Камбағаллик</a:t>
            </a:r>
            <a:endParaRPr sz="160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9124581" y="1867881"/>
            <a:ext cx="4432300" cy="647065"/>
          </a:xfrm>
          <a:custGeom>
            <a:avLst/>
            <a:gdLst/>
            <a:ahLst/>
            <a:cxnLst/>
            <a:rect l="l" t="t" r="r" b="b"/>
            <a:pathLst>
              <a:path w="4432300" h="647064">
                <a:moveTo>
                  <a:pt x="0" y="0"/>
                </a:moveTo>
                <a:lnTo>
                  <a:pt x="0" y="646526"/>
                </a:lnTo>
              </a:path>
              <a:path w="4432300" h="647064">
                <a:moveTo>
                  <a:pt x="2211386" y="0"/>
                </a:moveTo>
                <a:lnTo>
                  <a:pt x="2211386" y="646526"/>
                </a:lnTo>
              </a:path>
              <a:path w="4432300" h="647064">
                <a:moveTo>
                  <a:pt x="4432114" y="0"/>
                </a:moveTo>
                <a:lnTo>
                  <a:pt x="4432114" y="646526"/>
                </a:lnTo>
              </a:path>
            </a:pathLst>
          </a:custGeom>
          <a:ln w="9000">
            <a:solidFill>
              <a:srgbClr val="00A3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8091662" y="1773819"/>
            <a:ext cx="2013746" cy="4860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223770" algn="l"/>
                <a:tab pos="4444365" algn="l"/>
              </a:tabLst>
            </a:pPr>
            <a:r>
              <a:rPr lang="en-US" sz="3050" b="1" spc="-25" dirty="0">
                <a:solidFill>
                  <a:srgbClr val="16387F"/>
                </a:solidFill>
                <a:latin typeface="Arial"/>
                <a:cs typeface="Arial"/>
              </a:rPr>
              <a:t>297</a:t>
            </a:r>
            <a:r>
              <a:rPr sz="2100" spc="-35" dirty="0">
                <a:solidFill>
                  <a:srgbClr val="16387F"/>
                </a:solidFill>
                <a:latin typeface="Microsoft Sans Serif"/>
                <a:cs typeface="Microsoft Sans Serif"/>
              </a:rPr>
              <a:t>та</a:t>
            </a:r>
            <a:endParaRPr sz="2100" dirty="0">
              <a:latin typeface="Microsoft Sans Serif"/>
              <a:cs typeface="Microsoft Sans Serif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130756" y="1769888"/>
            <a:ext cx="1135122" cy="4860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223770" algn="l"/>
                <a:tab pos="4444365" algn="l"/>
              </a:tabLst>
            </a:pPr>
            <a:r>
              <a:rPr lang="en-US" sz="3050" b="1" spc="-25" dirty="0">
                <a:solidFill>
                  <a:srgbClr val="16387F"/>
                </a:solidFill>
                <a:latin typeface="Arial"/>
                <a:cs typeface="Arial"/>
              </a:rPr>
              <a:t>329</a:t>
            </a:r>
            <a:r>
              <a:rPr sz="3050" b="1" spc="-254" dirty="0">
                <a:solidFill>
                  <a:srgbClr val="16387F"/>
                </a:solidFill>
                <a:latin typeface="Arial"/>
                <a:cs typeface="Arial"/>
              </a:rPr>
              <a:t> </a:t>
            </a:r>
            <a:r>
              <a:rPr sz="2100" spc="-35" dirty="0">
                <a:solidFill>
                  <a:srgbClr val="16387F"/>
                </a:solidFill>
                <a:latin typeface="Microsoft Sans Serif"/>
                <a:cs typeface="Microsoft Sans Serif"/>
              </a:rPr>
              <a:t>т</a:t>
            </a:r>
            <a:r>
              <a:rPr lang="uz-Cyrl-UZ" sz="2100" spc="-35" dirty="0">
                <a:solidFill>
                  <a:srgbClr val="16387F"/>
                </a:solidFill>
                <a:latin typeface="Microsoft Sans Serif"/>
                <a:cs typeface="Microsoft Sans Serif"/>
              </a:rPr>
              <a:t>а</a:t>
            </a:r>
            <a:endParaRPr sz="2100" dirty="0">
              <a:latin typeface="Microsoft Sans Serif"/>
              <a:cs typeface="Microsoft Sans Serif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121652" y="2279753"/>
            <a:ext cx="4037329" cy="80342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5"/>
              </a:spcBef>
              <a:tabLst>
                <a:tab pos="1064260" algn="l"/>
                <a:tab pos="2223770" algn="l"/>
                <a:tab pos="3275965" algn="l"/>
              </a:tabLst>
            </a:pPr>
            <a:r>
              <a:rPr sz="1200" spc="-10" dirty="0">
                <a:solidFill>
                  <a:srgbClr val="3C2B98"/>
                </a:solidFill>
                <a:latin typeface="Tahoma"/>
                <a:cs typeface="Tahoma"/>
              </a:rPr>
              <a:t>01.01.202</a:t>
            </a:r>
            <a:r>
              <a:rPr lang="uz-Cyrl-UZ" sz="1200" spc="-10" dirty="0">
                <a:solidFill>
                  <a:srgbClr val="3C2B98"/>
                </a:solidFill>
                <a:latin typeface="Tahoma"/>
                <a:cs typeface="Tahoma"/>
              </a:rPr>
              <a:t>6</a:t>
            </a:r>
            <a:r>
              <a:rPr sz="1200" dirty="0">
                <a:solidFill>
                  <a:srgbClr val="3C2B98"/>
                </a:solidFill>
                <a:latin typeface="Tahoma"/>
                <a:cs typeface="Tahoma"/>
              </a:rPr>
              <a:t>	</a:t>
            </a:r>
            <a:r>
              <a:rPr lang="uz-Cyrl-UZ" sz="1200" dirty="0">
                <a:solidFill>
                  <a:srgbClr val="3C2B98"/>
                </a:solidFill>
                <a:latin typeface="Tahoma"/>
                <a:cs typeface="Tahoma"/>
              </a:rPr>
              <a:t>01.0</a:t>
            </a:r>
            <a:r>
              <a:rPr lang="en-US" sz="1200" dirty="0">
                <a:solidFill>
                  <a:srgbClr val="3C2B98"/>
                </a:solidFill>
                <a:latin typeface="Tahoma"/>
                <a:cs typeface="Tahoma"/>
              </a:rPr>
              <a:t>5</a:t>
            </a:r>
            <a:r>
              <a:rPr sz="1200" spc="-10" dirty="0">
                <a:solidFill>
                  <a:srgbClr val="3C2B98"/>
                </a:solidFill>
                <a:latin typeface="Tahoma"/>
                <a:cs typeface="Tahoma"/>
              </a:rPr>
              <a:t>.202</a:t>
            </a:r>
            <a:r>
              <a:rPr lang="uz-Cyrl-UZ" sz="1200" spc="-10" dirty="0">
                <a:solidFill>
                  <a:srgbClr val="3C2B98"/>
                </a:solidFill>
                <a:latin typeface="Tahoma"/>
                <a:cs typeface="Tahoma"/>
              </a:rPr>
              <a:t>6</a:t>
            </a:r>
            <a:r>
              <a:rPr sz="1200" dirty="0">
                <a:solidFill>
                  <a:srgbClr val="3C2B98"/>
                </a:solidFill>
                <a:latin typeface="Tahoma"/>
                <a:cs typeface="Tahoma"/>
              </a:rPr>
              <a:t>	</a:t>
            </a:r>
            <a:r>
              <a:rPr sz="1200" spc="-10" dirty="0">
                <a:solidFill>
                  <a:srgbClr val="3C2B98"/>
                </a:solidFill>
                <a:latin typeface="Tahoma"/>
                <a:cs typeface="Tahoma"/>
              </a:rPr>
              <a:t>01.01.202</a:t>
            </a:r>
            <a:r>
              <a:rPr lang="uz-Cyrl-UZ" sz="1200" spc="-10" dirty="0">
                <a:solidFill>
                  <a:srgbClr val="3C2B98"/>
                </a:solidFill>
                <a:latin typeface="Tahoma"/>
                <a:cs typeface="Tahoma"/>
              </a:rPr>
              <a:t>6</a:t>
            </a:r>
            <a:r>
              <a:rPr sz="1200" dirty="0">
                <a:solidFill>
                  <a:srgbClr val="3C2B98"/>
                </a:solidFill>
                <a:latin typeface="Tahoma"/>
                <a:cs typeface="Tahoma"/>
              </a:rPr>
              <a:t>	</a:t>
            </a:r>
            <a:r>
              <a:rPr lang="uz-Cyrl-UZ" sz="1200" dirty="0">
                <a:solidFill>
                  <a:srgbClr val="3C2B98"/>
                </a:solidFill>
                <a:latin typeface="Tahoma"/>
                <a:cs typeface="Tahoma"/>
              </a:rPr>
              <a:t>01</a:t>
            </a:r>
            <a:r>
              <a:rPr sz="1200" spc="-10" dirty="0">
                <a:solidFill>
                  <a:srgbClr val="3C2B98"/>
                </a:solidFill>
                <a:latin typeface="Tahoma"/>
                <a:cs typeface="Tahoma"/>
              </a:rPr>
              <a:t>.</a:t>
            </a:r>
            <a:r>
              <a:rPr lang="ru-RU" sz="1200" spc="-10" dirty="0">
                <a:solidFill>
                  <a:srgbClr val="3C2B98"/>
                </a:solidFill>
                <a:latin typeface="Tahoma"/>
                <a:cs typeface="Tahoma"/>
              </a:rPr>
              <a:t>0</a:t>
            </a:r>
            <a:r>
              <a:rPr lang="en-US" sz="1200" spc="-10" dirty="0">
                <a:solidFill>
                  <a:srgbClr val="3C2B98"/>
                </a:solidFill>
                <a:latin typeface="Tahoma"/>
                <a:cs typeface="Tahoma"/>
              </a:rPr>
              <a:t>5</a:t>
            </a:r>
            <a:r>
              <a:rPr sz="1200" spc="-10" dirty="0">
                <a:solidFill>
                  <a:srgbClr val="3C2B98"/>
                </a:solidFill>
                <a:latin typeface="Tahoma"/>
                <a:cs typeface="Tahoma"/>
              </a:rPr>
              <a:t>.202</a:t>
            </a:r>
            <a:r>
              <a:rPr lang="uz-Cyrl-UZ" sz="1200" spc="-10" dirty="0">
                <a:solidFill>
                  <a:srgbClr val="3C2B98"/>
                </a:solidFill>
                <a:latin typeface="Tahoma"/>
                <a:cs typeface="Tahoma"/>
              </a:rPr>
              <a:t>6</a:t>
            </a:r>
            <a:endParaRPr sz="1200" dirty="0">
              <a:latin typeface="Tahoma"/>
              <a:cs typeface="Tahoma"/>
            </a:endParaRPr>
          </a:p>
          <a:p>
            <a:pPr marL="260350">
              <a:spcBef>
                <a:spcPts val="395"/>
              </a:spcBef>
            </a:pPr>
            <a:r>
              <a:rPr sz="1450" dirty="0">
                <a:solidFill>
                  <a:srgbClr val="FFFFFF"/>
                </a:solidFill>
                <a:latin typeface="Microsoft Sans Serif"/>
                <a:cs typeface="Microsoft Sans Serif"/>
              </a:rPr>
              <a:t>Ўсиш:</a:t>
            </a:r>
            <a:r>
              <a:rPr sz="1450" spc="7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50" b="1" dirty="0">
                <a:solidFill>
                  <a:srgbClr val="FFFFFF"/>
                </a:solidFill>
                <a:latin typeface="Arial"/>
                <a:cs typeface="Arial"/>
              </a:rPr>
              <a:t>1,</a:t>
            </a:r>
            <a:r>
              <a:rPr lang="en-US" sz="1850" b="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185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" dirty="0" err="1">
                <a:solidFill>
                  <a:srgbClr val="FFFFFF"/>
                </a:solidFill>
                <a:latin typeface="Microsoft Sans Serif"/>
                <a:cs typeface="Microsoft Sans Serif"/>
              </a:rPr>
              <a:t>баробар</a:t>
            </a:r>
            <a:r>
              <a:rPr lang="en-US" sz="12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                 </a:t>
            </a:r>
            <a:r>
              <a:rPr lang="ru-RU" sz="1450" dirty="0" err="1">
                <a:solidFill>
                  <a:srgbClr val="FFFFFF"/>
                </a:solidFill>
                <a:latin typeface="Microsoft Sans Serif"/>
                <a:cs typeface="Microsoft Sans Serif"/>
              </a:rPr>
              <a:t>Ўсиш</a:t>
            </a:r>
            <a:r>
              <a:rPr lang="ru-RU" sz="1450" dirty="0">
                <a:solidFill>
                  <a:srgbClr val="FFFFFF"/>
                </a:solidFill>
                <a:latin typeface="Microsoft Sans Serif"/>
                <a:cs typeface="Microsoft Sans Serif"/>
              </a:rPr>
              <a:t>:</a:t>
            </a:r>
            <a:r>
              <a:rPr lang="ru-RU" sz="1450" spc="7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lang="en-US" sz="1450" spc="7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lang="en-US" sz="1850" b="1" spc="7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lang="ru-RU" sz="185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ru-RU" sz="1200" spc="-10" dirty="0" err="1">
                <a:solidFill>
                  <a:srgbClr val="FFFFFF"/>
                </a:solidFill>
                <a:latin typeface="Microsoft Sans Serif"/>
                <a:cs typeface="Microsoft Sans Serif"/>
              </a:rPr>
              <a:t>баробар</a:t>
            </a:r>
            <a:endParaRPr lang="ru-RU" sz="1200" dirty="0">
              <a:latin typeface="Microsoft Sans Serif"/>
              <a:cs typeface="Microsoft Sans Serif"/>
            </a:endParaRPr>
          </a:p>
          <a:p>
            <a:pPr marL="260350">
              <a:lnSpc>
                <a:spcPct val="100000"/>
              </a:lnSpc>
              <a:spcBef>
                <a:spcPts val="395"/>
              </a:spcBef>
            </a:pPr>
            <a:endParaRPr sz="1200" dirty="0">
              <a:latin typeface="Microsoft Sans Serif"/>
              <a:cs typeface="Microsoft Sans Serif"/>
            </a:endParaRPr>
          </a:p>
        </p:txBody>
      </p:sp>
      <p:pic>
        <p:nvPicPr>
          <p:cNvPr id="39" name="object 3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360842" y="2590801"/>
            <a:ext cx="207329" cy="170384"/>
          </a:xfrm>
          <a:prstGeom prst="rect">
            <a:avLst/>
          </a:prstGeom>
        </p:spPr>
      </p:pic>
      <p:sp>
        <p:nvSpPr>
          <p:cNvPr id="40" name="object 40"/>
          <p:cNvSpPr txBox="1"/>
          <p:nvPr/>
        </p:nvSpPr>
        <p:spPr>
          <a:xfrm>
            <a:off x="12602315" y="2141907"/>
            <a:ext cx="1957495" cy="718145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0"/>
              </a:spcBef>
              <a:tabLst>
                <a:tab pos="1064260" algn="l"/>
              </a:tabLst>
            </a:pPr>
            <a:r>
              <a:rPr sz="1200" spc="-10" dirty="0">
                <a:solidFill>
                  <a:srgbClr val="3C2B98"/>
                </a:solidFill>
                <a:latin typeface="Tahoma"/>
                <a:cs typeface="Tahoma"/>
              </a:rPr>
              <a:t>01.01.202</a:t>
            </a:r>
            <a:r>
              <a:rPr lang="uz-Cyrl-UZ" sz="1200" spc="-10" dirty="0">
                <a:solidFill>
                  <a:srgbClr val="3C2B98"/>
                </a:solidFill>
                <a:latin typeface="Tahoma"/>
                <a:cs typeface="Tahoma"/>
              </a:rPr>
              <a:t>6</a:t>
            </a:r>
            <a:r>
              <a:rPr sz="1200" dirty="0">
                <a:solidFill>
                  <a:srgbClr val="3C2B98"/>
                </a:solidFill>
                <a:latin typeface="Tahoma"/>
                <a:cs typeface="Tahoma"/>
              </a:rPr>
              <a:t>	</a:t>
            </a:r>
            <a:r>
              <a:rPr lang="uz-Cyrl-UZ" sz="1200" spc="-10" dirty="0">
                <a:solidFill>
                  <a:srgbClr val="3C2B98"/>
                </a:solidFill>
                <a:latin typeface="Tahoma"/>
                <a:cs typeface="Tahoma"/>
              </a:rPr>
              <a:t>01</a:t>
            </a:r>
            <a:r>
              <a:rPr sz="1200" spc="-10" dirty="0">
                <a:solidFill>
                  <a:srgbClr val="3C2B98"/>
                </a:solidFill>
                <a:latin typeface="Tahoma"/>
                <a:cs typeface="Tahoma"/>
              </a:rPr>
              <a:t>.</a:t>
            </a:r>
            <a:r>
              <a:rPr lang="en-US" sz="1200" spc="-10" dirty="0">
                <a:solidFill>
                  <a:srgbClr val="3C2B98"/>
                </a:solidFill>
                <a:latin typeface="Tahoma"/>
                <a:cs typeface="Tahoma"/>
              </a:rPr>
              <a:t>05</a:t>
            </a:r>
            <a:r>
              <a:rPr sz="1200" spc="-10" dirty="0">
                <a:solidFill>
                  <a:srgbClr val="3C2B98"/>
                </a:solidFill>
                <a:latin typeface="Tahoma"/>
                <a:cs typeface="Tahoma"/>
              </a:rPr>
              <a:t>.202</a:t>
            </a:r>
            <a:r>
              <a:rPr lang="uz-Cyrl-UZ" sz="1200" spc="-10" dirty="0">
                <a:solidFill>
                  <a:srgbClr val="3C2B98"/>
                </a:solidFill>
                <a:latin typeface="Tahoma"/>
                <a:cs typeface="Tahoma"/>
              </a:rPr>
              <a:t>6</a:t>
            </a:r>
            <a:endParaRPr sz="1200" dirty="0">
              <a:latin typeface="Tahoma"/>
              <a:cs typeface="Tahoma"/>
            </a:endParaRPr>
          </a:p>
          <a:p>
            <a:pPr marL="187960">
              <a:lnSpc>
                <a:spcPct val="100000"/>
              </a:lnSpc>
              <a:spcBef>
                <a:spcPts val="625"/>
              </a:spcBef>
            </a:pPr>
            <a:r>
              <a:rPr lang="en-US" sz="1300" dirty="0">
                <a:solidFill>
                  <a:schemeClr val="bg1"/>
                </a:solidFill>
                <a:latin typeface="Arial"/>
                <a:cs typeface="Arial"/>
              </a:rPr>
              <a:t>    </a:t>
            </a:r>
            <a:r>
              <a:rPr lang="ru-RU" sz="2400" b="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lang="ru-RU" sz="24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ru-RU" sz="2400" b="1" spc="-50" dirty="0" err="1">
                <a:solidFill>
                  <a:srgbClr val="FFFFFF"/>
                </a:solidFill>
                <a:latin typeface="Arial"/>
                <a:cs typeface="Arial"/>
              </a:rPr>
              <a:t>тага</a:t>
            </a:r>
            <a:endParaRPr sz="13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8139921" y="1617942"/>
            <a:ext cx="7885430" cy="1141095"/>
            <a:chOff x="8149323" y="1633993"/>
            <a:chExt cx="7885430" cy="1141095"/>
          </a:xfrm>
        </p:grpSpPr>
        <p:pic>
          <p:nvPicPr>
            <p:cNvPr id="42" name="object 4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566929" y="2590800"/>
              <a:ext cx="207329" cy="170384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149323" y="2572297"/>
              <a:ext cx="202302" cy="202636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16029695" y="1638755"/>
              <a:ext cx="0" cy="1066165"/>
            </a:xfrm>
            <a:custGeom>
              <a:avLst/>
              <a:gdLst/>
              <a:ahLst/>
              <a:cxnLst/>
              <a:rect l="l" t="t" r="r" b="b"/>
              <a:pathLst>
                <a:path h="1066164">
                  <a:moveTo>
                    <a:pt x="0" y="0"/>
                  </a:moveTo>
                  <a:lnTo>
                    <a:pt x="0" y="1066027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14886244" y="1860733"/>
            <a:ext cx="924560" cy="2508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spc="-10" dirty="0">
                <a:solidFill>
                  <a:srgbClr val="3C2B98"/>
                </a:solidFill>
                <a:latin typeface="Tahoma"/>
                <a:cs typeface="Tahoma"/>
              </a:rPr>
              <a:t>Вилоятдан</a:t>
            </a:r>
            <a:endParaRPr sz="1450" dirty="0">
              <a:latin typeface="Tahoma"/>
              <a:cs typeface="Tahoma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4783973" y="2059707"/>
            <a:ext cx="1168046" cy="696343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20955" marR="42545" algn="ctr">
              <a:lnSpc>
                <a:spcPts val="1460"/>
              </a:lnSpc>
              <a:spcBef>
                <a:spcPts val="409"/>
              </a:spcBef>
            </a:pPr>
            <a:r>
              <a:rPr sz="1450" dirty="0">
                <a:solidFill>
                  <a:srgbClr val="3C2B98"/>
                </a:solidFill>
                <a:latin typeface="Tahoma"/>
                <a:cs typeface="Tahoma"/>
              </a:rPr>
              <a:t>келган</a:t>
            </a:r>
            <a:r>
              <a:rPr sz="1450" spc="-50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450" spc="-20" dirty="0">
                <a:solidFill>
                  <a:srgbClr val="3C2B98"/>
                </a:solidFill>
                <a:latin typeface="Tahoma"/>
                <a:cs typeface="Tahoma"/>
              </a:rPr>
              <a:t>банд </a:t>
            </a:r>
            <a:r>
              <a:rPr sz="1450" spc="-10" dirty="0">
                <a:solidFill>
                  <a:srgbClr val="3C2B98"/>
                </a:solidFill>
                <a:latin typeface="Tahoma"/>
                <a:cs typeface="Tahoma"/>
              </a:rPr>
              <a:t>аҳоли</a:t>
            </a:r>
            <a:endParaRPr sz="1450" dirty="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65"/>
              </a:spcBef>
            </a:pPr>
            <a:r>
              <a:rPr lang="en-US" sz="1600" b="1" spc="-90" dirty="0">
                <a:solidFill>
                  <a:srgbClr val="FF0000"/>
                </a:solidFill>
                <a:latin typeface="Arial"/>
                <a:cs typeface="Arial"/>
              </a:rPr>
              <a:t>81</a:t>
            </a:r>
            <a:r>
              <a:rPr sz="1600" b="1" spc="-90" dirty="0">
                <a:solidFill>
                  <a:srgbClr val="16387F"/>
                </a:solidFill>
                <a:latin typeface="Arial"/>
                <a:cs typeface="Arial"/>
              </a:rPr>
              <a:t> </a:t>
            </a:r>
            <a:r>
              <a:rPr sz="1600" spc="-90" dirty="0">
                <a:solidFill>
                  <a:srgbClr val="16387F"/>
                </a:solidFill>
                <a:latin typeface="Microsoft Sans Serif"/>
                <a:cs typeface="Microsoft Sans Serif"/>
              </a:rPr>
              <a:t>нафар</a:t>
            </a:r>
            <a:endParaRPr sz="1600" dirty="0">
              <a:latin typeface="Microsoft Sans Serif"/>
              <a:cs typeface="Microsoft Sans Serif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6160650" y="1893062"/>
            <a:ext cx="884555" cy="87588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67310" marR="5080" indent="69850" algn="ctr">
              <a:lnSpc>
                <a:spcPts val="1460"/>
              </a:lnSpc>
              <a:spcBef>
                <a:spcPts val="409"/>
              </a:spcBef>
            </a:pPr>
            <a:r>
              <a:rPr sz="1450" spc="-10" dirty="0" err="1">
                <a:solidFill>
                  <a:srgbClr val="3C2B98"/>
                </a:solidFill>
                <a:latin typeface="Tahoma"/>
                <a:cs typeface="Tahoma"/>
              </a:rPr>
              <a:t>Мавжуд</a:t>
            </a:r>
            <a:r>
              <a:rPr sz="1450" spc="-10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450" dirty="0" err="1">
                <a:solidFill>
                  <a:srgbClr val="3C2B98"/>
                </a:solidFill>
                <a:latin typeface="Tahoma"/>
                <a:cs typeface="Tahoma"/>
              </a:rPr>
              <a:t>бўш</a:t>
            </a:r>
            <a:r>
              <a:rPr lang="uz-Cyrl-UZ" sz="1450" spc="-35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450" spc="-25" dirty="0" err="1">
                <a:solidFill>
                  <a:srgbClr val="3C2B98"/>
                </a:solidFill>
                <a:latin typeface="Tahoma"/>
                <a:cs typeface="Tahoma"/>
              </a:rPr>
              <a:t>иш</a:t>
            </a:r>
            <a:r>
              <a:rPr sz="1450" spc="-25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3C2B98"/>
                </a:solidFill>
                <a:latin typeface="Tahoma"/>
                <a:cs typeface="Tahoma"/>
              </a:rPr>
              <a:t>ўринлари</a:t>
            </a:r>
            <a:endParaRPr sz="1450" dirty="0">
              <a:latin typeface="Tahoma"/>
              <a:cs typeface="Tahoma"/>
            </a:endParaRPr>
          </a:p>
          <a:p>
            <a:pPr marL="12700" algn="ctr">
              <a:lnSpc>
                <a:spcPct val="100000"/>
              </a:lnSpc>
              <a:spcBef>
                <a:spcPts val="5"/>
              </a:spcBef>
            </a:pPr>
            <a:r>
              <a:rPr lang="en-US" sz="1600" b="1" spc="220" dirty="0">
                <a:solidFill>
                  <a:srgbClr val="16387F"/>
                </a:solidFill>
                <a:latin typeface="Arial"/>
                <a:cs typeface="Arial"/>
              </a:rPr>
              <a:t>25</a:t>
            </a:r>
            <a:r>
              <a:rPr sz="1600" b="1" spc="220" dirty="0">
                <a:solidFill>
                  <a:srgbClr val="16387F"/>
                </a:solidFill>
                <a:latin typeface="Arial"/>
                <a:cs typeface="Arial"/>
              </a:rPr>
              <a:t> </a:t>
            </a:r>
            <a:r>
              <a:rPr sz="1600" spc="-25" dirty="0">
                <a:solidFill>
                  <a:srgbClr val="16387F"/>
                </a:solidFill>
                <a:latin typeface="Microsoft Sans Serif"/>
                <a:cs typeface="Microsoft Sans Serif"/>
              </a:rPr>
              <a:t>та</a:t>
            </a:r>
            <a:endParaRPr sz="1600" dirty="0">
              <a:latin typeface="Microsoft Sans Serif"/>
              <a:cs typeface="Microsoft Sans Serif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5527909" y="1343620"/>
            <a:ext cx="11210290" cy="1499870"/>
            <a:chOff x="5527909" y="1343620"/>
            <a:chExt cx="11210290" cy="1499870"/>
          </a:xfrm>
        </p:grpSpPr>
        <p:pic>
          <p:nvPicPr>
            <p:cNvPr id="49" name="object 4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6512378" y="1458377"/>
              <a:ext cx="225364" cy="214696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15148326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59" h="426719">
                  <a:moveTo>
                    <a:pt x="182966" y="0"/>
                  </a:moveTo>
                  <a:lnTo>
                    <a:pt x="138165" y="9755"/>
                  </a:lnTo>
                  <a:lnTo>
                    <a:pt x="96135" y="29790"/>
                  </a:lnTo>
                  <a:lnTo>
                    <a:pt x="58649" y="60125"/>
                  </a:lnTo>
                  <a:lnTo>
                    <a:pt x="29058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6" y="280673"/>
                  </a:lnTo>
                  <a:lnTo>
                    <a:pt x="31430" y="324204"/>
                  </a:lnTo>
                  <a:lnTo>
                    <a:pt x="61835" y="363296"/>
                  </a:lnTo>
                  <a:lnTo>
                    <a:pt x="99966" y="394466"/>
                  </a:lnTo>
                  <a:lnTo>
                    <a:pt x="142428" y="415434"/>
                  </a:lnTo>
                  <a:lnTo>
                    <a:pt x="187444" y="426181"/>
                  </a:lnTo>
                  <a:lnTo>
                    <a:pt x="233240" y="426687"/>
                  </a:lnTo>
                  <a:lnTo>
                    <a:pt x="278041" y="416932"/>
                  </a:lnTo>
                  <a:lnTo>
                    <a:pt x="320072" y="396896"/>
                  </a:lnTo>
                  <a:lnTo>
                    <a:pt x="357556" y="366561"/>
                  </a:lnTo>
                  <a:lnTo>
                    <a:pt x="387147" y="328131"/>
                  </a:lnTo>
                  <a:lnTo>
                    <a:pt x="406690" y="285042"/>
                  </a:lnTo>
                  <a:lnTo>
                    <a:pt x="416206" y="239113"/>
                  </a:lnTo>
                  <a:lnTo>
                    <a:pt x="415713" y="192164"/>
                  </a:lnTo>
                  <a:lnTo>
                    <a:pt x="405230" y="146014"/>
                  </a:lnTo>
                  <a:lnTo>
                    <a:pt x="384776" y="102483"/>
                  </a:lnTo>
                  <a:lnTo>
                    <a:pt x="354371" y="63390"/>
                  </a:lnTo>
                  <a:lnTo>
                    <a:pt x="316240" y="32220"/>
                  </a:lnTo>
                  <a:lnTo>
                    <a:pt x="273778" y="11252"/>
                  </a:lnTo>
                  <a:lnTo>
                    <a:pt x="228762" y="505"/>
                  </a:lnTo>
                  <a:lnTo>
                    <a:pt x="1829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5148326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59" h="426719">
                  <a:moveTo>
                    <a:pt x="357556" y="366561"/>
                  </a:moveTo>
                  <a:lnTo>
                    <a:pt x="387147" y="328131"/>
                  </a:lnTo>
                  <a:lnTo>
                    <a:pt x="406690" y="285042"/>
                  </a:lnTo>
                  <a:lnTo>
                    <a:pt x="416206" y="239113"/>
                  </a:lnTo>
                  <a:lnTo>
                    <a:pt x="415713" y="192164"/>
                  </a:lnTo>
                  <a:lnTo>
                    <a:pt x="405230" y="146014"/>
                  </a:lnTo>
                  <a:lnTo>
                    <a:pt x="384776" y="102483"/>
                  </a:lnTo>
                  <a:lnTo>
                    <a:pt x="354371" y="63390"/>
                  </a:lnTo>
                  <a:lnTo>
                    <a:pt x="316240" y="32220"/>
                  </a:lnTo>
                  <a:lnTo>
                    <a:pt x="273778" y="11252"/>
                  </a:lnTo>
                  <a:lnTo>
                    <a:pt x="228762" y="505"/>
                  </a:lnTo>
                  <a:lnTo>
                    <a:pt x="182966" y="0"/>
                  </a:lnTo>
                  <a:lnTo>
                    <a:pt x="138165" y="9755"/>
                  </a:lnTo>
                  <a:lnTo>
                    <a:pt x="96135" y="29790"/>
                  </a:lnTo>
                  <a:lnTo>
                    <a:pt x="58649" y="60125"/>
                  </a:lnTo>
                  <a:lnTo>
                    <a:pt x="29058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6" y="280673"/>
                  </a:lnTo>
                  <a:lnTo>
                    <a:pt x="31430" y="324204"/>
                  </a:lnTo>
                  <a:lnTo>
                    <a:pt x="61835" y="363296"/>
                  </a:lnTo>
                  <a:lnTo>
                    <a:pt x="99966" y="394466"/>
                  </a:lnTo>
                  <a:lnTo>
                    <a:pt x="142428" y="415434"/>
                  </a:lnTo>
                  <a:lnTo>
                    <a:pt x="187444" y="426181"/>
                  </a:lnTo>
                  <a:lnTo>
                    <a:pt x="233240" y="426687"/>
                  </a:lnTo>
                  <a:lnTo>
                    <a:pt x="278041" y="416932"/>
                  </a:lnTo>
                  <a:lnTo>
                    <a:pt x="320072" y="396896"/>
                  </a:lnTo>
                  <a:lnTo>
                    <a:pt x="357556" y="366561"/>
                  </a:lnTo>
                  <a:close/>
                </a:path>
              </a:pathLst>
            </a:custGeom>
            <a:ln w="7199">
              <a:solidFill>
                <a:srgbClr val="64B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15133424" y="1343620"/>
              <a:ext cx="446405" cy="454659"/>
            </a:xfrm>
            <a:custGeom>
              <a:avLst/>
              <a:gdLst/>
              <a:ahLst/>
              <a:cxnLst/>
              <a:rect l="l" t="t" r="r" b="b"/>
              <a:pathLst>
                <a:path w="446405" h="454660">
                  <a:moveTo>
                    <a:pt x="446011" y="0"/>
                  </a:moveTo>
                  <a:lnTo>
                    <a:pt x="0" y="0"/>
                  </a:lnTo>
                  <a:lnTo>
                    <a:pt x="0" y="454647"/>
                  </a:lnTo>
                  <a:lnTo>
                    <a:pt x="446011" y="454647"/>
                  </a:lnTo>
                  <a:lnTo>
                    <a:pt x="446011" y="0"/>
                  </a:lnTo>
                  <a:close/>
                </a:path>
              </a:pathLst>
            </a:custGeom>
            <a:solidFill>
              <a:srgbClr val="151616">
                <a:alpha val="20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15184897" y="1395094"/>
              <a:ext cx="343535" cy="351790"/>
            </a:xfrm>
            <a:custGeom>
              <a:avLst/>
              <a:gdLst/>
              <a:ahLst/>
              <a:cxnLst/>
              <a:rect l="l" t="t" r="r" b="b"/>
              <a:pathLst>
                <a:path w="343534" h="351789">
                  <a:moveTo>
                    <a:pt x="169683" y="0"/>
                  </a:moveTo>
                  <a:lnTo>
                    <a:pt x="126230" y="5242"/>
                  </a:lnTo>
                  <a:lnTo>
                    <a:pt x="85209" y="21954"/>
                  </a:lnTo>
                  <a:lnTo>
                    <a:pt x="48933" y="50163"/>
                  </a:lnTo>
                  <a:lnTo>
                    <a:pt x="21416" y="87353"/>
                  </a:lnTo>
                  <a:lnTo>
                    <a:pt x="5113" y="129407"/>
                  </a:lnTo>
                  <a:lnTo>
                    <a:pt x="0" y="173955"/>
                  </a:lnTo>
                  <a:lnTo>
                    <a:pt x="6051" y="218626"/>
                  </a:lnTo>
                  <a:lnTo>
                    <a:pt x="23241" y="261050"/>
                  </a:lnTo>
                  <a:lnTo>
                    <a:pt x="51546" y="298856"/>
                  </a:lnTo>
                  <a:lnTo>
                    <a:pt x="88424" y="327873"/>
                  </a:lnTo>
                  <a:lnTo>
                    <a:pt x="129806" y="345495"/>
                  </a:lnTo>
                  <a:lnTo>
                    <a:pt x="173379" y="351698"/>
                  </a:lnTo>
                  <a:lnTo>
                    <a:pt x="216833" y="346456"/>
                  </a:lnTo>
                  <a:lnTo>
                    <a:pt x="257853" y="329743"/>
                  </a:lnTo>
                  <a:lnTo>
                    <a:pt x="294129" y="301534"/>
                  </a:lnTo>
                  <a:lnTo>
                    <a:pt x="321646" y="264344"/>
                  </a:lnTo>
                  <a:lnTo>
                    <a:pt x="337949" y="222290"/>
                  </a:lnTo>
                  <a:lnTo>
                    <a:pt x="343062" y="177743"/>
                  </a:lnTo>
                  <a:lnTo>
                    <a:pt x="337011" y="133072"/>
                  </a:lnTo>
                  <a:lnTo>
                    <a:pt x="319821" y="90648"/>
                  </a:lnTo>
                  <a:lnTo>
                    <a:pt x="291515" y="52842"/>
                  </a:lnTo>
                  <a:lnTo>
                    <a:pt x="254638" y="23825"/>
                  </a:lnTo>
                  <a:lnTo>
                    <a:pt x="213257" y="6202"/>
                  </a:lnTo>
                  <a:lnTo>
                    <a:pt x="1696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5188120" y="1398397"/>
              <a:ext cx="38100" cy="38735"/>
            </a:xfrm>
            <a:custGeom>
              <a:avLst/>
              <a:gdLst/>
              <a:ahLst/>
              <a:cxnLst/>
              <a:rect l="l" t="t" r="r" b="b"/>
              <a:pathLst>
                <a:path w="38100" h="38734">
                  <a:moveTo>
                    <a:pt x="18653" y="0"/>
                  </a:moveTo>
                  <a:lnTo>
                    <a:pt x="11573" y="1337"/>
                  </a:lnTo>
                  <a:lnTo>
                    <a:pt x="5380" y="5515"/>
                  </a:lnTo>
                  <a:lnTo>
                    <a:pt x="1304" y="11864"/>
                  </a:lnTo>
                  <a:lnTo>
                    <a:pt x="0" y="19122"/>
                  </a:lnTo>
                  <a:lnTo>
                    <a:pt x="1458" y="26411"/>
                  </a:lnTo>
                  <a:lnTo>
                    <a:pt x="5669" y="32851"/>
                  </a:lnTo>
                  <a:lnTo>
                    <a:pt x="11950" y="37167"/>
                  </a:lnTo>
                  <a:lnTo>
                    <a:pt x="19060" y="38661"/>
                  </a:lnTo>
                  <a:lnTo>
                    <a:pt x="26141" y="37324"/>
                  </a:lnTo>
                  <a:lnTo>
                    <a:pt x="32334" y="33145"/>
                  </a:lnTo>
                  <a:lnTo>
                    <a:pt x="36408" y="26797"/>
                  </a:lnTo>
                  <a:lnTo>
                    <a:pt x="37712" y="19539"/>
                  </a:lnTo>
                  <a:lnTo>
                    <a:pt x="36255" y="12249"/>
                  </a:lnTo>
                  <a:lnTo>
                    <a:pt x="32045" y="5807"/>
                  </a:lnTo>
                  <a:lnTo>
                    <a:pt x="25764" y="1493"/>
                  </a:lnTo>
                  <a:lnTo>
                    <a:pt x="18653" y="0"/>
                  </a:lnTo>
                  <a:close/>
                </a:path>
              </a:pathLst>
            </a:custGeom>
            <a:solidFill>
              <a:srgbClr val="64B1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5235981" y="1437488"/>
              <a:ext cx="232192" cy="236571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5531719" y="1533365"/>
              <a:ext cx="2412365" cy="1306195"/>
            </a:xfrm>
            <a:custGeom>
              <a:avLst/>
              <a:gdLst/>
              <a:ahLst/>
              <a:cxnLst/>
              <a:rect l="l" t="t" r="r" b="b"/>
              <a:pathLst>
                <a:path w="2412365" h="1306195">
                  <a:moveTo>
                    <a:pt x="2329606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1" y="24232"/>
                  </a:lnTo>
                  <a:lnTo>
                    <a:pt x="6508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8" y="1255712"/>
                  </a:lnTo>
                  <a:lnTo>
                    <a:pt x="24231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2329606" y="1306174"/>
                  </a:lnTo>
                  <a:lnTo>
                    <a:pt x="2361636" y="1299665"/>
                  </a:lnTo>
                  <a:lnTo>
                    <a:pt x="2387865" y="1281943"/>
                  </a:lnTo>
                  <a:lnTo>
                    <a:pt x="2405588" y="1255712"/>
                  </a:lnTo>
                  <a:lnTo>
                    <a:pt x="2412097" y="1223680"/>
                  </a:lnTo>
                  <a:lnTo>
                    <a:pt x="2412097" y="82494"/>
                  </a:lnTo>
                  <a:lnTo>
                    <a:pt x="2405588" y="50462"/>
                  </a:lnTo>
                  <a:lnTo>
                    <a:pt x="2387865" y="24232"/>
                  </a:lnTo>
                  <a:lnTo>
                    <a:pt x="2361636" y="6509"/>
                  </a:lnTo>
                  <a:lnTo>
                    <a:pt x="232960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531719" y="1533365"/>
              <a:ext cx="2412365" cy="1306195"/>
            </a:xfrm>
            <a:custGeom>
              <a:avLst/>
              <a:gdLst/>
              <a:ahLst/>
              <a:cxnLst/>
              <a:rect l="l" t="t" r="r" b="b"/>
              <a:pathLst>
                <a:path w="2412365" h="1306195">
                  <a:moveTo>
                    <a:pt x="2329606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1" y="24232"/>
                  </a:lnTo>
                  <a:lnTo>
                    <a:pt x="6508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8" y="1255712"/>
                  </a:lnTo>
                  <a:lnTo>
                    <a:pt x="24231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2329606" y="1306174"/>
                  </a:lnTo>
                  <a:lnTo>
                    <a:pt x="2361636" y="1299665"/>
                  </a:lnTo>
                  <a:lnTo>
                    <a:pt x="2387865" y="1281943"/>
                  </a:lnTo>
                  <a:lnTo>
                    <a:pt x="2405588" y="1255712"/>
                  </a:lnTo>
                  <a:lnTo>
                    <a:pt x="2412097" y="1223680"/>
                  </a:lnTo>
                  <a:lnTo>
                    <a:pt x="2412097" y="82494"/>
                  </a:lnTo>
                  <a:lnTo>
                    <a:pt x="2405588" y="50462"/>
                  </a:lnTo>
                  <a:lnTo>
                    <a:pt x="2387865" y="24232"/>
                  </a:lnTo>
                  <a:lnTo>
                    <a:pt x="2361636" y="6509"/>
                  </a:lnTo>
                  <a:lnTo>
                    <a:pt x="2329606" y="0"/>
                  </a:lnTo>
                  <a:close/>
                </a:path>
              </a:pathLst>
            </a:custGeom>
            <a:ln w="7199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7205309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59" h="426719">
                  <a:moveTo>
                    <a:pt x="182966" y="0"/>
                  </a:moveTo>
                  <a:lnTo>
                    <a:pt x="138166" y="9755"/>
                  </a:lnTo>
                  <a:lnTo>
                    <a:pt x="96136" y="29790"/>
                  </a:lnTo>
                  <a:lnTo>
                    <a:pt x="58651" y="60125"/>
                  </a:lnTo>
                  <a:lnTo>
                    <a:pt x="29060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5" y="280673"/>
                  </a:lnTo>
                  <a:lnTo>
                    <a:pt x="31429" y="324204"/>
                  </a:lnTo>
                  <a:lnTo>
                    <a:pt x="61834" y="363296"/>
                  </a:lnTo>
                  <a:lnTo>
                    <a:pt x="99965" y="394466"/>
                  </a:lnTo>
                  <a:lnTo>
                    <a:pt x="142427" y="415434"/>
                  </a:lnTo>
                  <a:lnTo>
                    <a:pt x="187444" y="426181"/>
                  </a:lnTo>
                  <a:lnTo>
                    <a:pt x="233240" y="426687"/>
                  </a:lnTo>
                  <a:lnTo>
                    <a:pt x="278041" y="416932"/>
                  </a:lnTo>
                  <a:lnTo>
                    <a:pt x="320071" y="396896"/>
                  </a:lnTo>
                  <a:lnTo>
                    <a:pt x="357556" y="366561"/>
                  </a:lnTo>
                  <a:lnTo>
                    <a:pt x="387147" y="328131"/>
                  </a:lnTo>
                  <a:lnTo>
                    <a:pt x="406691" y="285042"/>
                  </a:lnTo>
                  <a:lnTo>
                    <a:pt x="416207" y="239113"/>
                  </a:lnTo>
                  <a:lnTo>
                    <a:pt x="415713" y="192164"/>
                  </a:lnTo>
                  <a:lnTo>
                    <a:pt x="405230" y="146014"/>
                  </a:lnTo>
                  <a:lnTo>
                    <a:pt x="384776" y="102483"/>
                  </a:lnTo>
                  <a:lnTo>
                    <a:pt x="354370" y="63390"/>
                  </a:lnTo>
                  <a:lnTo>
                    <a:pt x="316239" y="32220"/>
                  </a:lnTo>
                  <a:lnTo>
                    <a:pt x="273778" y="11252"/>
                  </a:lnTo>
                  <a:lnTo>
                    <a:pt x="228762" y="505"/>
                  </a:lnTo>
                  <a:lnTo>
                    <a:pt x="1829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7205309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59" h="426719">
                  <a:moveTo>
                    <a:pt x="357556" y="366561"/>
                  </a:moveTo>
                  <a:lnTo>
                    <a:pt x="387147" y="328131"/>
                  </a:lnTo>
                  <a:lnTo>
                    <a:pt x="406691" y="285042"/>
                  </a:lnTo>
                  <a:lnTo>
                    <a:pt x="416207" y="239113"/>
                  </a:lnTo>
                  <a:lnTo>
                    <a:pt x="415713" y="192164"/>
                  </a:lnTo>
                  <a:lnTo>
                    <a:pt x="405230" y="146014"/>
                  </a:lnTo>
                  <a:lnTo>
                    <a:pt x="384776" y="102483"/>
                  </a:lnTo>
                  <a:lnTo>
                    <a:pt x="354370" y="63390"/>
                  </a:lnTo>
                  <a:lnTo>
                    <a:pt x="316239" y="32220"/>
                  </a:lnTo>
                  <a:lnTo>
                    <a:pt x="273778" y="11252"/>
                  </a:lnTo>
                  <a:lnTo>
                    <a:pt x="228762" y="505"/>
                  </a:lnTo>
                  <a:lnTo>
                    <a:pt x="182966" y="0"/>
                  </a:lnTo>
                  <a:lnTo>
                    <a:pt x="138166" y="9755"/>
                  </a:lnTo>
                  <a:lnTo>
                    <a:pt x="96136" y="29790"/>
                  </a:lnTo>
                  <a:lnTo>
                    <a:pt x="58651" y="60125"/>
                  </a:lnTo>
                  <a:lnTo>
                    <a:pt x="29060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5" y="280673"/>
                  </a:lnTo>
                  <a:lnTo>
                    <a:pt x="31429" y="324204"/>
                  </a:lnTo>
                  <a:lnTo>
                    <a:pt x="61834" y="363296"/>
                  </a:lnTo>
                  <a:lnTo>
                    <a:pt x="99965" y="394466"/>
                  </a:lnTo>
                  <a:lnTo>
                    <a:pt x="142427" y="415434"/>
                  </a:lnTo>
                  <a:lnTo>
                    <a:pt x="187444" y="426181"/>
                  </a:lnTo>
                  <a:lnTo>
                    <a:pt x="233240" y="426687"/>
                  </a:lnTo>
                  <a:lnTo>
                    <a:pt x="278041" y="416932"/>
                  </a:lnTo>
                  <a:lnTo>
                    <a:pt x="320071" y="396896"/>
                  </a:lnTo>
                  <a:lnTo>
                    <a:pt x="357556" y="366561"/>
                  </a:lnTo>
                  <a:close/>
                </a:path>
              </a:pathLst>
            </a:custGeom>
            <a:ln w="7199">
              <a:solidFill>
                <a:srgbClr val="64B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7190409" y="1343620"/>
              <a:ext cx="446405" cy="454659"/>
            </a:xfrm>
            <a:custGeom>
              <a:avLst/>
              <a:gdLst/>
              <a:ahLst/>
              <a:cxnLst/>
              <a:rect l="l" t="t" r="r" b="b"/>
              <a:pathLst>
                <a:path w="446404" h="454660">
                  <a:moveTo>
                    <a:pt x="446007" y="0"/>
                  </a:moveTo>
                  <a:lnTo>
                    <a:pt x="0" y="0"/>
                  </a:lnTo>
                  <a:lnTo>
                    <a:pt x="0" y="454647"/>
                  </a:lnTo>
                  <a:lnTo>
                    <a:pt x="446007" y="454647"/>
                  </a:lnTo>
                  <a:lnTo>
                    <a:pt x="446007" y="0"/>
                  </a:lnTo>
                  <a:close/>
                </a:path>
              </a:pathLst>
            </a:custGeom>
            <a:solidFill>
              <a:srgbClr val="151616">
                <a:alpha val="20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7241883" y="1395094"/>
              <a:ext cx="343535" cy="351790"/>
            </a:xfrm>
            <a:custGeom>
              <a:avLst/>
              <a:gdLst/>
              <a:ahLst/>
              <a:cxnLst/>
              <a:rect l="l" t="t" r="r" b="b"/>
              <a:pathLst>
                <a:path w="343534" h="351789">
                  <a:moveTo>
                    <a:pt x="169681" y="0"/>
                  </a:moveTo>
                  <a:lnTo>
                    <a:pt x="126228" y="5242"/>
                  </a:lnTo>
                  <a:lnTo>
                    <a:pt x="85208" y="21954"/>
                  </a:lnTo>
                  <a:lnTo>
                    <a:pt x="48933" y="50163"/>
                  </a:lnTo>
                  <a:lnTo>
                    <a:pt x="21416" y="87353"/>
                  </a:lnTo>
                  <a:lnTo>
                    <a:pt x="5113" y="129407"/>
                  </a:lnTo>
                  <a:lnTo>
                    <a:pt x="0" y="173955"/>
                  </a:lnTo>
                  <a:lnTo>
                    <a:pt x="6051" y="218626"/>
                  </a:lnTo>
                  <a:lnTo>
                    <a:pt x="23241" y="261050"/>
                  </a:lnTo>
                  <a:lnTo>
                    <a:pt x="51546" y="298856"/>
                  </a:lnTo>
                  <a:lnTo>
                    <a:pt x="88422" y="327873"/>
                  </a:lnTo>
                  <a:lnTo>
                    <a:pt x="129803" y="345495"/>
                  </a:lnTo>
                  <a:lnTo>
                    <a:pt x="173376" y="351698"/>
                  </a:lnTo>
                  <a:lnTo>
                    <a:pt x="216829" y="346456"/>
                  </a:lnTo>
                  <a:lnTo>
                    <a:pt x="257850" y="329743"/>
                  </a:lnTo>
                  <a:lnTo>
                    <a:pt x="294125" y="301534"/>
                  </a:lnTo>
                  <a:lnTo>
                    <a:pt x="321642" y="264344"/>
                  </a:lnTo>
                  <a:lnTo>
                    <a:pt x="337945" y="222290"/>
                  </a:lnTo>
                  <a:lnTo>
                    <a:pt x="343059" y="177743"/>
                  </a:lnTo>
                  <a:lnTo>
                    <a:pt x="337008" y="133072"/>
                  </a:lnTo>
                  <a:lnTo>
                    <a:pt x="319817" y="90648"/>
                  </a:lnTo>
                  <a:lnTo>
                    <a:pt x="291512" y="52842"/>
                  </a:lnTo>
                  <a:lnTo>
                    <a:pt x="254635" y="23825"/>
                  </a:lnTo>
                  <a:lnTo>
                    <a:pt x="213254" y="6202"/>
                  </a:lnTo>
                  <a:lnTo>
                    <a:pt x="16968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7245105" y="1398397"/>
              <a:ext cx="38100" cy="38735"/>
            </a:xfrm>
            <a:custGeom>
              <a:avLst/>
              <a:gdLst/>
              <a:ahLst/>
              <a:cxnLst/>
              <a:rect l="l" t="t" r="r" b="b"/>
              <a:pathLst>
                <a:path w="38100" h="38734">
                  <a:moveTo>
                    <a:pt x="18652" y="0"/>
                  </a:moveTo>
                  <a:lnTo>
                    <a:pt x="11571" y="1337"/>
                  </a:lnTo>
                  <a:lnTo>
                    <a:pt x="5378" y="5515"/>
                  </a:lnTo>
                  <a:lnTo>
                    <a:pt x="1303" y="11864"/>
                  </a:lnTo>
                  <a:lnTo>
                    <a:pt x="0" y="19122"/>
                  </a:lnTo>
                  <a:lnTo>
                    <a:pt x="1456" y="26411"/>
                  </a:lnTo>
                  <a:lnTo>
                    <a:pt x="5665" y="32851"/>
                  </a:lnTo>
                  <a:lnTo>
                    <a:pt x="11948" y="37167"/>
                  </a:lnTo>
                  <a:lnTo>
                    <a:pt x="19058" y="38661"/>
                  </a:lnTo>
                  <a:lnTo>
                    <a:pt x="26138" y="37324"/>
                  </a:lnTo>
                  <a:lnTo>
                    <a:pt x="32331" y="33145"/>
                  </a:lnTo>
                  <a:lnTo>
                    <a:pt x="36407" y="26797"/>
                  </a:lnTo>
                  <a:lnTo>
                    <a:pt x="37711" y="19539"/>
                  </a:lnTo>
                  <a:lnTo>
                    <a:pt x="36255" y="12249"/>
                  </a:lnTo>
                  <a:lnTo>
                    <a:pt x="32046" y="5807"/>
                  </a:lnTo>
                  <a:lnTo>
                    <a:pt x="25763" y="1493"/>
                  </a:lnTo>
                  <a:lnTo>
                    <a:pt x="18652" y="0"/>
                  </a:lnTo>
                  <a:close/>
                </a:path>
              </a:pathLst>
            </a:custGeom>
            <a:solidFill>
              <a:srgbClr val="64B1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687301" y="1638756"/>
              <a:ext cx="0" cy="1132840"/>
            </a:xfrm>
            <a:custGeom>
              <a:avLst/>
              <a:gdLst/>
              <a:ahLst/>
              <a:cxnLst/>
              <a:rect l="l" t="t" r="r" b="b"/>
              <a:pathLst>
                <a:path h="1132839">
                  <a:moveTo>
                    <a:pt x="0" y="0"/>
                  </a:moveTo>
                  <a:lnTo>
                    <a:pt x="0" y="1132649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5936962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60" h="426719">
                  <a:moveTo>
                    <a:pt x="182966" y="0"/>
                  </a:moveTo>
                  <a:lnTo>
                    <a:pt x="138165" y="9755"/>
                  </a:lnTo>
                  <a:lnTo>
                    <a:pt x="96135" y="29790"/>
                  </a:lnTo>
                  <a:lnTo>
                    <a:pt x="58650" y="60125"/>
                  </a:lnTo>
                  <a:lnTo>
                    <a:pt x="29059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7" y="280673"/>
                  </a:lnTo>
                  <a:lnTo>
                    <a:pt x="31431" y="324204"/>
                  </a:lnTo>
                  <a:lnTo>
                    <a:pt x="61836" y="363296"/>
                  </a:lnTo>
                  <a:lnTo>
                    <a:pt x="99967" y="394466"/>
                  </a:lnTo>
                  <a:lnTo>
                    <a:pt x="142428" y="415434"/>
                  </a:lnTo>
                  <a:lnTo>
                    <a:pt x="187444" y="426181"/>
                  </a:lnTo>
                  <a:lnTo>
                    <a:pt x="233239" y="426687"/>
                  </a:lnTo>
                  <a:lnTo>
                    <a:pt x="278040" y="416932"/>
                  </a:lnTo>
                  <a:lnTo>
                    <a:pt x="320070" y="396896"/>
                  </a:lnTo>
                  <a:lnTo>
                    <a:pt x="357555" y="366561"/>
                  </a:lnTo>
                  <a:lnTo>
                    <a:pt x="387146" y="328131"/>
                  </a:lnTo>
                  <a:lnTo>
                    <a:pt x="406690" y="285042"/>
                  </a:lnTo>
                  <a:lnTo>
                    <a:pt x="416206" y="239113"/>
                  </a:lnTo>
                  <a:lnTo>
                    <a:pt x="415714" y="192164"/>
                  </a:lnTo>
                  <a:lnTo>
                    <a:pt x="405231" y="146014"/>
                  </a:lnTo>
                  <a:lnTo>
                    <a:pt x="384777" y="102483"/>
                  </a:lnTo>
                  <a:lnTo>
                    <a:pt x="354372" y="63390"/>
                  </a:lnTo>
                  <a:lnTo>
                    <a:pt x="316240" y="32220"/>
                  </a:lnTo>
                  <a:lnTo>
                    <a:pt x="273779" y="11252"/>
                  </a:lnTo>
                  <a:lnTo>
                    <a:pt x="228762" y="505"/>
                  </a:lnTo>
                  <a:lnTo>
                    <a:pt x="1829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5936962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60" h="426719">
                  <a:moveTo>
                    <a:pt x="357555" y="366561"/>
                  </a:moveTo>
                  <a:lnTo>
                    <a:pt x="387146" y="328131"/>
                  </a:lnTo>
                  <a:lnTo>
                    <a:pt x="406690" y="285042"/>
                  </a:lnTo>
                  <a:lnTo>
                    <a:pt x="416206" y="239113"/>
                  </a:lnTo>
                  <a:lnTo>
                    <a:pt x="415714" y="192164"/>
                  </a:lnTo>
                  <a:lnTo>
                    <a:pt x="405231" y="146014"/>
                  </a:lnTo>
                  <a:lnTo>
                    <a:pt x="384777" y="102483"/>
                  </a:lnTo>
                  <a:lnTo>
                    <a:pt x="354372" y="63390"/>
                  </a:lnTo>
                  <a:lnTo>
                    <a:pt x="316240" y="32220"/>
                  </a:lnTo>
                  <a:lnTo>
                    <a:pt x="273779" y="11252"/>
                  </a:lnTo>
                  <a:lnTo>
                    <a:pt x="228762" y="505"/>
                  </a:lnTo>
                  <a:lnTo>
                    <a:pt x="182966" y="0"/>
                  </a:lnTo>
                  <a:lnTo>
                    <a:pt x="138165" y="9755"/>
                  </a:lnTo>
                  <a:lnTo>
                    <a:pt x="96135" y="29790"/>
                  </a:lnTo>
                  <a:lnTo>
                    <a:pt x="58650" y="60125"/>
                  </a:lnTo>
                  <a:lnTo>
                    <a:pt x="29059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7" y="280673"/>
                  </a:lnTo>
                  <a:lnTo>
                    <a:pt x="31431" y="324204"/>
                  </a:lnTo>
                  <a:lnTo>
                    <a:pt x="61836" y="363296"/>
                  </a:lnTo>
                  <a:lnTo>
                    <a:pt x="99967" y="394466"/>
                  </a:lnTo>
                  <a:lnTo>
                    <a:pt x="142428" y="415434"/>
                  </a:lnTo>
                  <a:lnTo>
                    <a:pt x="187444" y="426181"/>
                  </a:lnTo>
                  <a:lnTo>
                    <a:pt x="233239" y="426687"/>
                  </a:lnTo>
                  <a:lnTo>
                    <a:pt x="278040" y="416932"/>
                  </a:lnTo>
                  <a:lnTo>
                    <a:pt x="320070" y="396896"/>
                  </a:lnTo>
                  <a:lnTo>
                    <a:pt x="357555" y="366561"/>
                  </a:lnTo>
                  <a:close/>
                </a:path>
              </a:pathLst>
            </a:custGeom>
            <a:ln w="7199">
              <a:solidFill>
                <a:srgbClr val="64B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5922060" y="1343620"/>
              <a:ext cx="446405" cy="454659"/>
            </a:xfrm>
            <a:custGeom>
              <a:avLst/>
              <a:gdLst/>
              <a:ahLst/>
              <a:cxnLst/>
              <a:rect l="l" t="t" r="r" b="b"/>
              <a:pathLst>
                <a:path w="446404" h="454660">
                  <a:moveTo>
                    <a:pt x="446007" y="0"/>
                  </a:moveTo>
                  <a:lnTo>
                    <a:pt x="0" y="0"/>
                  </a:lnTo>
                  <a:lnTo>
                    <a:pt x="0" y="454647"/>
                  </a:lnTo>
                  <a:lnTo>
                    <a:pt x="446007" y="454647"/>
                  </a:lnTo>
                  <a:lnTo>
                    <a:pt x="446007" y="0"/>
                  </a:lnTo>
                  <a:close/>
                </a:path>
              </a:pathLst>
            </a:custGeom>
            <a:solidFill>
              <a:srgbClr val="151616">
                <a:alpha val="20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973534" y="1395094"/>
              <a:ext cx="343535" cy="351790"/>
            </a:xfrm>
            <a:custGeom>
              <a:avLst/>
              <a:gdLst/>
              <a:ahLst/>
              <a:cxnLst/>
              <a:rect l="l" t="t" r="r" b="b"/>
              <a:pathLst>
                <a:path w="343535" h="351789">
                  <a:moveTo>
                    <a:pt x="169683" y="0"/>
                  </a:moveTo>
                  <a:lnTo>
                    <a:pt x="126230" y="5242"/>
                  </a:lnTo>
                  <a:lnTo>
                    <a:pt x="85209" y="21954"/>
                  </a:lnTo>
                  <a:lnTo>
                    <a:pt x="48933" y="50163"/>
                  </a:lnTo>
                  <a:lnTo>
                    <a:pt x="21416" y="87353"/>
                  </a:lnTo>
                  <a:lnTo>
                    <a:pt x="5113" y="129407"/>
                  </a:lnTo>
                  <a:lnTo>
                    <a:pt x="0" y="173955"/>
                  </a:lnTo>
                  <a:lnTo>
                    <a:pt x="6051" y="218626"/>
                  </a:lnTo>
                  <a:lnTo>
                    <a:pt x="23241" y="261050"/>
                  </a:lnTo>
                  <a:lnTo>
                    <a:pt x="51546" y="298856"/>
                  </a:lnTo>
                  <a:lnTo>
                    <a:pt x="88423" y="327873"/>
                  </a:lnTo>
                  <a:lnTo>
                    <a:pt x="129805" y="345495"/>
                  </a:lnTo>
                  <a:lnTo>
                    <a:pt x="173377" y="351698"/>
                  </a:lnTo>
                  <a:lnTo>
                    <a:pt x="216830" y="346456"/>
                  </a:lnTo>
                  <a:lnTo>
                    <a:pt x="257850" y="329743"/>
                  </a:lnTo>
                  <a:lnTo>
                    <a:pt x="294125" y="301534"/>
                  </a:lnTo>
                  <a:lnTo>
                    <a:pt x="321643" y="264344"/>
                  </a:lnTo>
                  <a:lnTo>
                    <a:pt x="337946" y="222290"/>
                  </a:lnTo>
                  <a:lnTo>
                    <a:pt x="343059" y="177743"/>
                  </a:lnTo>
                  <a:lnTo>
                    <a:pt x="337008" y="133072"/>
                  </a:lnTo>
                  <a:lnTo>
                    <a:pt x="319817" y="90648"/>
                  </a:lnTo>
                  <a:lnTo>
                    <a:pt x="291512" y="52842"/>
                  </a:lnTo>
                  <a:lnTo>
                    <a:pt x="254636" y="23825"/>
                  </a:lnTo>
                  <a:lnTo>
                    <a:pt x="213256" y="6202"/>
                  </a:lnTo>
                  <a:lnTo>
                    <a:pt x="1696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976757" y="1398397"/>
              <a:ext cx="38100" cy="38735"/>
            </a:xfrm>
            <a:custGeom>
              <a:avLst/>
              <a:gdLst/>
              <a:ahLst/>
              <a:cxnLst/>
              <a:rect l="l" t="t" r="r" b="b"/>
              <a:pathLst>
                <a:path w="38100" h="38734">
                  <a:moveTo>
                    <a:pt x="18651" y="0"/>
                  </a:moveTo>
                  <a:lnTo>
                    <a:pt x="11570" y="1337"/>
                  </a:lnTo>
                  <a:lnTo>
                    <a:pt x="5377" y="5515"/>
                  </a:lnTo>
                  <a:lnTo>
                    <a:pt x="1303" y="11864"/>
                  </a:lnTo>
                  <a:lnTo>
                    <a:pt x="0" y="19122"/>
                  </a:lnTo>
                  <a:lnTo>
                    <a:pt x="1457" y="26411"/>
                  </a:lnTo>
                  <a:lnTo>
                    <a:pt x="5665" y="32851"/>
                  </a:lnTo>
                  <a:lnTo>
                    <a:pt x="11948" y="37167"/>
                  </a:lnTo>
                  <a:lnTo>
                    <a:pt x="19059" y="38661"/>
                  </a:lnTo>
                  <a:lnTo>
                    <a:pt x="26140" y="37324"/>
                  </a:lnTo>
                  <a:lnTo>
                    <a:pt x="32334" y="33145"/>
                  </a:lnTo>
                  <a:lnTo>
                    <a:pt x="36407" y="26797"/>
                  </a:lnTo>
                  <a:lnTo>
                    <a:pt x="37711" y="19539"/>
                  </a:lnTo>
                  <a:lnTo>
                    <a:pt x="36253" y="12249"/>
                  </a:lnTo>
                  <a:lnTo>
                    <a:pt x="32045" y="5807"/>
                  </a:lnTo>
                  <a:lnTo>
                    <a:pt x="25762" y="1493"/>
                  </a:lnTo>
                  <a:lnTo>
                    <a:pt x="18651" y="0"/>
                  </a:lnTo>
                  <a:close/>
                </a:path>
              </a:pathLst>
            </a:custGeom>
            <a:solidFill>
              <a:srgbClr val="64B1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9" name="object 6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024614" y="1437488"/>
              <a:ext cx="232192" cy="236571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298445" y="1447077"/>
              <a:ext cx="216712" cy="228621"/>
            </a:xfrm>
            <a:prstGeom prst="rect">
              <a:avLst/>
            </a:prstGeom>
          </p:spPr>
        </p:pic>
      </p:grpSp>
      <p:sp>
        <p:nvSpPr>
          <p:cNvPr id="71" name="object 71"/>
          <p:cNvSpPr txBox="1"/>
          <p:nvPr/>
        </p:nvSpPr>
        <p:spPr>
          <a:xfrm>
            <a:off x="5751038" y="2477165"/>
            <a:ext cx="702945" cy="2984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00" spc="-30" dirty="0">
                <a:solidFill>
                  <a:srgbClr val="16387F"/>
                </a:solidFill>
                <a:latin typeface="Microsoft Sans Serif"/>
                <a:cs typeface="Microsoft Sans Serif"/>
              </a:rPr>
              <a:t>нафар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5603062" y="1881713"/>
            <a:ext cx="984885" cy="2508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dirty="0">
                <a:solidFill>
                  <a:srgbClr val="3C2B98"/>
                </a:solidFill>
                <a:latin typeface="Tahoma"/>
                <a:cs typeface="Tahoma"/>
              </a:rPr>
              <a:t>Аҳоли</a:t>
            </a:r>
            <a:r>
              <a:rPr sz="1450" spc="-50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450" spc="-20" dirty="0">
                <a:solidFill>
                  <a:srgbClr val="3C2B98"/>
                </a:solidFill>
                <a:latin typeface="Tahoma"/>
                <a:cs typeface="Tahoma"/>
              </a:rPr>
              <a:t>сони</a:t>
            </a:r>
            <a:endParaRPr sz="1450" dirty="0">
              <a:latin typeface="Tahoma"/>
              <a:cs typeface="Tahoma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6745424" y="1872922"/>
            <a:ext cx="1158240" cy="2508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spc="-20" dirty="0">
                <a:solidFill>
                  <a:srgbClr val="3C2B98"/>
                </a:solidFill>
                <a:latin typeface="Tahoma"/>
                <a:cs typeface="Tahoma"/>
              </a:rPr>
              <a:t>Хонадон</a:t>
            </a:r>
            <a:r>
              <a:rPr sz="1450" spc="-45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450" spc="-20" dirty="0">
                <a:solidFill>
                  <a:srgbClr val="3C2B98"/>
                </a:solidFill>
                <a:latin typeface="Tahoma"/>
                <a:cs typeface="Tahoma"/>
              </a:rPr>
              <a:t>сони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5679296" y="2131386"/>
            <a:ext cx="2089785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1256030" algn="l"/>
              </a:tabLst>
            </a:pPr>
            <a:r>
              <a:rPr lang="en-US" sz="2600" b="1" dirty="0">
                <a:solidFill>
                  <a:srgbClr val="16387F"/>
                </a:solidFill>
                <a:latin typeface="Arial"/>
                <a:cs typeface="Arial"/>
              </a:rPr>
              <a:t>6 100</a:t>
            </a:r>
            <a:r>
              <a:rPr sz="2600" b="1" dirty="0">
                <a:solidFill>
                  <a:srgbClr val="16387F"/>
                </a:solidFill>
                <a:latin typeface="Arial"/>
                <a:cs typeface="Arial"/>
              </a:rPr>
              <a:t>	</a:t>
            </a:r>
            <a:r>
              <a:rPr lang="en-US" sz="2600" b="1" dirty="0">
                <a:solidFill>
                  <a:srgbClr val="16387F"/>
                </a:solidFill>
                <a:latin typeface="Arial"/>
                <a:cs typeface="Arial"/>
              </a:rPr>
              <a:t>2 296</a:t>
            </a:r>
            <a:endParaRPr sz="2600" dirty="0">
              <a:latin typeface="Arial"/>
              <a:cs typeface="Arial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7221818" y="2477165"/>
            <a:ext cx="248920" cy="2984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00" spc="-25" dirty="0">
                <a:solidFill>
                  <a:srgbClr val="16387F"/>
                </a:solidFill>
                <a:latin typeface="Microsoft Sans Serif"/>
                <a:cs typeface="Microsoft Sans Serif"/>
              </a:rPr>
              <a:t>та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76" name="object 76"/>
          <p:cNvGrpSpPr/>
          <p:nvPr/>
        </p:nvGrpSpPr>
        <p:grpSpPr>
          <a:xfrm>
            <a:off x="373635" y="3082308"/>
            <a:ext cx="8353302" cy="1857381"/>
            <a:chOff x="338423" y="3091416"/>
            <a:chExt cx="8353302" cy="1857381"/>
          </a:xfrm>
        </p:grpSpPr>
        <p:sp>
          <p:nvSpPr>
            <p:cNvPr id="77" name="object 77"/>
            <p:cNvSpPr/>
            <p:nvPr/>
          </p:nvSpPr>
          <p:spPr>
            <a:xfrm>
              <a:off x="578966" y="3091416"/>
              <a:ext cx="8112759" cy="847725"/>
            </a:xfrm>
            <a:custGeom>
              <a:avLst/>
              <a:gdLst/>
              <a:ahLst/>
              <a:cxnLst/>
              <a:rect l="l" t="t" r="r" b="b"/>
              <a:pathLst>
                <a:path w="8112759" h="847725">
                  <a:moveTo>
                    <a:pt x="8112643" y="0"/>
                  </a:moveTo>
                  <a:lnTo>
                    <a:pt x="0" y="0"/>
                  </a:lnTo>
                  <a:lnTo>
                    <a:pt x="0" y="847432"/>
                  </a:lnTo>
                  <a:lnTo>
                    <a:pt x="8112643" y="847432"/>
                  </a:lnTo>
                  <a:lnTo>
                    <a:pt x="8112643" y="0"/>
                  </a:lnTo>
                  <a:close/>
                </a:path>
              </a:pathLst>
            </a:custGeom>
            <a:solidFill>
              <a:srgbClr val="151616">
                <a:alpha val="195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676746" y="3189196"/>
              <a:ext cx="7917180" cy="652145"/>
            </a:xfrm>
            <a:custGeom>
              <a:avLst/>
              <a:gdLst/>
              <a:ahLst/>
              <a:cxnLst/>
              <a:rect l="l" t="t" r="r" b="b"/>
              <a:pathLst>
                <a:path w="7917180" h="652145">
                  <a:moveTo>
                    <a:pt x="7596474" y="0"/>
                  </a:moveTo>
                  <a:lnTo>
                    <a:pt x="320601" y="0"/>
                  </a:lnTo>
                  <a:lnTo>
                    <a:pt x="273401" y="3551"/>
                  </a:lnTo>
                  <a:lnTo>
                    <a:pt x="228293" y="13861"/>
                  </a:lnTo>
                  <a:lnTo>
                    <a:pt x="185782" y="30417"/>
                  </a:lnTo>
                  <a:lnTo>
                    <a:pt x="146376" y="52703"/>
                  </a:lnTo>
                  <a:lnTo>
                    <a:pt x="110580" y="80204"/>
                  </a:lnTo>
                  <a:lnTo>
                    <a:pt x="78902" y="112407"/>
                  </a:lnTo>
                  <a:lnTo>
                    <a:pt x="51848" y="148797"/>
                  </a:lnTo>
                  <a:lnTo>
                    <a:pt x="29924" y="188860"/>
                  </a:lnTo>
                  <a:lnTo>
                    <a:pt x="13637" y="232080"/>
                  </a:lnTo>
                  <a:lnTo>
                    <a:pt x="3493" y="277944"/>
                  </a:lnTo>
                  <a:lnTo>
                    <a:pt x="0" y="325936"/>
                  </a:lnTo>
                  <a:lnTo>
                    <a:pt x="3494" y="373934"/>
                  </a:lnTo>
                  <a:lnTo>
                    <a:pt x="13637" y="419801"/>
                  </a:lnTo>
                  <a:lnTo>
                    <a:pt x="29922" y="463023"/>
                  </a:lnTo>
                  <a:lnTo>
                    <a:pt x="51844" y="503085"/>
                  </a:lnTo>
                  <a:lnTo>
                    <a:pt x="78896" y="539475"/>
                  </a:lnTo>
                  <a:lnTo>
                    <a:pt x="110572" y="571676"/>
                  </a:lnTo>
                  <a:lnTo>
                    <a:pt x="146366" y="599176"/>
                  </a:lnTo>
                  <a:lnTo>
                    <a:pt x="185772" y="621460"/>
                  </a:lnTo>
                  <a:lnTo>
                    <a:pt x="228284" y="638014"/>
                  </a:lnTo>
                  <a:lnTo>
                    <a:pt x="273398" y="648323"/>
                  </a:lnTo>
                  <a:lnTo>
                    <a:pt x="320601" y="651874"/>
                  </a:lnTo>
                  <a:lnTo>
                    <a:pt x="7596474" y="651874"/>
                  </a:lnTo>
                  <a:lnTo>
                    <a:pt x="7643687" y="648323"/>
                  </a:lnTo>
                  <a:lnTo>
                    <a:pt x="7688804" y="638014"/>
                  </a:lnTo>
                  <a:lnTo>
                    <a:pt x="7731320" y="621460"/>
                  </a:lnTo>
                  <a:lnTo>
                    <a:pt x="7770727" y="599176"/>
                  </a:lnTo>
                  <a:lnTo>
                    <a:pt x="7806522" y="571676"/>
                  </a:lnTo>
                  <a:lnTo>
                    <a:pt x="7838197" y="539475"/>
                  </a:lnTo>
                  <a:lnTo>
                    <a:pt x="7865247" y="503085"/>
                  </a:lnTo>
                  <a:lnTo>
                    <a:pt x="7887167" y="463023"/>
                  </a:lnTo>
                  <a:lnTo>
                    <a:pt x="7903450" y="419801"/>
                  </a:lnTo>
                  <a:lnTo>
                    <a:pt x="7913590" y="373934"/>
                  </a:lnTo>
                  <a:lnTo>
                    <a:pt x="7917083" y="325936"/>
                  </a:lnTo>
                  <a:lnTo>
                    <a:pt x="7913589" y="277944"/>
                  </a:lnTo>
                  <a:lnTo>
                    <a:pt x="7903444" y="232080"/>
                  </a:lnTo>
                  <a:lnTo>
                    <a:pt x="7887155" y="188860"/>
                  </a:lnTo>
                  <a:lnTo>
                    <a:pt x="7865229" y="148797"/>
                  </a:lnTo>
                  <a:lnTo>
                    <a:pt x="7838171" y="112407"/>
                  </a:lnTo>
                  <a:lnTo>
                    <a:pt x="7806490" y="80204"/>
                  </a:lnTo>
                  <a:lnTo>
                    <a:pt x="7770693" y="52703"/>
                  </a:lnTo>
                  <a:lnTo>
                    <a:pt x="7731285" y="30417"/>
                  </a:lnTo>
                  <a:lnTo>
                    <a:pt x="7688774" y="13861"/>
                  </a:lnTo>
                  <a:lnTo>
                    <a:pt x="7643668" y="3551"/>
                  </a:lnTo>
                  <a:lnTo>
                    <a:pt x="75964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595245" y="3129302"/>
              <a:ext cx="8069580" cy="772160"/>
            </a:xfrm>
            <a:custGeom>
              <a:avLst/>
              <a:gdLst/>
              <a:ahLst/>
              <a:cxnLst/>
              <a:rect l="l" t="t" r="r" b="b"/>
              <a:pathLst>
                <a:path w="8069580" h="772160">
                  <a:moveTo>
                    <a:pt x="7692523" y="0"/>
                  </a:moveTo>
                  <a:lnTo>
                    <a:pt x="377032" y="0"/>
                  </a:lnTo>
                  <a:lnTo>
                    <a:pt x="329916" y="3020"/>
                  </a:lnTo>
                  <a:lnTo>
                    <a:pt x="284496" y="11836"/>
                  </a:lnTo>
                  <a:lnTo>
                    <a:pt x="241133" y="26078"/>
                  </a:lnTo>
                  <a:lnTo>
                    <a:pt x="200187" y="45379"/>
                  </a:lnTo>
                  <a:lnTo>
                    <a:pt x="162020" y="69368"/>
                  </a:lnTo>
                  <a:lnTo>
                    <a:pt x="126993" y="97677"/>
                  </a:lnTo>
                  <a:lnTo>
                    <a:pt x="95465" y="129938"/>
                  </a:lnTo>
                  <a:lnTo>
                    <a:pt x="67798" y="165781"/>
                  </a:lnTo>
                  <a:lnTo>
                    <a:pt x="44353" y="204838"/>
                  </a:lnTo>
                  <a:lnTo>
                    <a:pt x="25489" y="246740"/>
                  </a:lnTo>
                  <a:lnTo>
                    <a:pt x="11569" y="291119"/>
                  </a:lnTo>
                  <a:lnTo>
                    <a:pt x="2952" y="337605"/>
                  </a:lnTo>
                  <a:lnTo>
                    <a:pt x="0" y="385829"/>
                  </a:lnTo>
                  <a:lnTo>
                    <a:pt x="2951" y="434053"/>
                  </a:lnTo>
                  <a:lnTo>
                    <a:pt x="11566" y="480538"/>
                  </a:lnTo>
                  <a:lnTo>
                    <a:pt x="25484" y="524916"/>
                  </a:lnTo>
                  <a:lnTo>
                    <a:pt x="44344" y="566817"/>
                  </a:lnTo>
                  <a:lnTo>
                    <a:pt x="67786" y="605873"/>
                  </a:lnTo>
                  <a:lnTo>
                    <a:pt x="95449" y="641716"/>
                  </a:lnTo>
                  <a:lnTo>
                    <a:pt x="126974" y="673975"/>
                  </a:lnTo>
                  <a:lnTo>
                    <a:pt x="162000" y="702284"/>
                  </a:lnTo>
                  <a:lnTo>
                    <a:pt x="200167" y="726272"/>
                  </a:lnTo>
                  <a:lnTo>
                    <a:pt x="241114" y="745571"/>
                  </a:lnTo>
                  <a:lnTo>
                    <a:pt x="284481" y="759813"/>
                  </a:lnTo>
                  <a:lnTo>
                    <a:pt x="329907" y="768629"/>
                  </a:lnTo>
                  <a:lnTo>
                    <a:pt x="377032" y="771649"/>
                  </a:lnTo>
                  <a:lnTo>
                    <a:pt x="7692523" y="771649"/>
                  </a:lnTo>
                  <a:lnTo>
                    <a:pt x="7739647" y="768629"/>
                  </a:lnTo>
                  <a:lnTo>
                    <a:pt x="7785072" y="759813"/>
                  </a:lnTo>
                  <a:lnTo>
                    <a:pt x="7828438" y="745571"/>
                  </a:lnTo>
                  <a:lnTo>
                    <a:pt x="7869384" y="726272"/>
                  </a:lnTo>
                  <a:lnTo>
                    <a:pt x="7907550" y="702284"/>
                  </a:lnTo>
                  <a:lnTo>
                    <a:pt x="7942576" y="673975"/>
                  </a:lnTo>
                  <a:lnTo>
                    <a:pt x="7974101" y="641716"/>
                  </a:lnTo>
                  <a:lnTo>
                    <a:pt x="8001765" y="605873"/>
                  </a:lnTo>
                  <a:lnTo>
                    <a:pt x="8025207" y="566817"/>
                  </a:lnTo>
                  <a:lnTo>
                    <a:pt x="8044067" y="524916"/>
                  </a:lnTo>
                  <a:lnTo>
                    <a:pt x="8057985" y="480538"/>
                  </a:lnTo>
                  <a:lnTo>
                    <a:pt x="8066600" y="434053"/>
                  </a:lnTo>
                  <a:lnTo>
                    <a:pt x="8069552" y="385829"/>
                  </a:lnTo>
                  <a:lnTo>
                    <a:pt x="8066598" y="337605"/>
                  </a:lnTo>
                  <a:lnTo>
                    <a:pt x="8057980" y="291119"/>
                  </a:lnTo>
                  <a:lnTo>
                    <a:pt x="8044057" y="246740"/>
                  </a:lnTo>
                  <a:lnTo>
                    <a:pt x="8025191" y="204838"/>
                  </a:lnTo>
                  <a:lnTo>
                    <a:pt x="8001742" y="165781"/>
                  </a:lnTo>
                  <a:lnTo>
                    <a:pt x="7974072" y="129938"/>
                  </a:lnTo>
                  <a:lnTo>
                    <a:pt x="7942543" y="97677"/>
                  </a:lnTo>
                  <a:lnTo>
                    <a:pt x="7907514" y="69368"/>
                  </a:lnTo>
                  <a:lnTo>
                    <a:pt x="7869347" y="45379"/>
                  </a:lnTo>
                  <a:lnTo>
                    <a:pt x="7828404" y="26078"/>
                  </a:lnTo>
                  <a:lnTo>
                    <a:pt x="7785044" y="11836"/>
                  </a:lnTo>
                  <a:lnTo>
                    <a:pt x="7739630" y="3020"/>
                  </a:lnTo>
                  <a:lnTo>
                    <a:pt x="7692523" y="0"/>
                  </a:lnTo>
                  <a:close/>
                </a:path>
              </a:pathLst>
            </a:custGeom>
            <a:ln w="7199">
              <a:solidFill>
                <a:srgbClr val="B8CB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1145933" y="4212197"/>
              <a:ext cx="1977389" cy="736600"/>
            </a:xfrm>
            <a:custGeom>
              <a:avLst/>
              <a:gdLst/>
              <a:ahLst/>
              <a:cxnLst/>
              <a:rect l="l" t="t" r="r" b="b"/>
              <a:pathLst>
                <a:path w="1977389" h="736600">
                  <a:moveTo>
                    <a:pt x="0" y="0"/>
                  </a:moveTo>
                  <a:lnTo>
                    <a:pt x="1889838" y="0"/>
                  </a:lnTo>
                  <a:lnTo>
                    <a:pt x="1923779" y="5587"/>
                  </a:lnTo>
                  <a:lnTo>
                    <a:pt x="1951573" y="20797"/>
                  </a:lnTo>
                  <a:lnTo>
                    <a:pt x="1970353" y="43300"/>
                  </a:lnTo>
                  <a:lnTo>
                    <a:pt x="1977250" y="70768"/>
                  </a:lnTo>
                  <a:lnTo>
                    <a:pt x="1977250" y="665434"/>
                  </a:lnTo>
                  <a:lnTo>
                    <a:pt x="1970350" y="692907"/>
                  </a:lnTo>
                  <a:lnTo>
                    <a:pt x="1951566" y="715411"/>
                  </a:lnTo>
                  <a:lnTo>
                    <a:pt x="1923771" y="730620"/>
                  </a:lnTo>
                  <a:lnTo>
                    <a:pt x="1889838" y="736207"/>
                  </a:lnTo>
                  <a:lnTo>
                    <a:pt x="0" y="736207"/>
                  </a:lnTo>
                  <a:lnTo>
                    <a:pt x="0" y="441406"/>
                  </a:lnTo>
                  <a:lnTo>
                    <a:pt x="102585" y="368679"/>
                  </a:lnTo>
                  <a:lnTo>
                    <a:pt x="0" y="295951"/>
                  </a:lnTo>
                  <a:lnTo>
                    <a:pt x="0" y="0"/>
                  </a:lnTo>
                  <a:close/>
                </a:path>
              </a:pathLst>
            </a:custGeom>
            <a:ln w="7199">
              <a:solidFill>
                <a:srgbClr val="AFDC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2" name="object 8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38423" y="4200131"/>
              <a:ext cx="1171713" cy="741207"/>
            </a:xfrm>
            <a:prstGeom prst="rect">
              <a:avLst/>
            </a:prstGeom>
          </p:spPr>
        </p:pic>
      </p:grpSp>
      <p:sp>
        <p:nvSpPr>
          <p:cNvPr id="83" name="object 83"/>
          <p:cNvSpPr txBox="1"/>
          <p:nvPr/>
        </p:nvSpPr>
        <p:spPr>
          <a:xfrm>
            <a:off x="838720" y="3217628"/>
            <a:ext cx="3058160" cy="515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44805">
              <a:lnSpc>
                <a:spcPct val="107100"/>
              </a:lnSpc>
              <a:spcBef>
                <a:spcPts val="100"/>
              </a:spcBef>
            </a:pPr>
            <a:r>
              <a:rPr sz="1500" spc="-10" dirty="0">
                <a:solidFill>
                  <a:srgbClr val="3C2B98"/>
                </a:solidFill>
                <a:latin typeface="Microsoft Sans Serif"/>
                <a:cs typeface="Microsoft Sans Serif"/>
              </a:rPr>
              <a:t>Тадбиркорлик</a:t>
            </a:r>
            <a:r>
              <a:rPr sz="1500" spc="-60" dirty="0">
                <a:solidFill>
                  <a:srgbClr val="3C2B98"/>
                </a:solidFill>
                <a:latin typeface="Microsoft Sans Serif"/>
                <a:cs typeface="Microsoft Sans Serif"/>
              </a:rPr>
              <a:t> </a:t>
            </a:r>
            <a:r>
              <a:rPr sz="1500" spc="-10" dirty="0">
                <a:solidFill>
                  <a:srgbClr val="3C2B98"/>
                </a:solidFill>
                <a:latin typeface="Microsoft Sans Serif"/>
                <a:cs typeface="Microsoft Sans Serif"/>
              </a:rPr>
              <a:t>дастурлари </a:t>
            </a:r>
            <a:r>
              <a:rPr sz="1500" dirty="0">
                <a:solidFill>
                  <a:srgbClr val="3C2B98"/>
                </a:solidFill>
                <a:latin typeface="Microsoft Sans Serif"/>
                <a:cs typeface="Microsoft Sans Serif"/>
              </a:rPr>
              <a:t>доирасида</a:t>
            </a:r>
            <a:r>
              <a:rPr sz="1500" spc="15" dirty="0">
                <a:solidFill>
                  <a:srgbClr val="3C2B98"/>
                </a:solidFill>
                <a:latin typeface="Microsoft Sans Serif"/>
                <a:cs typeface="Microsoft Sans Serif"/>
              </a:rPr>
              <a:t> </a:t>
            </a:r>
            <a:r>
              <a:rPr sz="1500" dirty="0">
                <a:solidFill>
                  <a:srgbClr val="3C2B98"/>
                </a:solidFill>
                <a:latin typeface="Microsoft Sans Serif"/>
                <a:cs typeface="Microsoft Sans Serif"/>
              </a:rPr>
              <a:t>ажратилган</a:t>
            </a:r>
            <a:r>
              <a:rPr sz="1500" spc="15" dirty="0">
                <a:solidFill>
                  <a:srgbClr val="3C2B98"/>
                </a:solidFill>
                <a:latin typeface="Microsoft Sans Serif"/>
                <a:cs typeface="Microsoft Sans Serif"/>
              </a:rPr>
              <a:t> </a:t>
            </a:r>
            <a:r>
              <a:rPr sz="1500" spc="-10" dirty="0">
                <a:solidFill>
                  <a:srgbClr val="3C2B98"/>
                </a:solidFill>
                <a:latin typeface="Microsoft Sans Serif"/>
                <a:cs typeface="Microsoft Sans Serif"/>
              </a:rPr>
              <a:t>кредитлар</a:t>
            </a:r>
            <a:endParaRPr sz="1500">
              <a:latin typeface="Microsoft Sans Serif"/>
              <a:cs typeface="Microsoft Sans Serif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5009927" y="3366068"/>
            <a:ext cx="1676660" cy="44755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sz="2800" b="1" dirty="0">
                <a:solidFill>
                  <a:srgbClr val="273B6F"/>
                </a:solidFill>
                <a:latin typeface="Arial"/>
                <a:cs typeface="Arial"/>
              </a:rPr>
              <a:t>210,0</a:t>
            </a:r>
            <a:r>
              <a:rPr lang="en-US" sz="3375" spc="37" baseline="1234" dirty="0">
                <a:solidFill>
                  <a:srgbClr val="273B6F"/>
                </a:solidFill>
                <a:latin typeface="Microsoft Sans Serif"/>
                <a:cs typeface="Microsoft Sans Serif"/>
              </a:rPr>
              <a:t> </a:t>
            </a:r>
            <a:r>
              <a:rPr lang="ru-RU" sz="1200" spc="37" dirty="0">
                <a:solidFill>
                  <a:srgbClr val="273B6F"/>
                </a:solidFill>
                <a:latin typeface="+mn-lt"/>
                <a:cs typeface="Microsoft Sans Serif"/>
              </a:rPr>
              <a:t>млн</a:t>
            </a:r>
            <a:r>
              <a:rPr lang="ru-RU" sz="1200" spc="37" dirty="0">
                <a:solidFill>
                  <a:srgbClr val="273B6F"/>
                </a:solidFill>
                <a:latin typeface="Microsoft Sans Serif"/>
                <a:cs typeface="Microsoft Sans Serif"/>
              </a:rPr>
              <a:t> </a:t>
            </a:r>
            <a:r>
              <a:rPr lang="ru-RU" sz="1200" spc="37" dirty="0">
                <a:solidFill>
                  <a:srgbClr val="273B6F"/>
                </a:solidFill>
                <a:latin typeface="+mn-lt"/>
                <a:cs typeface="Microsoft Sans Serif"/>
              </a:rPr>
              <a:t>с</a:t>
            </a:r>
            <a:r>
              <a:rPr lang="uz-Cyrl-UZ" sz="1200" spc="37" dirty="0">
                <a:solidFill>
                  <a:srgbClr val="273B6F"/>
                </a:solidFill>
                <a:latin typeface="+mn-lt"/>
                <a:cs typeface="Microsoft Sans Serif"/>
              </a:rPr>
              <a:t>ўм</a:t>
            </a:r>
            <a:endParaRPr sz="1200" baseline="1234" dirty="0">
              <a:latin typeface="+mn-lt"/>
              <a:cs typeface="Microsoft Sans Serif"/>
            </a:endParaRPr>
          </a:p>
        </p:txBody>
      </p:sp>
      <p:grpSp>
        <p:nvGrpSpPr>
          <p:cNvPr id="86" name="object 86"/>
          <p:cNvGrpSpPr/>
          <p:nvPr/>
        </p:nvGrpSpPr>
        <p:grpSpPr>
          <a:xfrm>
            <a:off x="4100927" y="3149702"/>
            <a:ext cx="2216142" cy="682524"/>
            <a:chOff x="3928011" y="2985781"/>
            <a:chExt cx="2898140" cy="1086485"/>
          </a:xfrm>
        </p:grpSpPr>
        <p:sp>
          <p:nvSpPr>
            <p:cNvPr id="87" name="object 87"/>
            <p:cNvSpPr/>
            <p:nvPr/>
          </p:nvSpPr>
          <p:spPr>
            <a:xfrm>
              <a:off x="3959044" y="3019630"/>
              <a:ext cx="1050290" cy="1019175"/>
            </a:xfrm>
            <a:custGeom>
              <a:avLst/>
              <a:gdLst/>
              <a:ahLst/>
              <a:cxnLst/>
              <a:rect l="l" t="t" r="r" b="b"/>
              <a:pathLst>
                <a:path w="1050289" h="1019175">
                  <a:moveTo>
                    <a:pt x="519320" y="0"/>
                  </a:moveTo>
                  <a:lnTo>
                    <a:pt x="474600" y="1374"/>
                  </a:lnTo>
                  <a:lnTo>
                    <a:pt x="430182" y="6434"/>
                  </a:lnTo>
                  <a:lnTo>
                    <a:pt x="386330" y="15183"/>
                  </a:lnTo>
                  <a:lnTo>
                    <a:pt x="343305" y="27623"/>
                  </a:lnTo>
                  <a:lnTo>
                    <a:pt x="301369" y="43758"/>
                  </a:lnTo>
                  <a:lnTo>
                    <a:pt x="260785" y="63590"/>
                  </a:lnTo>
                  <a:lnTo>
                    <a:pt x="221814" y="87121"/>
                  </a:lnTo>
                  <a:lnTo>
                    <a:pt x="184718" y="114355"/>
                  </a:lnTo>
                  <a:lnTo>
                    <a:pt x="149760" y="145294"/>
                  </a:lnTo>
                  <a:lnTo>
                    <a:pt x="117870" y="179209"/>
                  </a:lnTo>
                  <a:lnTo>
                    <a:pt x="89799" y="215197"/>
                  </a:lnTo>
                  <a:lnTo>
                    <a:pt x="65544" y="253006"/>
                  </a:lnTo>
                  <a:lnTo>
                    <a:pt x="45103" y="292379"/>
                  </a:lnTo>
                  <a:lnTo>
                    <a:pt x="28472" y="333064"/>
                  </a:lnTo>
                  <a:lnTo>
                    <a:pt x="15649" y="374806"/>
                  </a:lnTo>
                  <a:lnTo>
                    <a:pt x="6631" y="417350"/>
                  </a:lnTo>
                  <a:lnTo>
                    <a:pt x="1416" y="460442"/>
                  </a:lnTo>
                  <a:lnTo>
                    <a:pt x="0" y="503828"/>
                  </a:lnTo>
                  <a:lnTo>
                    <a:pt x="2380" y="547254"/>
                  </a:lnTo>
                  <a:lnTo>
                    <a:pt x="8554" y="590465"/>
                  </a:lnTo>
                  <a:lnTo>
                    <a:pt x="18519" y="633207"/>
                  </a:lnTo>
                  <a:lnTo>
                    <a:pt x="32272" y="675226"/>
                  </a:lnTo>
                  <a:lnTo>
                    <a:pt x="49810" y="716268"/>
                  </a:lnTo>
                  <a:lnTo>
                    <a:pt x="71131" y="756078"/>
                  </a:lnTo>
                  <a:lnTo>
                    <a:pt x="96232" y="794402"/>
                  </a:lnTo>
                  <a:lnTo>
                    <a:pt x="125109" y="830985"/>
                  </a:lnTo>
                  <a:lnTo>
                    <a:pt x="157760" y="865574"/>
                  </a:lnTo>
                  <a:lnTo>
                    <a:pt x="193413" y="897252"/>
                  </a:lnTo>
                  <a:lnTo>
                    <a:pt x="231121" y="925268"/>
                  </a:lnTo>
                  <a:lnTo>
                    <a:pt x="270623" y="949620"/>
                  </a:lnTo>
                  <a:lnTo>
                    <a:pt x="311658" y="970305"/>
                  </a:lnTo>
                  <a:lnTo>
                    <a:pt x="353961" y="987321"/>
                  </a:lnTo>
                  <a:lnTo>
                    <a:pt x="397273" y="1000664"/>
                  </a:lnTo>
                  <a:lnTo>
                    <a:pt x="441329" y="1010331"/>
                  </a:lnTo>
                  <a:lnTo>
                    <a:pt x="485869" y="1016321"/>
                  </a:lnTo>
                  <a:lnTo>
                    <a:pt x="530630" y="1018631"/>
                  </a:lnTo>
                  <a:lnTo>
                    <a:pt x="575351" y="1017257"/>
                  </a:lnTo>
                  <a:lnTo>
                    <a:pt x="619768" y="1012196"/>
                  </a:lnTo>
                  <a:lnTo>
                    <a:pt x="663620" y="1003447"/>
                  </a:lnTo>
                  <a:lnTo>
                    <a:pt x="706645" y="991007"/>
                  </a:lnTo>
                  <a:lnTo>
                    <a:pt x="748581" y="974872"/>
                  </a:lnTo>
                  <a:lnTo>
                    <a:pt x="789165" y="955041"/>
                  </a:lnTo>
                  <a:lnTo>
                    <a:pt x="828136" y="931509"/>
                  </a:lnTo>
                  <a:lnTo>
                    <a:pt x="865231" y="904275"/>
                  </a:lnTo>
                  <a:lnTo>
                    <a:pt x="900188" y="873336"/>
                  </a:lnTo>
                  <a:lnTo>
                    <a:pt x="932079" y="839422"/>
                  </a:lnTo>
                  <a:lnTo>
                    <a:pt x="960151" y="803433"/>
                  </a:lnTo>
                  <a:lnTo>
                    <a:pt x="984406" y="765625"/>
                  </a:lnTo>
                  <a:lnTo>
                    <a:pt x="1004848" y="726251"/>
                  </a:lnTo>
                  <a:lnTo>
                    <a:pt x="1021479" y="685566"/>
                  </a:lnTo>
                  <a:lnTo>
                    <a:pt x="1034302" y="643825"/>
                  </a:lnTo>
                  <a:lnTo>
                    <a:pt x="1043320" y="601281"/>
                  </a:lnTo>
                  <a:lnTo>
                    <a:pt x="1048536" y="558188"/>
                  </a:lnTo>
                  <a:lnTo>
                    <a:pt x="1049952" y="514802"/>
                  </a:lnTo>
                  <a:lnTo>
                    <a:pt x="1047572" y="471376"/>
                  </a:lnTo>
                  <a:lnTo>
                    <a:pt x="1041398" y="428165"/>
                  </a:lnTo>
                  <a:lnTo>
                    <a:pt x="1031433" y="385423"/>
                  </a:lnTo>
                  <a:lnTo>
                    <a:pt x="1017680" y="343404"/>
                  </a:lnTo>
                  <a:lnTo>
                    <a:pt x="1000142" y="302362"/>
                  </a:lnTo>
                  <a:lnTo>
                    <a:pt x="978821" y="262552"/>
                  </a:lnTo>
                  <a:lnTo>
                    <a:pt x="953721" y="224228"/>
                  </a:lnTo>
                  <a:lnTo>
                    <a:pt x="924843" y="187645"/>
                  </a:lnTo>
                  <a:lnTo>
                    <a:pt x="892192" y="153056"/>
                  </a:lnTo>
                  <a:lnTo>
                    <a:pt x="856539" y="121378"/>
                  </a:lnTo>
                  <a:lnTo>
                    <a:pt x="818830" y="93362"/>
                  </a:lnTo>
                  <a:lnTo>
                    <a:pt x="779327" y="69010"/>
                  </a:lnTo>
                  <a:lnTo>
                    <a:pt x="738293" y="48325"/>
                  </a:lnTo>
                  <a:lnTo>
                    <a:pt x="695989" y="31309"/>
                  </a:lnTo>
                  <a:lnTo>
                    <a:pt x="652678" y="17966"/>
                  </a:lnTo>
                  <a:lnTo>
                    <a:pt x="608621" y="8299"/>
                  </a:lnTo>
                  <a:lnTo>
                    <a:pt x="564081" y="2309"/>
                  </a:lnTo>
                  <a:lnTo>
                    <a:pt x="5193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3959044" y="3019630"/>
              <a:ext cx="1050290" cy="1019175"/>
            </a:xfrm>
            <a:custGeom>
              <a:avLst/>
              <a:gdLst/>
              <a:ahLst/>
              <a:cxnLst/>
              <a:rect l="l" t="t" r="r" b="b"/>
              <a:pathLst>
                <a:path w="1050289" h="1019175">
                  <a:moveTo>
                    <a:pt x="900188" y="873336"/>
                  </a:moveTo>
                  <a:lnTo>
                    <a:pt x="932079" y="839422"/>
                  </a:lnTo>
                  <a:lnTo>
                    <a:pt x="960151" y="803433"/>
                  </a:lnTo>
                  <a:lnTo>
                    <a:pt x="984406" y="765625"/>
                  </a:lnTo>
                  <a:lnTo>
                    <a:pt x="1004848" y="726251"/>
                  </a:lnTo>
                  <a:lnTo>
                    <a:pt x="1021479" y="685566"/>
                  </a:lnTo>
                  <a:lnTo>
                    <a:pt x="1034302" y="643825"/>
                  </a:lnTo>
                  <a:lnTo>
                    <a:pt x="1043320" y="601281"/>
                  </a:lnTo>
                  <a:lnTo>
                    <a:pt x="1048536" y="558188"/>
                  </a:lnTo>
                  <a:lnTo>
                    <a:pt x="1049952" y="514802"/>
                  </a:lnTo>
                  <a:lnTo>
                    <a:pt x="1047572" y="471376"/>
                  </a:lnTo>
                  <a:lnTo>
                    <a:pt x="1041398" y="428165"/>
                  </a:lnTo>
                  <a:lnTo>
                    <a:pt x="1031433" y="385423"/>
                  </a:lnTo>
                  <a:lnTo>
                    <a:pt x="1017680" y="343404"/>
                  </a:lnTo>
                  <a:lnTo>
                    <a:pt x="1000142" y="302362"/>
                  </a:lnTo>
                  <a:lnTo>
                    <a:pt x="978821" y="262552"/>
                  </a:lnTo>
                  <a:lnTo>
                    <a:pt x="953721" y="224228"/>
                  </a:lnTo>
                  <a:lnTo>
                    <a:pt x="924843" y="187645"/>
                  </a:lnTo>
                  <a:lnTo>
                    <a:pt x="892192" y="153056"/>
                  </a:lnTo>
                  <a:lnTo>
                    <a:pt x="856539" y="121378"/>
                  </a:lnTo>
                  <a:lnTo>
                    <a:pt x="818830" y="93362"/>
                  </a:lnTo>
                  <a:lnTo>
                    <a:pt x="779327" y="69010"/>
                  </a:lnTo>
                  <a:lnTo>
                    <a:pt x="738293" y="48325"/>
                  </a:lnTo>
                  <a:lnTo>
                    <a:pt x="695989" y="31309"/>
                  </a:lnTo>
                  <a:lnTo>
                    <a:pt x="652678" y="17966"/>
                  </a:lnTo>
                  <a:lnTo>
                    <a:pt x="608621" y="8299"/>
                  </a:lnTo>
                  <a:lnTo>
                    <a:pt x="564081" y="2309"/>
                  </a:lnTo>
                  <a:lnTo>
                    <a:pt x="519320" y="0"/>
                  </a:lnTo>
                  <a:lnTo>
                    <a:pt x="474600" y="1374"/>
                  </a:lnTo>
                  <a:lnTo>
                    <a:pt x="430182" y="6434"/>
                  </a:lnTo>
                  <a:lnTo>
                    <a:pt x="386330" y="15183"/>
                  </a:lnTo>
                  <a:lnTo>
                    <a:pt x="343305" y="27623"/>
                  </a:lnTo>
                  <a:lnTo>
                    <a:pt x="301369" y="43758"/>
                  </a:lnTo>
                  <a:lnTo>
                    <a:pt x="260785" y="63590"/>
                  </a:lnTo>
                  <a:lnTo>
                    <a:pt x="221814" y="87121"/>
                  </a:lnTo>
                  <a:lnTo>
                    <a:pt x="184718" y="114355"/>
                  </a:lnTo>
                  <a:lnTo>
                    <a:pt x="149760" y="145294"/>
                  </a:lnTo>
                  <a:lnTo>
                    <a:pt x="117870" y="179209"/>
                  </a:lnTo>
                  <a:lnTo>
                    <a:pt x="89799" y="215197"/>
                  </a:lnTo>
                  <a:lnTo>
                    <a:pt x="65544" y="253006"/>
                  </a:lnTo>
                  <a:lnTo>
                    <a:pt x="45103" y="292379"/>
                  </a:lnTo>
                  <a:lnTo>
                    <a:pt x="28472" y="333064"/>
                  </a:lnTo>
                  <a:lnTo>
                    <a:pt x="15649" y="374806"/>
                  </a:lnTo>
                  <a:lnTo>
                    <a:pt x="6631" y="417350"/>
                  </a:lnTo>
                  <a:lnTo>
                    <a:pt x="1416" y="460442"/>
                  </a:lnTo>
                  <a:lnTo>
                    <a:pt x="0" y="503828"/>
                  </a:lnTo>
                  <a:lnTo>
                    <a:pt x="2380" y="547254"/>
                  </a:lnTo>
                  <a:lnTo>
                    <a:pt x="8554" y="590465"/>
                  </a:lnTo>
                  <a:lnTo>
                    <a:pt x="18519" y="633207"/>
                  </a:lnTo>
                  <a:lnTo>
                    <a:pt x="32272" y="675226"/>
                  </a:lnTo>
                  <a:lnTo>
                    <a:pt x="49810" y="716268"/>
                  </a:lnTo>
                  <a:lnTo>
                    <a:pt x="71131" y="756078"/>
                  </a:lnTo>
                  <a:lnTo>
                    <a:pt x="96232" y="794402"/>
                  </a:lnTo>
                  <a:lnTo>
                    <a:pt x="125109" y="830985"/>
                  </a:lnTo>
                  <a:lnTo>
                    <a:pt x="157760" y="865574"/>
                  </a:lnTo>
                  <a:lnTo>
                    <a:pt x="193413" y="897252"/>
                  </a:lnTo>
                  <a:lnTo>
                    <a:pt x="231121" y="925268"/>
                  </a:lnTo>
                  <a:lnTo>
                    <a:pt x="270623" y="949620"/>
                  </a:lnTo>
                  <a:lnTo>
                    <a:pt x="311658" y="970305"/>
                  </a:lnTo>
                  <a:lnTo>
                    <a:pt x="353961" y="987321"/>
                  </a:lnTo>
                  <a:lnTo>
                    <a:pt x="397273" y="1000664"/>
                  </a:lnTo>
                  <a:lnTo>
                    <a:pt x="441329" y="1010331"/>
                  </a:lnTo>
                  <a:lnTo>
                    <a:pt x="485869" y="1016321"/>
                  </a:lnTo>
                  <a:lnTo>
                    <a:pt x="530630" y="1018631"/>
                  </a:lnTo>
                  <a:lnTo>
                    <a:pt x="575351" y="1017257"/>
                  </a:lnTo>
                  <a:lnTo>
                    <a:pt x="619768" y="1012196"/>
                  </a:lnTo>
                  <a:lnTo>
                    <a:pt x="663620" y="1003447"/>
                  </a:lnTo>
                  <a:lnTo>
                    <a:pt x="706645" y="991007"/>
                  </a:lnTo>
                  <a:lnTo>
                    <a:pt x="748581" y="974872"/>
                  </a:lnTo>
                  <a:lnTo>
                    <a:pt x="789165" y="955041"/>
                  </a:lnTo>
                  <a:lnTo>
                    <a:pt x="828136" y="931509"/>
                  </a:lnTo>
                  <a:lnTo>
                    <a:pt x="865231" y="904275"/>
                  </a:lnTo>
                  <a:lnTo>
                    <a:pt x="900188" y="873336"/>
                  </a:lnTo>
                  <a:close/>
                </a:path>
              </a:pathLst>
            </a:custGeom>
            <a:ln w="7199">
              <a:solidFill>
                <a:srgbClr val="64B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3928011" y="2985781"/>
              <a:ext cx="1112520" cy="1086485"/>
            </a:xfrm>
            <a:custGeom>
              <a:avLst/>
              <a:gdLst/>
              <a:ahLst/>
              <a:cxnLst/>
              <a:rect l="l" t="t" r="r" b="b"/>
              <a:pathLst>
                <a:path w="1112520" h="1086485">
                  <a:moveTo>
                    <a:pt x="1112020" y="0"/>
                  </a:moveTo>
                  <a:lnTo>
                    <a:pt x="0" y="0"/>
                  </a:lnTo>
                  <a:lnTo>
                    <a:pt x="0" y="1086328"/>
                  </a:lnTo>
                  <a:lnTo>
                    <a:pt x="1112020" y="1086328"/>
                  </a:lnTo>
                  <a:lnTo>
                    <a:pt x="1112020" y="0"/>
                  </a:lnTo>
                  <a:close/>
                </a:path>
              </a:pathLst>
            </a:custGeom>
            <a:solidFill>
              <a:srgbClr val="151616">
                <a:alpha val="20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4053380" y="3111467"/>
              <a:ext cx="861694" cy="835025"/>
            </a:xfrm>
            <a:custGeom>
              <a:avLst/>
              <a:gdLst/>
              <a:ahLst/>
              <a:cxnLst/>
              <a:rect l="l" t="t" r="r" b="b"/>
              <a:pathLst>
                <a:path w="861695" h="835025">
                  <a:moveTo>
                    <a:pt x="403973" y="0"/>
                  </a:moveTo>
                  <a:lnTo>
                    <a:pt x="360139" y="3892"/>
                  </a:lnTo>
                  <a:lnTo>
                    <a:pt x="316910" y="12141"/>
                  </a:lnTo>
                  <a:lnTo>
                    <a:pt x="274658" y="24750"/>
                  </a:lnTo>
                  <a:lnTo>
                    <a:pt x="233755" y="41724"/>
                  </a:lnTo>
                  <a:lnTo>
                    <a:pt x="194572" y="63067"/>
                  </a:lnTo>
                  <a:lnTo>
                    <a:pt x="157481" y="88781"/>
                  </a:lnTo>
                  <a:lnTo>
                    <a:pt x="122853" y="118872"/>
                  </a:lnTo>
                  <a:lnTo>
                    <a:pt x="89793" y="154963"/>
                  </a:lnTo>
                  <a:lnTo>
                    <a:pt x="61912" y="193767"/>
                  </a:lnTo>
                  <a:lnTo>
                    <a:pt x="39203" y="234841"/>
                  </a:lnTo>
                  <a:lnTo>
                    <a:pt x="21663" y="277743"/>
                  </a:lnTo>
                  <a:lnTo>
                    <a:pt x="9285" y="322028"/>
                  </a:lnTo>
                  <a:lnTo>
                    <a:pt x="2066" y="367254"/>
                  </a:lnTo>
                  <a:lnTo>
                    <a:pt x="0" y="412977"/>
                  </a:lnTo>
                  <a:lnTo>
                    <a:pt x="3082" y="458754"/>
                  </a:lnTo>
                  <a:lnTo>
                    <a:pt x="11307" y="504142"/>
                  </a:lnTo>
                  <a:lnTo>
                    <a:pt x="24671" y="548696"/>
                  </a:lnTo>
                  <a:lnTo>
                    <a:pt x="43168" y="591975"/>
                  </a:lnTo>
                  <a:lnTo>
                    <a:pt x="66794" y="633534"/>
                  </a:lnTo>
                  <a:lnTo>
                    <a:pt x="95544" y="672930"/>
                  </a:lnTo>
                  <a:lnTo>
                    <a:pt x="129412" y="709720"/>
                  </a:lnTo>
                  <a:lnTo>
                    <a:pt x="164716" y="740541"/>
                  </a:lnTo>
                  <a:lnTo>
                    <a:pt x="202387" y="767037"/>
                  </a:lnTo>
                  <a:lnTo>
                    <a:pt x="242053" y="789204"/>
                  </a:lnTo>
                  <a:lnTo>
                    <a:pt x="283342" y="807037"/>
                  </a:lnTo>
                  <a:lnTo>
                    <a:pt x="325884" y="820533"/>
                  </a:lnTo>
                  <a:lnTo>
                    <a:pt x="369306" y="829687"/>
                  </a:lnTo>
                  <a:lnTo>
                    <a:pt x="413237" y="834497"/>
                  </a:lnTo>
                  <a:lnTo>
                    <a:pt x="457306" y="834958"/>
                  </a:lnTo>
                  <a:lnTo>
                    <a:pt x="501141" y="831065"/>
                  </a:lnTo>
                  <a:lnTo>
                    <a:pt x="544370" y="822816"/>
                  </a:lnTo>
                  <a:lnTo>
                    <a:pt x="586622" y="810207"/>
                  </a:lnTo>
                  <a:lnTo>
                    <a:pt x="627525" y="793232"/>
                  </a:lnTo>
                  <a:lnTo>
                    <a:pt x="666708" y="771890"/>
                  </a:lnTo>
                  <a:lnTo>
                    <a:pt x="703800" y="746175"/>
                  </a:lnTo>
                  <a:lnTo>
                    <a:pt x="738428" y="716084"/>
                  </a:lnTo>
                  <a:lnTo>
                    <a:pt x="771487" y="679994"/>
                  </a:lnTo>
                  <a:lnTo>
                    <a:pt x="799367" y="641190"/>
                  </a:lnTo>
                  <a:lnTo>
                    <a:pt x="822075" y="600116"/>
                  </a:lnTo>
                  <a:lnTo>
                    <a:pt x="839616" y="557214"/>
                  </a:lnTo>
                  <a:lnTo>
                    <a:pt x="851993" y="512929"/>
                  </a:lnTo>
                  <a:lnTo>
                    <a:pt x="859212" y="467703"/>
                  </a:lnTo>
                  <a:lnTo>
                    <a:pt x="861278" y="421980"/>
                  </a:lnTo>
                  <a:lnTo>
                    <a:pt x="858196" y="376203"/>
                  </a:lnTo>
                  <a:lnTo>
                    <a:pt x="849971" y="330816"/>
                  </a:lnTo>
                  <a:lnTo>
                    <a:pt x="836607" y="286261"/>
                  </a:lnTo>
                  <a:lnTo>
                    <a:pt x="818110" y="242983"/>
                  </a:lnTo>
                  <a:lnTo>
                    <a:pt x="794485" y="201424"/>
                  </a:lnTo>
                  <a:lnTo>
                    <a:pt x="765736" y="162028"/>
                  </a:lnTo>
                  <a:lnTo>
                    <a:pt x="731868" y="125238"/>
                  </a:lnTo>
                  <a:lnTo>
                    <a:pt x="696564" y="94416"/>
                  </a:lnTo>
                  <a:lnTo>
                    <a:pt x="658892" y="67920"/>
                  </a:lnTo>
                  <a:lnTo>
                    <a:pt x="619226" y="45753"/>
                  </a:lnTo>
                  <a:lnTo>
                    <a:pt x="577937" y="27920"/>
                  </a:lnTo>
                  <a:lnTo>
                    <a:pt x="535395" y="14424"/>
                  </a:lnTo>
                  <a:lnTo>
                    <a:pt x="491973" y="5270"/>
                  </a:lnTo>
                  <a:lnTo>
                    <a:pt x="448042" y="460"/>
                  </a:lnTo>
                  <a:lnTo>
                    <a:pt x="4039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1" name="object 9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061470" y="3119000"/>
              <a:ext cx="94679" cy="91856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311645" y="3357510"/>
              <a:ext cx="181737" cy="165157"/>
            </a:xfrm>
            <a:prstGeom prst="rect">
              <a:avLst/>
            </a:prstGeom>
          </p:spPr>
        </p:pic>
        <p:sp>
          <p:nvSpPr>
            <p:cNvPr id="93" name="object 93"/>
            <p:cNvSpPr/>
            <p:nvPr/>
          </p:nvSpPr>
          <p:spPr>
            <a:xfrm>
              <a:off x="4378457" y="3391606"/>
              <a:ext cx="58419" cy="112395"/>
            </a:xfrm>
            <a:custGeom>
              <a:avLst/>
              <a:gdLst/>
              <a:ahLst/>
              <a:cxnLst/>
              <a:rect l="l" t="t" r="r" b="b"/>
              <a:pathLst>
                <a:path w="58420" h="112395">
                  <a:moveTo>
                    <a:pt x="22589" y="0"/>
                  </a:moveTo>
                  <a:lnTo>
                    <a:pt x="22628" y="12891"/>
                  </a:lnTo>
                  <a:lnTo>
                    <a:pt x="18164" y="14883"/>
                  </a:lnTo>
                  <a:lnTo>
                    <a:pt x="14367" y="14497"/>
                  </a:lnTo>
                  <a:lnTo>
                    <a:pt x="5410" y="22359"/>
                  </a:lnTo>
                  <a:lnTo>
                    <a:pt x="2026" y="27155"/>
                  </a:lnTo>
                  <a:lnTo>
                    <a:pt x="1050" y="33559"/>
                  </a:lnTo>
                  <a:lnTo>
                    <a:pt x="2976" y="47815"/>
                  </a:lnTo>
                  <a:lnTo>
                    <a:pt x="11438" y="56538"/>
                  </a:lnTo>
                  <a:lnTo>
                    <a:pt x="22419" y="61882"/>
                  </a:lnTo>
                  <a:lnTo>
                    <a:pt x="31902" y="66003"/>
                  </a:lnTo>
                  <a:lnTo>
                    <a:pt x="37583" y="69256"/>
                  </a:lnTo>
                  <a:lnTo>
                    <a:pt x="39815" y="74484"/>
                  </a:lnTo>
                  <a:lnTo>
                    <a:pt x="36103" y="79254"/>
                  </a:lnTo>
                  <a:lnTo>
                    <a:pt x="31389" y="82193"/>
                  </a:lnTo>
                  <a:lnTo>
                    <a:pt x="24786" y="82927"/>
                  </a:lnTo>
                  <a:lnTo>
                    <a:pt x="17618" y="82094"/>
                  </a:lnTo>
                  <a:lnTo>
                    <a:pt x="11206" y="80333"/>
                  </a:lnTo>
                  <a:lnTo>
                    <a:pt x="8790" y="79462"/>
                  </a:lnTo>
                  <a:lnTo>
                    <a:pt x="5680" y="77558"/>
                  </a:lnTo>
                  <a:lnTo>
                    <a:pt x="3834" y="77058"/>
                  </a:lnTo>
                  <a:lnTo>
                    <a:pt x="0" y="93045"/>
                  </a:lnTo>
                  <a:lnTo>
                    <a:pt x="6018" y="95876"/>
                  </a:lnTo>
                  <a:lnTo>
                    <a:pt x="14104" y="98140"/>
                  </a:lnTo>
                  <a:lnTo>
                    <a:pt x="17736" y="98395"/>
                  </a:lnTo>
                  <a:lnTo>
                    <a:pt x="21930" y="98935"/>
                  </a:lnTo>
                  <a:lnTo>
                    <a:pt x="22010" y="109188"/>
                  </a:lnTo>
                  <a:lnTo>
                    <a:pt x="34761" y="111923"/>
                  </a:lnTo>
                  <a:lnTo>
                    <a:pt x="34847" y="97726"/>
                  </a:lnTo>
                  <a:lnTo>
                    <a:pt x="42496" y="95552"/>
                  </a:lnTo>
                  <a:lnTo>
                    <a:pt x="49031" y="91462"/>
                  </a:lnTo>
                  <a:lnTo>
                    <a:pt x="53995" y="85797"/>
                  </a:lnTo>
                  <a:lnTo>
                    <a:pt x="56930" y="78897"/>
                  </a:lnTo>
                  <a:lnTo>
                    <a:pt x="58323" y="73051"/>
                  </a:lnTo>
                  <a:lnTo>
                    <a:pt x="57743" y="65750"/>
                  </a:lnTo>
                  <a:lnTo>
                    <a:pt x="26700" y="42800"/>
                  </a:lnTo>
                  <a:lnTo>
                    <a:pt x="19828" y="39596"/>
                  </a:lnTo>
                  <a:lnTo>
                    <a:pt x="21588" y="28122"/>
                  </a:lnTo>
                  <a:lnTo>
                    <a:pt x="28234" y="27007"/>
                  </a:lnTo>
                  <a:lnTo>
                    <a:pt x="41266" y="27849"/>
                  </a:lnTo>
                  <a:lnTo>
                    <a:pt x="44444" y="29794"/>
                  </a:lnTo>
                  <a:lnTo>
                    <a:pt x="50129" y="31972"/>
                  </a:lnTo>
                  <a:lnTo>
                    <a:pt x="51087" y="30316"/>
                  </a:lnTo>
                  <a:lnTo>
                    <a:pt x="54082" y="16416"/>
                  </a:lnTo>
                  <a:lnTo>
                    <a:pt x="51342" y="15667"/>
                  </a:lnTo>
                  <a:lnTo>
                    <a:pt x="48708" y="14227"/>
                  </a:lnTo>
                  <a:lnTo>
                    <a:pt x="41831" y="12546"/>
                  </a:lnTo>
                  <a:lnTo>
                    <a:pt x="38825" y="12534"/>
                  </a:lnTo>
                  <a:lnTo>
                    <a:pt x="35294" y="11995"/>
                  </a:lnTo>
                  <a:lnTo>
                    <a:pt x="35312" y="3265"/>
                  </a:lnTo>
                  <a:lnTo>
                    <a:pt x="2258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4" name="object 9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451597" y="3189174"/>
              <a:ext cx="23392" cy="24260"/>
            </a:xfrm>
            <a:prstGeom prst="rect">
              <a:avLst/>
            </a:prstGeom>
          </p:spPr>
        </p:pic>
        <p:pic>
          <p:nvPicPr>
            <p:cNvPr id="95" name="object 9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244277" y="3496758"/>
              <a:ext cx="118662" cy="39705"/>
            </a:xfrm>
            <a:prstGeom prst="rect">
              <a:avLst/>
            </a:prstGeom>
          </p:spPr>
        </p:pic>
        <p:pic>
          <p:nvPicPr>
            <p:cNvPr id="96" name="object 9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361525" y="3160599"/>
              <a:ext cx="77245" cy="49563"/>
            </a:xfrm>
            <a:prstGeom prst="rect">
              <a:avLst/>
            </a:prstGeom>
          </p:spPr>
        </p:pic>
        <p:pic>
          <p:nvPicPr>
            <p:cNvPr id="97" name="object 9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617086" y="3551932"/>
              <a:ext cx="83679" cy="37727"/>
            </a:xfrm>
            <a:prstGeom prst="rect">
              <a:avLst/>
            </a:prstGeom>
          </p:spPr>
        </p:pic>
        <p:pic>
          <p:nvPicPr>
            <p:cNvPr id="98" name="object 9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403440" y="3551896"/>
              <a:ext cx="88578" cy="37757"/>
            </a:xfrm>
            <a:prstGeom prst="rect">
              <a:avLst/>
            </a:prstGeom>
          </p:spPr>
        </p:pic>
        <p:pic>
          <p:nvPicPr>
            <p:cNvPr id="99" name="object 99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298043" y="3551928"/>
              <a:ext cx="88884" cy="38056"/>
            </a:xfrm>
            <a:prstGeom prst="rect">
              <a:avLst/>
            </a:prstGeom>
          </p:spPr>
        </p:pic>
        <p:pic>
          <p:nvPicPr>
            <p:cNvPr id="100" name="object 100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508341" y="3551903"/>
              <a:ext cx="92307" cy="37735"/>
            </a:xfrm>
            <a:prstGeom prst="rect">
              <a:avLst/>
            </a:prstGeom>
          </p:spPr>
        </p:pic>
        <p:pic>
          <p:nvPicPr>
            <p:cNvPr id="101" name="object 101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4243953" y="3221251"/>
              <a:ext cx="510609" cy="315233"/>
            </a:xfrm>
            <a:prstGeom prst="rect">
              <a:avLst/>
            </a:prstGeom>
          </p:spPr>
        </p:pic>
        <p:pic>
          <p:nvPicPr>
            <p:cNvPr id="102" name="object 102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244307" y="3605509"/>
              <a:ext cx="509172" cy="195665"/>
            </a:xfrm>
            <a:prstGeom prst="rect">
              <a:avLst/>
            </a:prstGeom>
          </p:spPr>
        </p:pic>
        <p:pic>
          <p:nvPicPr>
            <p:cNvPr id="103" name="object 103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4272858" y="3606095"/>
              <a:ext cx="208939" cy="159647"/>
            </a:xfrm>
            <a:prstGeom prst="rect">
              <a:avLst/>
            </a:prstGeom>
          </p:spPr>
        </p:pic>
        <p:sp>
          <p:nvSpPr>
            <p:cNvPr id="104" name="object 104"/>
            <p:cNvSpPr/>
            <p:nvPr/>
          </p:nvSpPr>
          <p:spPr>
            <a:xfrm>
              <a:off x="6821045" y="3239949"/>
              <a:ext cx="0" cy="543560"/>
            </a:xfrm>
            <a:custGeom>
              <a:avLst/>
              <a:gdLst/>
              <a:ahLst/>
              <a:cxnLst/>
              <a:rect l="l" t="t" r="r" b="b"/>
              <a:pathLst>
                <a:path h="543560">
                  <a:moveTo>
                    <a:pt x="0" y="0"/>
                  </a:moveTo>
                  <a:lnTo>
                    <a:pt x="0" y="543481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5" name="object 105"/>
          <p:cNvSpPr txBox="1"/>
          <p:nvPr/>
        </p:nvSpPr>
        <p:spPr>
          <a:xfrm>
            <a:off x="6924899" y="3208573"/>
            <a:ext cx="1490345" cy="20197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ru-RU" sz="1200" dirty="0">
                <a:solidFill>
                  <a:srgbClr val="3C2B98"/>
                </a:solidFill>
                <a:latin typeface="Tahoma"/>
                <a:cs typeface="Tahoma"/>
              </a:rPr>
              <a:t>01</a:t>
            </a:r>
            <a:r>
              <a:rPr sz="1200" dirty="0">
                <a:solidFill>
                  <a:srgbClr val="3C2B98"/>
                </a:solidFill>
                <a:latin typeface="Tahoma"/>
                <a:cs typeface="Tahoma"/>
              </a:rPr>
              <a:t>.</a:t>
            </a:r>
            <a:r>
              <a:rPr lang="en-US" sz="1200" dirty="0">
                <a:solidFill>
                  <a:srgbClr val="3C2B98"/>
                </a:solidFill>
                <a:latin typeface="Tahoma"/>
                <a:cs typeface="Tahoma"/>
              </a:rPr>
              <a:t>05</a:t>
            </a:r>
            <a:r>
              <a:rPr sz="1200" dirty="0">
                <a:solidFill>
                  <a:srgbClr val="3C2B98"/>
                </a:solidFill>
                <a:latin typeface="Tahoma"/>
                <a:cs typeface="Tahoma"/>
              </a:rPr>
              <a:t>.202</a:t>
            </a:r>
            <a:r>
              <a:rPr lang="en-US" sz="1200" dirty="0">
                <a:solidFill>
                  <a:srgbClr val="3C2B98"/>
                </a:solidFill>
                <a:latin typeface="Tahoma"/>
                <a:cs typeface="Tahoma"/>
              </a:rPr>
              <a:t>6</a:t>
            </a:r>
            <a:r>
              <a:rPr sz="1200" spc="90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C2B98"/>
                </a:solidFill>
                <a:latin typeface="Tahoma"/>
                <a:cs typeface="Tahoma"/>
              </a:rPr>
              <a:t>ҳолатига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7340094" y="3381187"/>
            <a:ext cx="424180" cy="45717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endParaRPr lang="en-US" sz="1400" spc="-20" dirty="0">
              <a:solidFill>
                <a:srgbClr val="273B6F"/>
              </a:solidFill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endParaRPr sz="1400" dirty="0">
              <a:latin typeface="Microsoft Sans Serif"/>
              <a:cs typeface="Microsoft Sans Serif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6694158" y="3426426"/>
            <a:ext cx="791210" cy="384078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lang="en-US" sz="2400" b="1" dirty="0">
                <a:solidFill>
                  <a:srgbClr val="273B6F"/>
                </a:solidFill>
                <a:latin typeface="Arial"/>
                <a:cs typeface="Arial"/>
              </a:rPr>
              <a:t>335</a:t>
            </a:r>
            <a:r>
              <a:rPr lang="uz-Cyrl-UZ" sz="2400" b="1" dirty="0">
                <a:solidFill>
                  <a:srgbClr val="273B6F"/>
                </a:solidFill>
                <a:latin typeface="Arial"/>
                <a:cs typeface="Arial"/>
              </a:rPr>
              <a:t>,</a:t>
            </a:r>
            <a:r>
              <a:rPr lang="en-US" sz="2400" b="1" dirty="0">
                <a:solidFill>
                  <a:srgbClr val="273B6F"/>
                </a:solidFill>
                <a:latin typeface="Arial"/>
                <a:cs typeface="Arial"/>
              </a:rPr>
              <a:t>0</a:t>
            </a:r>
            <a:endParaRPr sz="1400" dirty="0">
              <a:latin typeface="Microsoft Sans Serif"/>
              <a:cs typeface="Microsoft Sans Serif"/>
            </a:endParaRPr>
          </a:p>
        </p:txBody>
      </p:sp>
      <p:pic>
        <p:nvPicPr>
          <p:cNvPr id="108" name="object 108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7935664" y="3447519"/>
            <a:ext cx="243805" cy="243330"/>
          </a:xfrm>
          <a:prstGeom prst="rect">
            <a:avLst/>
          </a:prstGeom>
        </p:spPr>
      </p:pic>
      <p:sp>
        <p:nvSpPr>
          <p:cNvPr id="109" name="object 109"/>
          <p:cNvSpPr txBox="1"/>
          <p:nvPr/>
        </p:nvSpPr>
        <p:spPr>
          <a:xfrm>
            <a:off x="8195336" y="3651732"/>
            <a:ext cx="393065" cy="132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spc="-10" dirty="0">
                <a:solidFill>
                  <a:srgbClr val="273B6F"/>
                </a:solidFill>
                <a:latin typeface="Microsoft Sans Serif"/>
                <a:cs typeface="Microsoft Sans Serif"/>
              </a:rPr>
              <a:t>баробар</a:t>
            </a:r>
            <a:endParaRPr sz="700" dirty="0">
              <a:latin typeface="Microsoft Sans Serif"/>
              <a:cs typeface="Microsoft Sans Serif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8088630" y="3423023"/>
            <a:ext cx="457200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ru-RU" sz="1400" spc="25" dirty="0">
                <a:solidFill>
                  <a:srgbClr val="273B6F"/>
                </a:solidFill>
                <a:latin typeface="Microsoft Sans Serif"/>
                <a:cs typeface="Microsoft Sans Serif"/>
              </a:rPr>
              <a:t> 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474002" y="4362418"/>
            <a:ext cx="861694" cy="385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50" b="1" dirty="0">
                <a:solidFill>
                  <a:srgbClr val="FFFFFF"/>
                </a:solidFill>
                <a:latin typeface="Arial"/>
                <a:cs typeface="Arial"/>
              </a:rPr>
              <a:t>ПҚ-</a:t>
            </a:r>
            <a:r>
              <a:rPr sz="2350" b="1" spc="-25" dirty="0">
                <a:solidFill>
                  <a:srgbClr val="FFFFFF"/>
                </a:solidFill>
                <a:latin typeface="Arial"/>
                <a:cs typeface="Arial"/>
              </a:rPr>
              <a:t>39</a:t>
            </a:r>
            <a:endParaRPr sz="2350" dirty="0">
              <a:latin typeface="Arial"/>
              <a:cs typeface="Arial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2460990" y="4232221"/>
            <a:ext cx="553720" cy="3079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spc="35" dirty="0">
                <a:solidFill>
                  <a:srgbClr val="273B6F"/>
                </a:solidFill>
                <a:latin typeface="Microsoft Sans Serif"/>
                <a:cs typeface="Microsoft Sans Serif"/>
              </a:rPr>
              <a:t>млн.</a:t>
            </a:r>
            <a:endParaRPr sz="1850" dirty="0">
              <a:latin typeface="Microsoft Sans Serif"/>
              <a:cs typeface="Microsoft Sans Serif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1563881" y="4148861"/>
            <a:ext cx="1450829" cy="619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00"/>
              </a:spcBef>
            </a:pPr>
            <a:r>
              <a:rPr lang="en-US" sz="3000" b="1" dirty="0">
                <a:solidFill>
                  <a:srgbClr val="273B6F"/>
                </a:solidFill>
                <a:latin typeface="Arial"/>
                <a:cs typeface="Arial"/>
              </a:rPr>
              <a:t>10</a:t>
            </a:r>
            <a:r>
              <a:rPr lang="uz-Cyrl-UZ" sz="3000" b="1" dirty="0">
                <a:solidFill>
                  <a:srgbClr val="273B6F"/>
                </a:solidFill>
                <a:latin typeface="Arial"/>
                <a:cs typeface="Arial"/>
              </a:rPr>
              <a:t>,0</a:t>
            </a:r>
            <a:endParaRPr sz="3000" dirty="0">
              <a:latin typeface="Microsoft Sans Serif"/>
              <a:cs typeface="Microsoft Sans Serif"/>
            </a:endParaRPr>
          </a:p>
        </p:txBody>
      </p:sp>
      <p:grpSp>
        <p:nvGrpSpPr>
          <p:cNvPr id="114" name="object 114"/>
          <p:cNvGrpSpPr/>
          <p:nvPr/>
        </p:nvGrpSpPr>
        <p:grpSpPr>
          <a:xfrm>
            <a:off x="3346768" y="4198475"/>
            <a:ext cx="2602926" cy="741207"/>
            <a:chOff x="3320658" y="4209695"/>
            <a:chExt cx="2602766" cy="741207"/>
          </a:xfrm>
        </p:grpSpPr>
        <p:sp>
          <p:nvSpPr>
            <p:cNvPr id="115" name="object 115"/>
            <p:cNvSpPr/>
            <p:nvPr/>
          </p:nvSpPr>
          <p:spPr>
            <a:xfrm>
              <a:off x="3946035" y="4212197"/>
              <a:ext cx="1977389" cy="736600"/>
            </a:xfrm>
            <a:custGeom>
              <a:avLst/>
              <a:gdLst/>
              <a:ahLst/>
              <a:cxnLst/>
              <a:rect l="l" t="t" r="r" b="b"/>
              <a:pathLst>
                <a:path w="1977389" h="736600">
                  <a:moveTo>
                    <a:pt x="1889837" y="0"/>
                  </a:moveTo>
                  <a:lnTo>
                    <a:pt x="0" y="0"/>
                  </a:lnTo>
                  <a:lnTo>
                    <a:pt x="0" y="295951"/>
                  </a:lnTo>
                  <a:lnTo>
                    <a:pt x="102585" y="368679"/>
                  </a:lnTo>
                  <a:lnTo>
                    <a:pt x="0" y="441406"/>
                  </a:lnTo>
                  <a:lnTo>
                    <a:pt x="0" y="736207"/>
                  </a:lnTo>
                  <a:lnTo>
                    <a:pt x="1889837" y="736207"/>
                  </a:lnTo>
                  <a:lnTo>
                    <a:pt x="1923769" y="730620"/>
                  </a:lnTo>
                  <a:lnTo>
                    <a:pt x="1951564" y="715411"/>
                  </a:lnTo>
                  <a:lnTo>
                    <a:pt x="1970348" y="692907"/>
                  </a:lnTo>
                  <a:lnTo>
                    <a:pt x="1977249" y="665434"/>
                  </a:lnTo>
                  <a:lnTo>
                    <a:pt x="1977249" y="70768"/>
                  </a:lnTo>
                  <a:lnTo>
                    <a:pt x="1970351" y="43300"/>
                  </a:lnTo>
                  <a:lnTo>
                    <a:pt x="1951572" y="20797"/>
                  </a:lnTo>
                  <a:lnTo>
                    <a:pt x="1923778" y="5587"/>
                  </a:lnTo>
                  <a:lnTo>
                    <a:pt x="18898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3946035" y="4212197"/>
              <a:ext cx="1977389" cy="736600"/>
            </a:xfrm>
            <a:custGeom>
              <a:avLst/>
              <a:gdLst/>
              <a:ahLst/>
              <a:cxnLst/>
              <a:rect l="l" t="t" r="r" b="b"/>
              <a:pathLst>
                <a:path w="1977389" h="736600">
                  <a:moveTo>
                    <a:pt x="0" y="0"/>
                  </a:moveTo>
                  <a:lnTo>
                    <a:pt x="1889837" y="0"/>
                  </a:lnTo>
                  <a:lnTo>
                    <a:pt x="1923778" y="5587"/>
                  </a:lnTo>
                  <a:lnTo>
                    <a:pt x="1951572" y="20797"/>
                  </a:lnTo>
                  <a:lnTo>
                    <a:pt x="1970351" y="43300"/>
                  </a:lnTo>
                  <a:lnTo>
                    <a:pt x="1977249" y="70768"/>
                  </a:lnTo>
                  <a:lnTo>
                    <a:pt x="1977249" y="665434"/>
                  </a:lnTo>
                  <a:lnTo>
                    <a:pt x="1970348" y="692907"/>
                  </a:lnTo>
                  <a:lnTo>
                    <a:pt x="1951564" y="715411"/>
                  </a:lnTo>
                  <a:lnTo>
                    <a:pt x="1923769" y="730620"/>
                  </a:lnTo>
                  <a:lnTo>
                    <a:pt x="1889837" y="736207"/>
                  </a:lnTo>
                  <a:lnTo>
                    <a:pt x="0" y="736207"/>
                  </a:lnTo>
                  <a:lnTo>
                    <a:pt x="0" y="441406"/>
                  </a:lnTo>
                  <a:lnTo>
                    <a:pt x="102585" y="368679"/>
                  </a:lnTo>
                  <a:lnTo>
                    <a:pt x="0" y="295951"/>
                  </a:lnTo>
                  <a:lnTo>
                    <a:pt x="0" y="0"/>
                  </a:lnTo>
                  <a:close/>
                </a:path>
              </a:pathLst>
            </a:custGeom>
            <a:ln w="7199">
              <a:solidFill>
                <a:srgbClr val="AFDC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7" name="object 11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320658" y="4209695"/>
              <a:ext cx="934544" cy="741207"/>
            </a:xfrm>
            <a:prstGeom prst="rect">
              <a:avLst/>
            </a:prstGeom>
          </p:spPr>
        </p:pic>
      </p:grpSp>
      <p:sp>
        <p:nvSpPr>
          <p:cNvPr id="118" name="object 118"/>
          <p:cNvSpPr txBox="1"/>
          <p:nvPr/>
        </p:nvSpPr>
        <p:spPr>
          <a:xfrm>
            <a:off x="3403913" y="4382816"/>
            <a:ext cx="694055" cy="385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50" b="1" dirty="0">
                <a:solidFill>
                  <a:srgbClr val="FFFFFF"/>
                </a:solidFill>
                <a:latin typeface="Arial"/>
                <a:cs typeface="Arial"/>
              </a:rPr>
              <a:t>ПҚ-</a:t>
            </a:r>
            <a:r>
              <a:rPr sz="2350" b="1" spc="-50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endParaRPr sz="2350" dirty="0">
              <a:latin typeface="Arial"/>
              <a:cs typeface="Arial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5210313" y="4259942"/>
            <a:ext cx="553720" cy="3079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spc="35" dirty="0">
                <a:solidFill>
                  <a:srgbClr val="273B6F"/>
                </a:solidFill>
                <a:latin typeface="Microsoft Sans Serif"/>
                <a:cs typeface="Microsoft Sans Serif"/>
              </a:rPr>
              <a:t>млн.</a:t>
            </a:r>
            <a:endParaRPr sz="1850" dirty="0">
              <a:latin typeface="Microsoft Sans Serif"/>
              <a:cs typeface="Microsoft Sans Serif"/>
            </a:endParaRPr>
          </a:p>
        </p:txBody>
      </p:sp>
      <p:grpSp>
        <p:nvGrpSpPr>
          <p:cNvPr id="121" name="object 121"/>
          <p:cNvGrpSpPr/>
          <p:nvPr/>
        </p:nvGrpSpPr>
        <p:grpSpPr>
          <a:xfrm>
            <a:off x="6110536" y="4209695"/>
            <a:ext cx="2646114" cy="741207"/>
            <a:chOff x="6008976" y="4209695"/>
            <a:chExt cx="2666598" cy="741207"/>
          </a:xfrm>
        </p:grpSpPr>
        <p:sp>
          <p:nvSpPr>
            <p:cNvPr id="122" name="object 122"/>
            <p:cNvSpPr/>
            <p:nvPr/>
          </p:nvSpPr>
          <p:spPr>
            <a:xfrm>
              <a:off x="6698185" y="4212197"/>
              <a:ext cx="1977389" cy="736600"/>
            </a:xfrm>
            <a:custGeom>
              <a:avLst/>
              <a:gdLst/>
              <a:ahLst/>
              <a:cxnLst/>
              <a:rect l="l" t="t" r="r" b="b"/>
              <a:pathLst>
                <a:path w="1977390" h="736600">
                  <a:moveTo>
                    <a:pt x="1889837" y="0"/>
                  </a:moveTo>
                  <a:lnTo>
                    <a:pt x="0" y="0"/>
                  </a:lnTo>
                  <a:lnTo>
                    <a:pt x="0" y="295951"/>
                  </a:lnTo>
                  <a:lnTo>
                    <a:pt x="102585" y="368679"/>
                  </a:lnTo>
                  <a:lnTo>
                    <a:pt x="0" y="441406"/>
                  </a:lnTo>
                  <a:lnTo>
                    <a:pt x="0" y="736207"/>
                  </a:lnTo>
                  <a:lnTo>
                    <a:pt x="1889837" y="736207"/>
                  </a:lnTo>
                  <a:lnTo>
                    <a:pt x="1923769" y="730620"/>
                  </a:lnTo>
                  <a:lnTo>
                    <a:pt x="1951564" y="715411"/>
                  </a:lnTo>
                  <a:lnTo>
                    <a:pt x="1970348" y="692907"/>
                  </a:lnTo>
                  <a:lnTo>
                    <a:pt x="1977249" y="665434"/>
                  </a:lnTo>
                  <a:lnTo>
                    <a:pt x="1977249" y="70768"/>
                  </a:lnTo>
                  <a:lnTo>
                    <a:pt x="1970351" y="43300"/>
                  </a:lnTo>
                  <a:lnTo>
                    <a:pt x="1951572" y="20797"/>
                  </a:lnTo>
                  <a:lnTo>
                    <a:pt x="1923778" y="5587"/>
                  </a:lnTo>
                  <a:lnTo>
                    <a:pt x="18898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6698185" y="4212197"/>
              <a:ext cx="1977389" cy="736600"/>
            </a:xfrm>
            <a:custGeom>
              <a:avLst/>
              <a:gdLst/>
              <a:ahLst/>
              <a:cxnLst/>
              <a:rect l="l" t="t" r="r" b="b"/>
              <a:pathLst>
                <a:path w="1977390" h="736600">
                  <a:moveTo>
                    <a:pt x="0" y="0"/>
                  </a:moveTo>
                  <a:lnTo>
                    <a:pt x="1889837" y="0"/>
                  </a:lnTo>
                  <a:lnTo>
                    <a:pt x="1923778" y="5587"/>
                  </a:lnTo>
                  <a:lnTo>
                    <a:pt x="1951572" y="20797"/>
                  </a:lnTo>
                  <a:lnTo>
                    <a:pt x="1970351" y="43300"/>
                  </a:lnTo>
                  <a:lnTo>
                    <a:pt x="1977249" y="70768"/>
                  </a:lnTo>
                  <a:lnTo>
                    <a:pt x="1977249" y="665434"/>
                  </a:lnTo>
                  <a:lnTo>
                    <a:pt x="1970348" y="692907"/>
                  </a:lnTo>
                  <a:lnTo>
                    <a:pt x="1951564" y="715411"/>
                  </a:lnTo>
                  <a:lnTo>
                    <a:pt x="1923769" y="730620"/>
                  </a:lnTo>
                  <a:lnTo>
                    <a:pt x="1889837" y="736207"/>
                  </a:lnTo>
                  <a:lnTo>
                    <a:pt x="0" y="736207"/>
                  </a:lnTo>
                  <a:lnTo>
                    <a:pt x="0" y="441406"/>
                  </a:lnTo>
                  <a:lnTo>
                    <a:pt x="102585" y="368679"/>
                  </a:lnTo>
                  <a:lnTo>
                    <a:pt x="0" y="295951"/>
                  </a:lnTo>
                  <a:lnTo>
                    <a:pt x="0" y="0"/>
                  </a:lnTo>
                  <a:close/>
                </a:path>
              </a:pathLst>
            </a:custGeom>
            <a:ln w="7199">
              <a:solidFill>
                <a:srgbClr val="AFDC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4" name="object 124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6008976" y="4209695"/>
              <a:ext cx="1138056" cy="741207"/>
            </a:xfrm>
            <a:prstGeom prst="rect">
              <a:avLst/>
            </a:prstGeom>
          </p:spPr>
        </p:pic>
      </p:grpSp>
      <p:sp>
        <p:nvSpPr>
          <p:cNvPr id="125" name="object 125"/>
          <p:cNvSpPr txBox="1"/>
          <p:nvPr/>
        </p:nvSpPr>
        <p:spPr>
          <a:xfrm>
            <a:off x="6124324" y="4386375"/>
            <a:ext cx="967105" cy="385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50" b="1" spc="-85" dirty="0">
                <a:solidFill>
                  <a:srgbClr val="FFFFFF"/>
                </a:solidFill>
                <a:latin typeface="Arial"/>
                <a:cs typeface="Arial"/>
              </a:rPr>
              <a:t>ПҚ-</a:t>
            </a:r>
            <a:r>
              <a:rPr sz="2350" b="1" spc="-60" dirty="0">
                <a:solidFill>
                  <a:srgbClr val="FFFFFF"/>
                </a:solidFill>
                <a:latin typeface="Arial"/>
                <a:cs typeface="Arial"/>
              </a:rPr>
              <a:t>12</a:t>
            </a:r>
            <a:endParaRPr sz="2350" dirty="0">
              <a:latin typeface="Arial"/>
              <a:cs typeface="Arial"/>
            </a:endParaRPr>
          </a:p>
        </p:txBody>
      </p:sp>
      <p:sp>
        <p:nvSpPr>
          <p:cNvPr id="126" name="object 126"/>
          <p:cNvSpPr txBox="1"/>
          <p:nvPr/>
        </p:nvSpPr>
        <p:spPr>
          <a:xfrm>
            <a:off x="7297318" y="4370716"/>
            <a:ext cx="933911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b="1" spc="-25" dirty="0">
                <a:solidFill>
                  <a:srgbClr val="273B6F"/>
                </a:solidFill>
                <a:latin typeface="Arial"/>
                <a:cs typeface="Arial"/>
              </a:rPr>
              <a:t>300</a:t>
            </a:r>
            <a:r>
              <a:rPr lang="uz-Cyrl-UZ" sz="2500" b="1" spc="-25" dirty="0">
                <a:solidFill>
                  <a:srgbClr val="273B6F"/>
                </a:solidFill>
                <a:latin typeface="Arial"/>
                <a:cs typeface="Arial"/>
              </a:rPr>
              <a:t>,</a:t>
            </a:r>
            <a:r>
              <a:rPr lang="en-US" sz="2500" b="1" spc="-25" dirty="0">
                <a:solidFill>
                  <a:srgbClr val="273B6F"/>
                </a:solidFill>
                <a:latin typeface="Arial"/>
                <a:cs typeface="Arial"/>
              </a:rPr>
              <a:t>0</a:t>
            </a:r>
            <a:endParaRPr lang="uz-Cyrl-UZ" sz="2500" dirty="0">
              <a:latin typeface="Arial"/>
              <a:cs typeface="Arial"/>
            </a:endParaRPr>
          </a:p>
        </p:txBody>
      </p:sp>
      <p:sp>
        <p:nvSpPr>
          <p:cNvPr id="127" name="object 127"/>
          <p:cNvSpPr txBox="1"/>
          <p:nvPr/>
        </p:nvSpPr>
        <p:spPr>
          <a:xfrm>
            <a:off x="8186751" y="4318739"/>
            <a:ext cx="553720" cy="3079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spc="35" dirty="0">
                <a:solidFill>
                  <a:srgbClr val="273B6F"/>
                </a:solidFill>
                <a:latin typeface="Microsoft Sans Serif"/>
                <a:cs typeface="Microsoft Sans Serif"/>
              </a:rPr>
              <a:t>млн.</a:t>
            </a:r>
            <a:endParaRPr sz="1850" dirty="0">
              <a:latin typeface="Microsoft Sans Serif"/>
              <a:cs typeface="Microsoft Sans Serif"/>
            </a:endParaRPr>
          </a:p>
        </p:txBody>
      </p:sp>
      <p:sp>
        <p:nvSpPr>
          <p:cNvPr id="128" name="object 128"/>
          <p:cNvSpPr txBox="1"/>
          <p:nvPr/>
        </p:nvSpPr>
        <p:spPr>
          <a:xfrm>
            <a:off x="8190136" y="4529632"/>
            <a:ext cx="450215" cy="3079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spc="25" dirty="0">
                <a:solidFill>
                  <a:srgbClr val="273B6F"/>
                </a:solidFill>
                <a:latin typeface="Microsoft Sans Serif"/>
                <a:cs typeface="Microsoft Sans Serif"/>
              </a:rPr>
              <a:t>сўм</a:t>
            </a:r>
            <a:endParaRPr sz="1850" dirty="0">
              <a:latin typeface="Microsoft Sans Serif"/>
              <a:cs typeface="Microsoft Sans Serif"/>
            </a:endParaRPr>
          </a:p>
        </p:txBody>
      </p:sp>
      <p:grpSp>
        <p:nvGrpSpPr>
          <p:cNvPr id="129" name="object 129"/>
          <p:cNvGrpSpPr/>
          <p:nvPr/>
        </p:nvGrpSpPr>
        <p:grpSpPr>
          <a:xfrm>
            <a:off x="8935955" y="3091416"/>
            <a:ext cx="8223884" cy="4269105"/>
            <a:chOff x="8935955" y="3091416"/>
            <a:chExt cx="8223884" cy="4269105"/>
          </a:xfrm>
        </p:grpSpPr>
        <p:sp>
          <p:nvSpPr>
            <p:cNvPr id="130" name="object 130"/>
            <p:cNvSpPr/>
            <p:nvPr/>
          </p:nvSpPr>
          <p:spPr>
            <a:xfrm>
              <a:off x="8949607" y="3101421"/>
              <a:ext cx="0" cy="4254500"/>
            </a:xfrm>
            <a:custGeom>
              <a:avLst/>
              <a:gdLst/>
              <a:ahLst/>
              <a:cxnLst/>
              <a:rect l="l" t="t" r="r" b="b"/>
              <a:pathLst>
                <a:path h="4254500">
                  <a:moveTo>
                    <a:pt x="0" y="0"/>
                  </a:moveTo>
                  <a:lnTo>
                    <a:pt x="0" y="4254303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8949607" y="3804940"/>
              <a:ext cx="0" cy="3281679"/>
            </a:xfrm>
            <a:custGeom>
              <a:avLst/>
              <a:gdLst/>
              <a:ahLst/>
              <a:cxnLst/>
              <a:rect l="l" t="t" r="r" b="b"/>
              <a:pathLst>
                <a:path h="3281679">
                  <a:moveTo>
                    <a:pt x="0" y="0"/>
                  </a:moveTo>
                  <a:lnTo>
                    <a:pt x="0" y="3281504"/>
                  </a:lnTo>
                </a:path>
              </a:pathLst>
            </a:custGeom>
            <a:ln w="27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9090453" y="3091416"/>
              <a:ext cx="8061325" cy="847725"/>
            </a:xfrm>
            <a:custGeom>
              <a:avLst/>
              <a:gdLst/>
              <a:ahLst/>
              <a:cxnLst/>
              <a:rect l="l" t="t" r="r" b="b"/>
              <a:pathLst>
                <a:path w="8061325" h="847725">
                  <a:moveTo>
                    <a:pt x="8061030" y="0"/>
                  </a:moveTo>
                  <a:lnTo>
                    <a:pt x="0" y="0"/>
                  </a:lnTo>
                  <a:lnTo>
                    <a:pt x="0" y="847432"/>
                  </a:lnTo>
                  <a:lnTo>
                    <a:pt x="8061030" y="847432"/>
                  </a:lnTo>
                  <a:lnTo>
                    <a:pt x="8061030" y="0"/>
                  </a:lnTo>
                  <a:close/>
                </a:path>
              </a:pathLst>
            </a:custGeom>
            <a:solidFill>
              <a:srgbClr val="151616">
                <a:alpha val="195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9188233" y="3189196"/>
              <a:ext cx="7865745" cy="652145"/>
            </a:xfrm>
            <a:custGeom>
              <a:avLst/>
              <a:gdLst/>
              <a:ahLst/>
              <a:cxnLst/>
              <a:rect l="l" t="t" r="r" b="b"/>
              <a:pathLst>
                <a:path w="7865744" h="652145">
                  <a:moveTo>
                    <a:pt x="7546950" y="0"/>
                  </a:moveTo>
                  <a:lnTo>
                    <a:pt x="318510" y="0"/>
                  </a:lnTo>
                  <a:lnTo>
                    <a:pt x="271619" y="3551"/>
                  </a:lnTo>
                  <a:lnTo>
                    <a:pt x="226805" y="13861"/>
                  </a:lnTo>
                  <a:lnTo>
                    <a:pt x="184572" y="30417"/>
                  </a:lnTo>
                  <a:lnTo>
                    <a:pt x="145422" y="52703"/>
                  </a:lnTo>
                  <a:lnTo>
                    <a:pt x="109860" y="80204"/>
                  </a:lnTo>
                  <a:lnTo>
                    <a:pt x="78388" y="112407"/>
                  </a:lnTo>
                  <a:lnTo>
                    <a:pt x="51510" y="148797"/>
                  </a:lnTo>
                  <a:lnTo>
                    <a:pt x="29729" y="188860"/>
                  </a:lnTo>
                  <a:lnTo>
                    <a:pt x="13548" y="232080"/>
                  </a:lnTo>
                  <a:lnTo>
                    <a:pt x="3471" y="277944"/>
                  </a:lnTo>
                  <a:lnTo>
                    <a:pt x="0" y="325936"/>
                  </a:lnTo>
                  <a:lnTo>
                    <a:pt x="3471" y="373934"/>
                  </a:lnTo>
                  <a:lnTo>
                    <a:pt x="13548" y="419801"/>
                  </a:lnTo>
                  <a:lnTo>
                    <a:pt x="29728" y="463023"/>
                  </a:lnTo>
                  <a:lnTo>
                    <a:pt x="51507" y="503085"/>
                  </a:lnTo>
                  <a:lnTo>
                    <a:pt x="78382" y="539475"/>
                  </a:lnTo>
                  <a:lnTo>
                    <a:pt x="109852" y="571676"/>
                  </a:lnTo>
                  <a:lnTo>
                    <a:pt x="145412" y="599176"/>
                  </a:lnTo>
                  <a:lnTo>
                    <a:pt x="184561" y="621460"/>
                  </a:lnTo>
                  <a:lnTo>
                    <a:pt x="226796" y="638014"/>
                  </a:lnTo>
                  <a:lnTo>
                    <a:pt x="271616" y="648323"/>
                  </a:lnTo>
                  <a:lnTo>
                    <a:pt x="318510" y="651874"/>
                  </a:lnTo>
                  <a:lnTo>
                    <a:pt x="7546950" y="651874"/>
                  </a:lnTo>
                  <a:lnTo>
                    <a:pt x="7593856" y="648323"/>
                  </a:lnTo>
                  <a:lnTo>
                    <a:pt x="7638679" y="638014"/>
                  </a:lnTo>
                  <a:lnTo>
                    <a:pt x="7680917" y="621460"/>
                  </a:lnTo>
                  <a:lnTo>
                    <a:pt x="7720068" y="599176"/>
                  </a:lnTo>
                  <a:lnTo>
                    <a:pt x="7755629" y="571676"/>
                  </a:lnTo>
                  <a:lnTo>
                    <a:pt x="7787098" y="539475"/>
                  </a:lnTo>
                  <a:lnTo>
                    <a:pt x="7813972" y="503085"/>
                  </a:lnTo>
                  <a:lnTo>
                    <a:pt x="7835749" y="463023"/>
                  </a:lnTo>
                  <a:lnTo>
                    <a:pt x="7851926" y="419801"/>
                  </a:lnTo>
                  <a:lnTo>
                    <a:pt x="7862000" y="373934"/>
                  </a:lnTo>
                  <a:lnTo>
                    <a:pt x="7865470" y="325936"/>
                  </a:lnTo>
                  <a:lnTo>
                    <a:pt x="7861999" y="277944"/>
                  </a:lnTo>
                  <a:lnTo>
                    <a:pt x="7851920" y="232080"/>
                  </a:lnTo>
                  <a:lnTo>
                    <a:pt x="7835737" y="188860"/>
                  </a:lnTo>
                  <a:lnTo>
                    <a:pt x="7813953" y="148797"/>
                  </a:lnTo>
                  <a:lnTo>
                    <a:pt x="7787073" y="112407"/>
                  </a:lnTo>
                  <a:lnTo>
                    <a:pt x="7755598" y="80204"/>
                  </a:lnTo>
                  <a:lnTo>
                    <a:pt x="7720033" y="52703"/>
                  </a:lnTo>
                  <a:lnTo>
                    <a:pt x="7680882" y="30417"/>
                  </a:lnTo>
                  <a:lnTo>
                    <a:pt x="7638648" y="13861"/>
                  </a:lnTo>
                  <a:lnTo>
                    <a:pt x="7593836" y="3551"/>
                  </a:lnTo>
                  <a:lnTo>
                    <a:pt x="75469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9086191" y="3129302"/>
              <a:ext cx="8069580" cy="772160"/>
            </a:xfrm>
            <a:custGeom>
              <a:avLst/>
              <a:gdLst/>
              <a:ahLst/>
              <a:cxnLst/>
              <a:rect l="l" t="t" r="r" b="b"/>
              <a:pathLst>
                <a:path w="8069580" h="772160">
                  <a:moveTo>
                    <a:pt x="7692523" y="0"/>
                  </a:moveTo>
                  <a:lnTo>
                    <a:pt x="377032" y="0"/>
                  </a:lnTo>
                  <a:lnTo>
                    <a:pt x="329916" y="3020"/>
                  </a:lnTo>
                  <a:lnTo>
                    <a:pt x="284496" y="11836"/>
                  </a:lnTo>
                  <a:lnTo>
                    <a:pt x="241133" y="26078"/>
                  </a:lnTo>
                  <a:lnTo>
                    <a:pt x="200187" y="45379"/>
                  </a:lnTo>
                  <a:lnTo>
                    <a:pt x="162020" y="69368"/>
                  </a:lnTo>
                  <a:lnTo>
                    <a:pt x="126993" y="97677"/>
                  </a:lnTo>
                  <a:lnTo>
                    <a:pt x="95465" y="129938"/>
                  </a:lnTo>
                  <a:lnTo>
                    <a:pt x="67798" y="165781"/>
                  </a:lnTo>
                  <a:lnTo>
                    <a:pt x="44353" y="204838"/>
                  </a:lnTo>
                  <a:lnTo>
                    <a:pt x="25489" y="246740"/>
                  </a:lnTo>
                  <a:lnTo>
                    <a:pt x="11569" y="291119"/>
                  </a:lnTo>
                  <a:lnTo>
                    <a:pt x="2952" y="337605"/>
                  </a:lnTo>
                  <a:lnTo>
                    <a:pt x="0" y="385829"/>
                  </a:lnTo>
                  <a:lnTo>
                    <a:pt x="2951" y="434053"/>
                  </a:lnTo>
                  <a:lnTo>
                    <a:pt x="11566" y="480538"/>
                  </a:lnTo>
                  <a:lnTo>
                    <a:pt x="25483" y="524916"/>
                  </a:lnTo>
                  <a:lnTo>
                    <a:pt x="44343" y="566817"/>
                  </a:lnTo>
                  <a:lnTo>
                    <a:pt x="67785" y="605873"/>
                  </a:lnTo>
                  <a:lnTo>
                    <a:pt x="95449" y="641716"/>
                  </a:lnTo>
                  <a:lnTo>
                    <a:pt x="126974" y="673975"/>
                  </a:lnTo>
                  <a:lnTo>
                    <a:pt x="162000" y="702284"/>
                  </a:lnTo>
                  <a:lnTo>
                    <a:pt x="200166" y="726272"/>
                  </a:lnTo>
                  <a:lnTo>
                    <a:pt x="241113" y="745571"/>
                  </a:lnTo>
                  <a:lnTo>
                    <a:pt x="284480" y="759813"/>
                  </a:lnTo>
                  <a:lnTo>
                    <a:pt x="329906" y="768629"/>
                  </a:lnTo>
                  <a:lnTo>
                    <a:pt x="377032" y="771649"/>
                  </a:lnTo>
                  <a:lnTo>
                    <a:pt x="7692523" y="771649"/>
                  </a:lnTo>
                  <a:lnTo>
                    <a:pt x="7739647" y="768629"/>
                  </a:lnTo>
                  <a:lnTo>
                    <a:pt x="7785072" y="759813"/>
                  </a:lnTo>
                  <a:lnTo>
                    <a:pt x="7828438" y="745571"/>
                  </a:lnTo>
                  <a:lnTo>
                    <a:pt x="7869384" y="726272"/>
                  </a:lnTo>
                  <a:lnTo>
                    <a:pt x="7907550" y="702284"/>
                  </a:lnTo>
                  <a:lnTo>
                    <a:pt x="7942576" y="673975"/>
                  </a:lnTo>
                  <a:lnTo>
                    <a:pt x="7974101" y="641716"/>
                  </a:lnTo>
                  <a:lnTo>
                    <a:pt x="8001765" y="605873"/>
                  </a:lnTo>
                  <a:lnTo>
                    <a:pt x="8025207" y="566817"/>
                  </a:lnTo>
                  <a:lnTo>
                    <a:pt x="8044067" y="524916"/>
                  </a:lnTo>
                  <a:lnTo>
                    <a:pt x="8057985" y="480538"/>
                  </a:lnTo>
                  <a:lnTo>
                    <a:pt x="8066600" y="434053"/>
                  </a:lnTo>
                  <a:lnTo>
                    <a:pt x="8069552" y="385829"/>
                  </a:lnTo>
                  <a:lnTo>
                    <a:pt x="8066598" y="337605"/>
                  </a:lnTo>
                  <a:lnTo>
                    <a:pt x="8057980" y="291119"/>
                  </a:lnTo>
                  <a:lnTo>
                    <a:pt x="8044057" y="246740"/>
                  </a:lnTo>
                  <a:lnTo>
                    <a:pt x="8025191" y="204838"/>
                  </a:lnTo>
                  <a:lnTo>
                    <a:pt x="8001742" y="165781"/>
                  </a:lnTo>
                  <a:lnTo>
                    <a:pt x="7974072" y="129938"/>
                  </a:lnTo>
                  <a:lnTo>
                    <a:pt x="7942543" y="97677"/>
                  </a:lnTo>
                  <a:lnTo>
                    <a:pt x="7907514" y="69368"/>
                  </a:lnTo>
                  <a:lnTo>
                    <a:pt x="7869347" y="45379"/>
                  </a:lnTo>
                  <a:lnTo>
                    <a:pt x="7828404" y="26078"/>
                  </a:lnTo>
                  <a:lnTo>
                    <a:pt x="7785044" y="11836"/>
                  </a:lnTo>
                  <a:lnTo>
                    <a:pt x="7739630" y="3020"/>
                  </a:lnTo>
                  <a:lnTo>
                    <a:pt x="7692523" y="0"/>
                  </a:lnTo>
                  <a:close/>
                </a:path>
              </a:pathLst>
            </a:custGeom>
            <a:ln w="7199">
              <a:solidFill>
                <a:srgbClr val="B8CB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5" name="object 135"/>
          <p:cNvSpPr txBox="1"/>
          <p:nvPr/>
        </p:nvSpPr>
        <p:spPr>
          <a:xfrm>
            <a:off x="9640365" y="3149701"/>
            <a:ext cx="2525395" cy="68135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2575"/>
              </a:lnSpc>
              <a:spcBef>
                <a:spcPts val="110"/>
              </a:spcBef>
            </a:pPr>
            <a:r>
              <a:rPr sz="2200" dirty="0">
                <a:solidFill>
                  <a:srgbClr val="3C2B98"/>
                </a:solidFill>
                <a:latin typeface="Microsoft Sans Serif"/>
                <a:cs typeface="Microsoft Sans Serif"/>
              </a:rPr>
              <a:t>Амалга</a:t>
            </a:r>
            <a:r>
              <a:rPr sz="2200" spc="70" dirty="0">
                <a:solidFill>
                  <a:srgbClr val="3C2B98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3C2B98"/>
                </a:solidFill>
                <a:latin typeface="Microsoft Sans Serif"/>
                <a:cs typeface="Microsoft Sans Serif"/>
              </a:rPr>
              <a:t>оширилган</a:t>
            </a:r>
            <a:endParaRPr sz="2200" dirty="0">
              <a:latin typeface="Microsoft Sans Serif"/>
              <a:cs typeface="Microsoft Sans Serif"/>
            </a:endParaRPr>
          </a:p>
          <a:p>
            <a:pPr marL="43180">
              <a:lnSpc>
                <a:spcPts val="2575"/>
              </a:lnSpc>
            </a:pPr>
            <a:r>
              <a:rPr sz="2200" b="1" spc="-10" dirty="0">
                <a:solidFill>
                  <a:srgbClr val="3C2B98"/>
                </a:solidFill>
                <a:latin typeface="Arial"/>
                <a:cs typeface="Arial"/>
              </a:rPr>
              <a:t>Микролойиҳалар</a:t>
            </a:r>
            <a:endParaRPr sz="2200" dirty="0">
              <a:latin typeface="Arial"/>
              <a:cs typeface="Arial"/>
            </a:endParaRPr>
          </a:p>
        </p:txBody>
      </p:sp>
      <p:sp>
        <p:nvSpPr>
          <p:cNvPr id="136" name="object 136"/>
          <p:cNvSpPr txBox="1"/>
          <p:nvPr/>
        </p:nvSpPr>
        <p:spPr>
          <a:xfrm>
            <a:off x="14073908" y="3306635"/>
            <a:ext cx="929640" cy="58926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750" b="1" spc="-25" dirty="0">
                <a:solidFill>
                  <a:srgbClr val="273B6F"/>
                </a:solidFill>
                <a:latin typeface="Arial"/>
                <a:cs typeface="Arial"/>
              </a:rPr>
              <a:t>4 </a:t>
            </a:r>
            <a:r>
              <a:rPr sz="1900" spc="-25" dirty="0" err="1">
                <a:solidFill>
                  <a:srgbClr val="273B6F"/>
                </a:solidFill>
                <a:latin typeface="Microsoft Sans Serif"/>
                <a:cs typeface="Microsoft Sans Serif"/>
              </a:rPr>
              <a:t>та</a:t>
            </a:r>
            <a:endParaRPr sz="1900" dirty="0">
              <a:latin typeface="Microsoft Sans Serif"/>
              <a:cs typeface="Microsoft Sans Serif"/>
            </a:endParaRPr>
          </a:p>
        </p:txBody>
      </p:sp>
      <p:grpSp>
        <p:nvGrpSpPr>
          <p:cNvPr id="137" name="object 137"/>
          <p:cNvGrpSpPr/>
          <p:nvPr/>
        </p:nvGrpSpPr>
        <p:grpSpPr>
          <a:xfrm>
            <a:off x="12490450" y="3180634"/>
            <a:ext cx="2467288" cy="657729"/>
            <a:chOff x="12418956" y="2985781"/>
            <a:chExt cx="2898140" cy="1086485"/>
          </a:xfrm>
        </p:grpSpPr>
        <p:sp>
          <p:nvSpPr>
            <p:cNvPr id="138" name="object 138"/>
            <p:cNvSpPr/>
            <p:nvPr/>
          </p:nvSpPr>
          <p:spPr>
            <a:xfrm>
              <a:off x="12449990" y="3019630"/>
              <a:ext cx="1050290" cy="1019175"/>
            </a:xfrm>
            <a:custGeom>
              <a:avLst/>
              <a:gdLst/>
              <a:ahLst/>
              <a:cxnLst/>
              <a:rect l="l" t="t" r="r" b="b"/>
              <a:pathLst>
                <a:path w="1050290" h="1019175">
                  <a:moveTo>
                    <a:pt x="519320" y="0"/>
                  </a:moveTo>
                  <a:lnTo>
                    <a:pt x="474600" y="1374"/>
                  </a:lnTo>
                  <a:lnTo>
                    <a:pt x="430183" y="6434"/>
                  </a:lnTo>
                  <a:lnTo>
                    <a:pt x="386330" y="15183"/>
                  </a:lnTo>
                  <a:lnTo>
                    <a:pt x="343305" y="27623"/>
                  </a:lnTo>
                  <a:lnTo>
                    <a:pt x="301370" y="43758"/>
                  </a:lnTo>
                  <a:lnTo>
                    <a:pt x="260785" y="63590"/>
                  </a:lnTo>
                  <a:lnTo>
                    <a:pt x="221814" y="87121"/>
                  </a:lnTo>
                  <a:lnTo>
                    <a:pt x="184719" y="114355"/>
                  </a:lnTo>
                  <a:lnTo>
                    <a:pt x="149761" y="145294"/>
                  </a:lnTo>
                  <a:lnTo>
                    <a:pt x="117870" y="179209"/>
                  </a:lnTo>
                  <a:lnTo>
                    <a:pt x="89799" y="215197"/>
                  </a:lnTo>
                  <a:lnTo>
                    <a:pt x="65544" y="253006"/>
                  </a:lnTo>
                  <a:lnTo>
                    <a:pt x="45103" y="292379"/>
                  </a:lnTo>
                  <a:lnTo>
                    <a:pt x="28472" y="333064"/>
                  </a:lnTo>
                  <a:lnTo>
                    <a:pt x="15649" y="374806"/>
                  </a:lnTo>
                  <a:lnTo>
                    <a:pt x="6631" y="417350"/>
                  </a:lnTo>
                  <a:lnTo>
                    <a:pt x="1416" y="460442"/>
                  </a:lnTo>
                  <a:lnTo>
                    <a:pt x="0" y="503828"/>
                  </a:lnTo>
                  <a:lnTo>
                    <a:pt x="2380" y="547254"/>
                  </a:lnTo>
                  <a:lnTo>
                    <a:pt x="8554" y="590465"/>
                  </a:lnTo>
                  <a:lnTo>
                    <a:pt x="18519" y="633207"/>
                  </a:lnTo>
                  <a:lnTo>
                    <a:pt x="32272" y="675226"/>
                  </a:lnTo>
                  <a:lnTo>
                    <a:pt x="49811" y="716268"/>
                  </a:lnTo>
                  <a:lnTo>
                    <a:pt x="71132" y="756078"/>
                  </a:lnTo>
                  <a:lnTo>
                    <a:pt x="96232" y="794402"/>
                  </a:lnTo>
                  <a:lnTo>
                    <a:pt x="125109" y="830985"/>
                  </a:lnTo>
                  <a:lnTo>
                    <a:pt x="157760" y="865574"/>
                  </a:lnTo>
                  <a:lnTo>
                    <a:pt x="193413" y="897252"/>
                  </a:lnTo>
                  <a:lnTo>
                    <a:pt x="231122" y="925268"/>
                  </a:lnTo>
                  <a:lnTo>
                    <a:pt x="270624" y="949620"/>
                  </a:lnTo>
                  <a:lnTo>
                    <a:pt x="311658" y="970305"/>
                  </a:lnTo>
                  <a:lnTo>
                    <a:pt x="353962" y="987321"/>
                  </a:lnTo>
                  <a:lnTo>
                    <a:pt x="397273" y="1000664"/>
                  </a:lnTo>
                  <a:lnTo>
                    <a:pt x="441330" y="1010331"/>
                  </a:lnTo>
                  <a:lnTo>
                    <a:pt x="485870" y="1016321"/>
                  </a:lnTo>
                  <a:lnTo>
                    <a:pt x="530631" y="1018631"/>
                  </a:lnTo>
                  <a:lnTo>
                    <a:pt x="575351" y="1017257"/>
                  </a:lnTo>
                  <a:lnTo>
                    <a:pt x="619768" y="1012196"/>
                  </a:lnTo>
                  <a:lnTo>
                    <a:pt x="663621" y="1003447"/>
                  </a:lnTo>
                  <a:lnTo>
                    <a:pt x="706646" y="991007"/>
                  </a:lnTo>
                  <a:lnTo>
                    <a:pt x="748581" y="974872"/>
                  </a:lnTo>
                  <a:lnTo>
                    <a:pt x="789166" y="955041"/>
                  </a:lnTo>
                  <a:lnTo>
                    <a:pt x="828136" y="931509"/>
                  </a:lnTo>
                  <a:lnTo>
                    <a:pt x="865231" y="904275"/>
                  </a:lnTo>
                  <a:lnTo>
                    <a:pt x="900189" y="873336"/>
                  </a:lnTo>
                  <a:lnTo>
                    <a:pt x="932079" y="839422"/>
                  </a:lnTo>
                  <a:lnTo>
                    <a:pt x="960151" y="803433"/>
                  </a:lnTo>
                  <a:lnTo>
                    <a:pt x="984406" y="765625"/>
                  </a:lnTo>
                  <a:lnTo>
                    <a:pt x="1004848" y="726251"/>
                  </a:lnTo>
                  <a:lnTo>
                    <a:pt x="1021479" y="685566"/>
                  </a:lnTo>
                  <a:lnTo>
                    <a:pt x="1034302" y="643825"/>
                  </a:lnTo>
                  <a:lnTo>
                    <a:pt x="1043320" y="601281"/>
                  </a:lnTo>
                  <a:lnTo>
                    <a:pt x="1048536" y="558188"/>
                  </a:lnTo>
                  <a:lnTo>
                    <a:pt x="1049953" y="514802"/>
                  </a:lnTo>
                  <a:lnTo>
                    <a:pt x="1047572" y="471376"/>
                  </a:lnTo>
                  <a:lnTo>
                    <a:pt x="1041398" y="428165"/>
                  </a:lnTo>
                  <a:lnTo>
                    <a:pt x="1031434" y="385423"/>
                  </a:lnTo>
                  <a:lnTo>
                    <a:pt x="1017680" y="343404"/>
                  </a:lnTo>
                  <a:lnTo>
                    <a:pt x="1000142" y="302362"/>
                  </a:lnTo>
                  <a:lnTo>
                    <a:pt x="978821" y="262552"/>
                  </a:lnTo>
                  <a:lnTo>
                    <a:pt x="953721" y="224228"/>
                  </a:lnTo>
                  <a:lnTo>
                    <a:pt x="924844" y="187645"/>
                  </a:lnTo>
                  <a:lnTo>
                    <a:pt x="892193" y="153056"/>
                  </a:lnTo>
                  <a:lnTo>
                    <a:pt x="856539" y="121378"/>
                  </a:lnTo>
                  <a:lnTo>
                    <a:pt x="818830" y="93362"/>
                  </a:lnTo>
                  <a:lnTo>
                    <a:pt x="779328" y="69010"/>
                  </a:lnTo>
                  <a:lnTo>
                    <a:pt x="738293" y="48325"/>
                  </a:lnTo>
                  <a:lnTo>
                    <a:pt x="695990" y="31309"/>
                  </a:lnTo>
                  <a:lnTo>
                    <a:pt x="652678" y="17966"/>
                  </a:lnTo>
                  <a:lnTo>
                    <a:pt x="608621" y="8299"/>
                  </a:lnTo>
                  <a:lnTo>
                    <a:pt x="564081" y="2309"/>
                  </a:lnTo>
                  <a:lnTo>
                    <a:pt x="5193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12449990" y="3019630"/>
              <a:ext cx="1050290" cy="1019175"/>
            </a:xfrm>
            <a:custGeom>
              <a:avLst/>
              <a:gdLst/>
              <a:ahLst/>
              <a:cxnLst/>
              <a:rect l="l" t="t" r="r" b="b"/>
              <a:pathLst>
                <a:path w="1050290" h="1019175">
                  <a:moveTo>
                    <a:pt x="900189" y="873336"/>
                  </a:moveTo>
                  <a:lnTo>
                    <a:pt x="932079" y="839422"/>
                  </a:lnTo>
                  <a:lnTo>
                    <a:pt x="960151" y="803433"/>
                  </a:lnTo>
                  <a:lnTo>
                    <a:pt x="984406" y="765625"/>
                  </a:lnTo>
                  <a:lnTo>
                    <a:pt x="1004848" y="726251"/>
                  </a:lnTo>
                  <a:lnTo>
                    <a:pt x="1021479" y="685566"/>
                  </a:lnTo>
                  <a:lnTo>
                    <a:pt x="1034302" y="643825"/>
                  </a:lnTo>
                  <a:lnTo>
                    <a:pt x="1043320" y="601281"/>
                  </a:lnTo>
                  <a:lnTo>
                    <a:pt x="1048536" y="558188"/>
                  </a:lnTo>
                  <a:lnTo>
                    <a:pt x="1049953" y="514802"/>
                  </a:lnTo>
                  <a:lnTo>
                    <a:pt x="1047572" y="471376"/>
                  </a:lnTo>
                  <a:lnTo>
                    <a:pt x="1041398" y="428165"/>
                  </a:lnTo>
                  <a:lnTo>
                    <a:pt x="1031434" y="385423"/>
                  </a:lnTo>
                  <a:lnTo>
                    <a:pt x="1017680" y="343404"/>
                  </a:lnTo>
                  <a:lnTo>
                    <a:pt x="1000142" y="302362"/>
                  </a:lnTo>
                  <a:lnTo>
                    <a:pt x="978821" y="262552"/>
                  </a:lnTo>
                  <a:lnTo>
                    <a:pt x="953721" y="224228"/>
                  </a:lnTo>
                  <a:lnTo>
                    <a:pt x="924844" y="187645"/>
                  </a:lnTo>
                  <a:lnTo>
                    <a:pt x="892193" y="153056"/>
                  </a:lnTo>
                  <a:lnTo>
                    <a:pt x="856539" y="121378"/>
                  </a:lnTo>
                  <a:lnTo>
                    <a:pt x="818830" y="93362"/>
                  </a:lnTo>
                  <a:lnTo>
                    <a:pt x="779328" y="69010"/>
                  </a:lnTo>
                  <a:lnTo>
                    <a:pt x="738293" y="48325"/>
                  </a:lnTo>
                  <a:lnTo>
                    <a:pt x="695990" y="31309"/>
                  </a:lnTo>
                  <a:lnTo>
                    <a:pt x="652678" y="17966"/>
                  </a:lnTo>
                  <a:lnTo>
                    <a:pt x="608621" y="8299"/>
                  </a:lnTo>
                  <a:lnTo>
                    <a:pt x="564081" y="2309"/>
                  </a:lnTo>
                  <a:lnTo>
                    <a:pt x="519320" y="0"/>
                  </a:lnTo>
                  <a:lnTo>
                    <a:pt x="474600" y="1374"/>
                  </a:lnTo>
                  <a:lnTo>
                    <a:pt x="430183" y="6434"/>
                  </a:lnTo>
                  <a:lnTo>
                    <a:pt x="386330" y="15183"/>
                  </a:lnTo>
                  <a:lnTo>
                    <a:pt x="343305" y="27623"/>
                  </a:lnTo>
                  <a:lnTo>
                    <a:pt x="301370" y="43758"/>
                  </a:lnTo>
                  <a:lnTo>
                    <a:pt x="260785" y="63590"/>
                  </a:lnTo>
                  <a:lnTo>
                    <a:pt x="221814" y="87121"/>
                  </a:lnTo>
                  <a:lnTo>
                    <a:pt x="184719" y="114355"/>
                  </a:lnTo>
                  <a:lnTo>
                    <a:pt x="149761" y="145294"/>
                  </a:lnTo>
                  <a:lnTo>
                    <a:pt x="117870" y="179209"/>
                  </a:lnTo>
                  <a:lnTo>
                    <a:pt x="89799" y="215197"/>
                  </a:lnTo>
                  <a:lnTo>
                    <a:pt x="65544" y="253006"/>
                  </a:lnTo>
                  <a:lnTo>
                    <a:pt x="45103" y="292379"/>
                  </a:lnTo>
                  <a:lnTo>
                    <a:pt x="28472" y="333064"/>
                  </a:lnTo>
                  <a:lnTo>
                    <a:pt x="15649" y="374806"/>
                  </a:lnTo>
                  <a:lnTo>
                    <a:pt x="6631" y="417350"/>
                  </a:lnTo>
                  <a:lnTo>
                    <a:pt x="1416" y="460442"/>
                  </a:lnTo>
                  <a:lnTo>
                    <a:pt x="0" y="503828"/>
                  </a:lnTo>
                  <a:lnTo>
                    <a:pt x="2380" y="547254"/>
                  </a:lnTo>
                  <a:lnTo>
                    <a:pt x="8554" y="590465"/>
                  </a:lnTo>
                  <a:lnTo>
                    <a:pt x="18519" y="633207"/>
                  </a:lnTo>
                  <a:lnTo>
                    <a:pt x="32272" y="675226"/>
                  </a:lnTo>
                  <a:lnTo>
                    <a:pt x="49811" y="716268"/>
                  </a:lnTo>
                  <a:lnTo>
                    <a:pt x="71132" y="756078"/>
                  </a:lnTo>
                  <a:lnTo>
                    <a:pt x="96232" y="794402"/>
                  </a:lnTo>
                  <a:lnTo>
                    <a:pt x="125109" y="830985"/>
                  </a:lnTo>
                  <a:lnTo>
                    <a:pt x="157760" y="865574"/>
                  </a:lnTo>
                  <a:lnTo>
                    <a:pt x="193413" y="897252"/>
                  </a:lnTo>
                  <a:lnTo>
                    <a:pt x="231122" y="925268"/>
                  </a:lnTo>
                  <a:lnTo>
                    <a:pt x="270624" y="949620"/>
                  </a:lnTo>
                  <a:lnTo>
                    <a:pt x="311658" y="970305"/>
                  </a:lnTo>
                  <a:lnTo>
                    <a:pt x="353962" y="987321"/>
                  </a:lnTo>
                  <a:lnTo>
                    <a:pt x="397273" y="1000664"/>
                  </a:lnTo>
                  <a:lnTo>
                    <a:pt x="441330" y="1010331"/>
                  </a:lnTo>
                  <a:lnTo>
                    <a:pt x="485870" y="1016321"/>
                  </a:lnTo>
                  <a:lnTo>
                    <a:pt x="530631" y="1018631"/>
                  </a:lnTo>
                  <a:lnTo>
                    <a:pt x="575351" y="1017257"/>
                  </a:lnTo>
                  <a:lnTo>
                    <a:pt x="619768" y="1012196"/>
                  </a:lnTo>
                  <a:lnTo>
                    <a:pt x="663621" y="1003447"/>
                  </a:lnTo>
                  <a:lnTo>
                    <a:pt x="706646" y="991007"/>
                  </a:lnTo>
                  <a:lnTo>
                    <a:pt x="748581" y="974872"/>
                  </a:lnTo>
                  <a:lnTo>
                    <a:pt x="789166" y="955041"/>
                  </a:lnTo>
                  <a:lnTo>
                    <a:pt x="828136" y="931509"/>
                  </a:lnTo>
                  <a:lnTo>
                    <a:pt x="865231" y="904275"/>
                  </a:lnTo>
                  <a:lnTo>
                    <a:pt x="900189" y="873336"/>
                  </a:lnTo>
                  <a:close/>
                </a:path>
              </a:pathLst>
            </a:custGeom>
            <a:ln w="7199">
              <a:solidFill>
                <a:srgbClr val="64B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12418956" y="2985781"/>
              <a:ext cx="1112520" cy="1086485"/>
            </a:xfrm>
            <a:custGeom>
              <a:avLst/>
              <a:gdLst/>
              <a:ahLst/>
              <a:cxnLst/>
              <a:rect l="l" t="t" r="r" b="b"/>
              <a:pathLst>
                <a:path w="1112519" h="1086485">
                  <a:moveTo>
                    <a:pt x="1112020" y="0"/>
                  </a:moveTo>
                  <a:lnTo>
                    <a:pt x="0" y="0"/>
                  </a:lnTo>
                  <a:lnTo>
                    <a:pt x="0" y="1086328"/>
                  </a:lnTo>
                  <a:lnTo>
                    <a:pt x="1112020" y="1086328"/>
                  </a:lnTo>
                  <a:lnTo>
                    <a:pt x="1112020" y="0"/>
                  </a:lnTo>
                  <a:close/>
                </a:path>
              </a:pathLst>
            </a:custGeom>
            <a:solidFill>
              <a:srgbClr val="151616">
                <a:alpha val="20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12544326" y="3111467"/>
              <a:ext cx="861694" cy="835025"/>
            </a:xfrm>
            <a:custGeom>
              <a:avLst/>
              <a:gdLst/>
              <a:ahLst/>
              <a:cxnLst/>
              <a:rect l="l" t="t" r="r" b="b"/>
              <a:pathLst>
                <a:path w="861694" h="835025">
                  <a:moveTo>
                    <a:pt x="403973" y="0"/>
                  </a:moveTo>
                  <a:lnTo>
                    <a:pt x="360139" y="3892"/>
                  </a:lnTo>
                  <a:lnTo>
                    <a:pt x="316910" y="12141"/>
                  </a:lnTo>
                  <a:lnTo>
                    <a:pt x="274658" y="24750"/>
                  </a:lnTo>
                  <a:lnTo>
                    <a:pt x="233755" y="41724"/>
                  </a:lnTo>
                  <a:lnTo>
                    <a:pt x="194572" y="63067"/>
                  </a:lnTo>
                  <a:lnTo>
                    <a:pt x="157481" y="88781"/>
                  </a:lnTo>
                  <a:lnTo>
                    <a:pt x="122853" y="118872"/>
                  </a:lnTo>
                  <a:lnTo>
                    <a:pt x="89793" y="154963"/>
                  </a:lnTo>
                  <a:lnTo>
                    <a:pt x="61912" y="193767"/>
                  </a:lnTo>
                  <a:lnTo>
                    <a:pt x="39203" y="234841"/>
                  </a:lnTo>
                  <a:lnTo>
                    <a:pt x="21663" y="277743"/>
                  </a:lnTo>
                  <a:lnTo>
                    <a:pt x="9285" y="322028"/>
                  </a:lnTo>
                  <a:lnTo>
                    <a:pt x="2066" y="367254"/>
                  </a:lnTo>
                  <a:lnTo>
                    <a:pt x="0" y="412977"/>
                  </a:lnTo>
                  <a:lnTo>
                    <a:pt x="3082" y="458754"/>
                  </a:lnTo>
                  <a:lnTo>
                    <a:pt x="11307" y="504142"/>
                  </a:lnTo>
                  <a:lnTo>
                    <a:pt x="24671" y="548696"/>
                  </a:lnTo>
                  <a:lnTo>
                    <a:pt x="43168" y="591975"/>
                  </a:lnTo>
                  <a:lnTo>
                    <a:pt x="66794" y="633534"/>
                  </a:lnTo>
                  <a:lnTo>
                    <a:pt x="95544" y="672930"/>
                  </a:lnTo>
                  <a:lnTo>
                    <a:pt x="129412" y="709720"/>
                  </a:lnTo>
                  <a:lnTo>
                    <a:pt x="164716" y="740541"/>
                  </a:lnTo>
                  <a:lnTo>
                    <a:pt x="202387" y="767037"/>
                  </a:lnTo>
                  <a:lnTo>
                    <a:pt x="242053" y="789204"/>
                  </a:lnTo>
                  <a:lnTo>
                    <a:pt x="283342" y="807037"/>
                  </a:lnTo>
                  <a:lnTo>
                    <a:pt x="325884" y="820533"/>
                  </a:lnTo>
                  <a:lnTo>
                    <a:pt x="369306" y="829687"/>
                  </a:lnTo>
                  <a:lnTo>
                    <a:pt x="413237" y="834497"/>
                  </a:lnTo>
                  <a:lnTo>
                    <a:pt x="457306" y="834958"/>
                  </a:lnTo>
                  <a:lnTo>
                    <a:pt x="501141" y="831065"/>
                  </a:lnTo>
                  <a:lnTo>
                    <a:pt x="544370" y="822816"/>
                  </a:lnTo>
                  <a:lnTo>
                    <a:pt x="586622" y="810207"/>
                  </a:lnTo>
                  <a:lnTo>
                    <a:pt x="627525" y="793232"/>
                  </a:lnTo>
                  <a:lnTo>
                    <a:pt x="666708" y="771890"/>
                  </a:lnTo>
                  <a:lnTo>
                    <a:pt x="703800" y="746175"/>
                  </a:lnTo>
                  <a:lnTo>
                    <a:pt x="738428" y="716084"/>
                  </a:lnTo>
                  <a:lnTo>
                    <a:pt x="771487" y="679994"/>
                  </a:lnTo>
                  <a:lnTo>
                    <a:pt x="799367" y="641190"/>
                  </a:lnTo>
                  <a:lnTo>
                    <a:pt x="822075" y="600116"/>
                  </a:lnTo>
                  <a:lnTo>
                    <a:pt x="839616" y="557214"/>
                  </a:lnTo>
                  <a:lnTo>
                    <a:pt x="851993" y="512929"/>
                  </a:lnTo>
                  <a:lnTo>
                    <a:pt x="859212" y="467703"/>
                  </a:lnTo>
                  <a:lnTo>
                    <a:pt x="861278" y="421980"/>
                  </a:lnTo>
                  <a:lnTo>
                    <a:pt x="858196" y="376203"/>
                  </a:lnTo>
                  <a:lnTo>
                    <a:pt x="849971" y="330816"/>
                  </a:lnTo>
                  <a:lnTo>
                    <a:pt x="836607" y="286261"/>
                  </a:lnTo>
                  <a:lnTo>
                    <a:pt x="818110" y="242983"/>
                  </a:lnTo>
                  <a:lnTo>
                    <a:pt x="794485" y="201424"/>
                  </a:lnTo>
                  <a:lnTo>
                    <a:pt x="765736" y="162028"/>
                  </a:lnTo>
                  <a:lnTo>
                    <a:pt x="731868" y="125238"/>
                  </a:lnTo>
                  <a:lnTo>
                    <a:pt x="696564" y="94416"/>
                  </a:lnTo>
                  <a:lnTo>
                    <a:pt x="658892" y="67920"/>
                  </a:lnTo>
                  <a:lnTo>
                    <a:pt x="619226" y="45753"/>
                  </a:lnTo>
                  <a:lnTo>
                    <a:pt x="577937" y="27920"/>
                  </a:lnTo>
                  <a:lnTo>
                    <a:pt x="535395" y="14424"/>
                  </a:lnTo>
                  <a:lnTo>
                    <a:pt x="491973" y="5270"/>
                  </a:lnTo>
                  <a:lnTo>
                    <a:pt x="448042" y="460"/>
                  </a:lnTo>
                  <a:lnTo>
                    <a:pt x="4039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2" name="object 14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2552416" y="3119000"/>
              <a:ext cx="94679" cy="91856"/>
            </a:xfrm>
            <a:prstGeom prst="rect">
              <a:avLst/>
            </a:prstGeom>
          </p:spPr>
        </p:pic>
        <p:sp>
          <p:nvSpPr>
            <p:cNvPr id="143" name="object 143"/>
            <p:cNvSpPr/>
            <p:nvPr/>
          </p:nvSpPr>
          <p:spPr>
            <a:xfrm>
              <a:off x="15311991" y="3239949"/>
              <a:ext cx="0" cy="543560"/>
            </a:xfrm>
            <a:custGeom>
              <a:avLst/>
              <a:gdLst/>
              <a:ahLst/>
              <a:cxnLst/>
              <a:rect l="l" t="t" r="r" b="b"/>
              <a:pathLst>
                <a:path h="543560">
                  <a:moveTo>
                    <a:pt x="0" y="0"/>
                  </a:moveTo>
                  <a:lnTo>
                    <a:pt x="0" y="543481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4" name="object 144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3681583" y="3419071"/>
              <a:ext cx="348350" cy="378179"/>
            </a:xfrm>
            <a:prstGeom prst="rect">
              <a:avLst/>
            </a:prstGeom>
          </p:spPr>
        </p:pic>
      </p:grpSp>
      <p:sp>
        <p:nvSpPr>
          <p:cNvPr id="145" name="object 145"/>
          <p:cNvSpPr txBox="1"/>
          <p:nvPr/>
        </p:nvSpPr>
        <p:spPr>
          <a:xfrm>
            <a:off x="13729568" y="3183591"/>
            <a:ext cx="1355090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dirty="0">
                <a:solidFill>
                  <a:srgbClr val="3C2B98"/>
                </a:solidFill>
                <a:latin typeface="Tahoma"/>
                <a:cs typeface="Tahoma"/>
              </a:rPr>
              <a:t>Микролойиҳа</a:t>
            </a:r>
            <a:r>
              <a:rPr sz="1200" spc="70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200" spc="-20" dirty="0">
                <a:solidFill>
                  <a:srgbClr val="3C2B98"/>
                </a:solidFill>
                <a:latin typeface="Tahoma"/>
                <a:cs typeface="Tahoma"/>
              </a:rPr>
              <a:t>сони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46" name="object 146"/>
          <p:cNvSpPr txBox="1"/>
          <p:nvPr/>
        </p:nvSpPr>
        <p:spPr>
          <a:xfrm>
            <a:off x="15809901" y="3290396"/>
            <a:ext cx="929640" cy="58926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750" b="1" spc="-45" dirty="0">
                <a:solidFill>
                  <a:srgbClr val="273B6F"/>
                </a:solidFill>
                <a:latin typeface="Arial"/>
                <a:cs typeface="Arial"/>
              </a:rPr>
              <a:t>8</a:t>
            </a:r>
            <a:r>
              <a:rPr sz="3750" b="1" spc="-45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1900" spc="-25" dirty="0">
                <a:solidFill>
                  <a:srgbClr val="273B6F"/>
                </a:solidFill>
                <a:latin typeface="Microsoft Sans Serif"/>
                <a:cs typeface="Microsoft Sans Serif"/>
              </a:rPr>
              <a:t>та</a:t>
            </a:r>
            <a:endParaRPr sz="1900" dirty="0">
              <a:latin typeface="Microsoft Sans Serif"/>
              <a:cs typeface="Microsoft Sans Serif"/>
            </a:endParaRPr>
          </a:p>
        </p:txBody>
      </p:sp>
      <p:sp>
        <p:nvSpPr>
          <p:cNvPr id="147" name="object 147"/>
          <p:cNvSpPr txBox="1"/>
          <p:nvPr/>
        </p:nvSpPr>
        <p:spPr>
          <a:xfrm>
            <a:off x="15471007" y="3183591"/>
            <a:ext cx="1332865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dirty="0">
                <a:solidFill>
                  <a:srgbClr val="3C2B98"/>
                </a:solidFill>
                <a:latin typeface="Tahoma"/>
                <a:cs typeface="Tahoma"/>
              </a:rPr>
              <a:t>Янги иш </a:t>
            </a:r>
            <a:r>
              <a:rPr sz="1200" spc="-10" dirty="0">
                <a:solidFill>
                  <a:srgbClr val="3C2B98"/>
                </a:solidFill>
                <a:latin typeface="Tahoma"/>
                <a:cs typeface="Tahoma"/>
              </a:rPr>
              <a:t>ўринлари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148" name="object 148"/>
          <p:cNvGrpSpPr/>
          <p:nvPr/>
        </p:nvGrpSpPr>
        <p:grpSpPr>
          <a:xfrm>
            <a:off x="12650405" y="3217606"/>
            <a:ext cx="3108305" cy="606574"/>
            <a:chOff x="12652263" y="3222781"/>
            <a:chExt cx="3108305" cy="606574"/>
          </a:xfrm>
        </p:grpSpPr>
        <p:pic>
          <p:nvPicPr>
            <p:cNvPr id="149" name="object 149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2652263" y="3222781"/>
              <a:ext cx="635908" cy="606574"/>
            </a:xfrm>
            <a:prstGeom prst="rect">
              <a:avLst/>
            </a:prstGeom>
          </p:spPr>
        </p:pic>
        <p:pic>
          <p:nvPicPr>
            <p:cNvPr id="150" name="object 150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5393146" y="3408723"/>
              <a:ext cx="367422" cy="373008"/>
            </a:xfrm>
            <a:prstGeom prst="rect">
              <a:avLst/>
            </a:prstGeom>
          </p:spPr>
        </p:pic>
      </p:grpSp>
      <p:sp>
        <p:nvSpPr>
          <p:cNvPr id="166" name="object 166"/>
          <p:cNvSpPr txBox="1"/>
          <p:nvPr/>
        </p:nvSpPr>
        <p:spPr>
          <a:xfrm>
            <a:off x="9124581" y="4386209"/>
            <a:ext cx="3380475" cy="265457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 marR="5080" indent="45720" algn="ctr">
              <a:lnSpc>
                <a:spcPts val="1810"/>
              </a:lnSpc>
              <a:spcBef>
                <a:spcPts val="270"/>
              </a:spcBef>
            </a:pPr>
            <a:r>
              <a:rPr lang="en-US" sz="1600" b="1" dirty="0">
                <a:solidFill>
                  <a:srgbClr val="3C2B98"/>
                </a:solidFill>
                <a:latin typeface="Microsoft Sans Serif"/>
                <a:cs typeface="Microsoft Sans Serif"/>
              </a:rPr>
              <a:t>X</a:t>
            </a:r>
            <a:r>
              <a:rPr lang="ru-RU" sz="1600" b="1" dirty="0" err="1">
                <a:solidFill>
                  <a:srgbClr val="3C2B98"/>
                </a:solidFill>
                <a:latin typeface="Microsoft Sans Serif"/>
                <a:cs typeface="Microsoft Sans Serif"/>
              </a:rPr>
              <a:t>измат</a:t>
            </a:r>
            <a:r>
              <a:rPr lang="ru-RU" sz="1600" b="1" dirty="0">
                <a:solidFill>
                  <a:srgbClr val="3C2B98"/>
                </a:solidFill>
                <a:latin typeface="Microsoft Sans Serif"/>
                <a:cs typeface="Microsoft Sans Serif"/>
              </a:rPr>
              <a:t> </a:t>
            </a:r>
            <a:r>
              <a:rPr lang="ru-RU" sz="1600" b="1" dirty="0" err="1">
                <a:solidFill>
                  <a:srgbClr val="3C2B98"/>
                </a:solidFill>
                <a:latin typeface="Microsoft Sans Serif"/>
                <a:cs typeface="Microsoft Sans Serif"/>
              </a:rPr>
              <a:t>кўрсатиш</a:t>
            </a:r>
            <a:endParaRPr sz="1600" dirty="0">
              <a:latin typeface="Microsoft Sans Serif"/>
              <a:cs typeface="Microsoft Sans Serif"/>
            </a:endParaRPr>
          </a:p>
        </p:txBody>
      </p:sp>
      <p:sp>
        <p:nvSpPr>
          <p:cNvPr id="169" name="object 169"/>
          <p:cNvSpPr/>
          <p:nvPr/>
        </p:nvSpPr>
        <p:spPr>
          <a:xfrm>
            <a:off x="9159674" y="4379485"/>
            <a:ext cx="3380476" cy="0"/>
          </a:xfrm>
          <a:custGeom>
            <a:avLst/>
            <a:gdLst/>
            <a:ahLst/>
            <a:cxnLst/>
            <a:rect l="l" t="t" r="r" b="b"/>
            <a:pathLst>
              <a:path w="2421890">
                <a:moveTo>
                  <a:pt x="2421802" y="0"/>
                </a:moveTo>
                <a:lnTo>
                  <a:pt x="0" y="0"/>
                </a:lnTo>
              </a:path>
            </a:pathLst>
          </a:custGeom>
          <a:ln w="17999">
            <a:solidFill>
              <a:srgbClr val="00A3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" name="object 171"/>
          <p:cNvSpPr txBox="1"/>
          <p:nvPr/>
        </p:nvSpPr>
        <p:spPr>
          <a:xfrm>
            <a:off x="9222269" y="4018785"/>
            <a:ext cx="3572981" cy="23019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2757170" algn="l"/>
              </a:tabLst>
            </a:pPr>
            <a:r>
              <a:rPr lang="uz-Cyrl-UZ" sz="1400" b="1" dirty="0">
                <a:solidFill>
                  <a:srgbClr val="3C2B98"/>
                </a:solidFill>
                <a:latin typeface="Arial"/>
                <a:cs typeface="Arial"/>
              </a:rPr>
              <a:t> </a:t>
            </a:r>
            <a:r>
              <a:rPr lang="en-US" sz="1400" b="1" dirty="0">
                <a:solidFill>
                  <a:srgbClr val="3C2B98"/>
                </a:solidFill>
                <a:latin typeface="Arial"/>
                <a:cs typeface="Arial"/>
              </a:rPr>
              <a:t>AVAZOV ZAFAR EGAMBERDIYEVICH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173" name="object 173"/>
          <p:cNvSpPr txBox="1"/>
          <p:nvPr/>
        </p:nvSpPr>
        <p:spPr>
          <a:xfrm>
            <a:off x="13224203" y="4485098"/>
            <a:ext cx="3848246" cy="265457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36525" marR="5080" indent="-124460" algn="ctr">
              <a:lnSpc>
                <a:spcPts val="1810"/>
              </a:lnSpc>
              <a:spcBef>
                <a:spcPts val="270"/>
              </a:spcBef>
            </a:pPr>
            <a:r>
              <a:rPr lang="en-US" sz="1600" b="1" dirty="0">
                <a:solidFill>
                  <a:srgbClr val="3C2B98"/>
                </a:solidFill>
                <a:latin typeface="Microsoft Sans Serif"/>
                <a:cs typeface="Microsoft Sans Serif"/>
              </a:rPr>
              <a:t>X</a:t>
            </a:r>
            <a:r>
              <a:rPr lang="ru-RU" sz="1600" b="1" dirty="0" err="1">
                <a:solidFill>
                  <a:srgbClr val="3C2B98"/>
                </a:solidFill>
                <a:latin typeface="Microsoft Sans Serif"/>
                <a:cs typeface="Microsoft Sans Serif"/>
              </a:rPr>
              <a:t>измат</a:t>
            </a:r>
            <a:r>
              <a:rPr lang="ru-RU" sz="1600" b="1" dirty="0">
                <a:solidFill>
                  <a:srgbClr val="3C2B98"/>
                </a:solidFill>
                <a:latin typeface="Microsoft Sans Serif"/>
                <a:cs typeface="Microsoft Sans Serif"/>
              </a:rPr>
              <a:t> </a:t>
            </a:r>
            <a:r>
              <a:rPr lang="ru-RU" sz="1600" b="1" dirty="0" err="1">
                <a:solidFill>
                  <a:srgbClr val="3C2B98"/>
                </a:solidFill>
                <a:latin typeface="Microsoft Sans Serif"/>
                <a:cs typeface="Microsoft Sans Serif"/>
              </a:rPr>
              <a:t>кўрсатиш</a:t>
            </a:r>
            <a:endParaRPr lang="ru-RU" sz="1600" dirty="0">
              <a:latin typeface="Microsoft Sans Serif"/>
              <a:cs typeface="Microsoft Sans Serif"/>
            </a:endParaRPr>
          </a:p>
        </p:txBody>
      </p:sp>
      <p:sp>
        <p:nvSpPr>
          <p:cNvPr id="174" name="object 174"/>
          <p:cNvSpPr txBox="1"/>
          <p:nvPr/>
        </p:nvSpPr>
        <p:spPr>
          <a:xfrm>
            <a:off x="14198293" y="4050322"/>
            <a:ext cx="2227396" cy="260968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lang="en-US" sz="1600" b="1" dirty="0">
                <a:solidFill>
                  <a:srgbClr val="3C2B98"/>
                </a:solidFill>
                <a:latin typeface="Arial"/>
                <a:cs typeface="Arial"/>
              </a:rPr>
              <a:t>“EDUCO TEAM” MCHJ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176" name="object 176"/>
          <p:cNvSpPr/>
          <p:nvPr/>
        </p:nvSpPr>
        <p:spPr>
          <a:xfrm flipV="1">
            <a:off x="13532105" y="4378095"/>
            <a:ext cx="3351830" cy="45719"/>
          </a:xfrm>
          <a:custGeom>
            <a:avLst/>
            <a:gdLst/>
            <a:ahLst/>
            <a:cxnLst/>
            <a:rect l="l" t="t" r="r" b="b"/>
            <a:pathLst>
              <a:path w="2421890">
                <a:moveTo>
                  <a:pt x="2421803" y="0"/>
                </a:moveTo>
                <a:lnTo>
                  <a:pt x="0" y="0"/>
                </a:lnTo>
              </a:path>
            </a:pathLst>
          </a:custGeom>
          <a:ln w="17999">
            <a:solidFill>
              <a:srgbClr val="00A3D4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195" name="object 195"/>
          <p:cNvGrpSpPr/>
          <p:nvPr/>
        </p:nvGrpSpPr>
        <p:grpSpPr>
          <a:xfrm>
            <a:off x="441645" y="5123131"/>
            <a:ext cx="3901763" cy="2523167"/>
            <a:chOff x="2595733" y="5131942"/>
            <a:chExt cx="3901763" cy="2523167"/>
          </a:xfrm>
        </p:grpSpPr>
        <p:sp>
          <p:nvSpPr>
            <p:cNvPr id="203" name="object 203"/>
            <p:cNvSpPr/>
            <p:nvPr/>
          </p:nvSpPr>
          <p:spPr>
            <a:xfrm>
              <a:off x="6497496" y="5131942"/>
              <a:ext cx="0" cy="2216150"/>
            </a:xfrm>
            <a:custGeom>
              <a:avLst/>
              <a:gdLst/>
              <a:ahLst/>
              <a:cxnLst/>
              <a:rect l="l" t="t" r="r" b="b"/>
              <a:pathLst>
                <a:path h="2216150">
                  <a:moveTo>
                    <a:pt x="0" y="0"/>
                  </a:moveTo>
                  <a:lnTo>
                    <a:pt x="0" y="2215861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4" name="object 204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4584491" y="7348092"/>
              <a:ext cx="302418" cy="307017"/>
            </a:xfrm>
            <a:prstGeom prst="rect">
              <a:avLst/>
            </a:prstGeom>
          </p:spPr>
        </p:pic>
        <p:pic>
          <p:nvPicPr>
            <p:cNvPr id="205" name="object 205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2595733" y="7399672"/>
              <a:ext cx="307199" cy="215900"/>
            </a:xfrm>
            <a:prstGeom prst="rect">
              <a:avLst/>
            </a:prstGeom>
          </p:spPr>
        </p:pic>
      </p:grpSp>
      <p:sp>
        <p:nvSpPr>
          <p:cNvPr id="206" name="object 206"/>
          <p:cNvSpPr txBox="1"/>
          <p:nvPr/>
        </p:nvSpPr>
        <p:spPr>
          <a:xfrm>
            <a:off x="835298" y="7320023"/>
            <a:ext cx="791210" cy="32823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6034">
              <a:lnSpc>
                <a:spcPct val="102299"/>
              </a:lnSpc>
              <a:spcBef>
                <a:spcPts val="95"/>
              </a:spcBef>
            </a:pPr>
            <a:r>
              <a:rPr sz="1050" spc="-10" dirty="0" err="1">
                <a:solidFill>
                  <a:srgbClr val="3C2B98"/>
                </a:solidFill>
                <a:latin typeface="Tahoma"/>
                <a:cs typeface="Tahoma"/>
              </a:rPr>
              <a:t>Ажратилган</a:t>
            </a:r>
            <a:r>
              <a:rPr sz="1050" spc="-10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050" spc="-10" dirty="0" err="1">
                <a:solidFill>
                  <a:srgbClr val="3C2B98"/>
                </a:solidFill>
                <a:latin typeface="Tahoma"/>
                <a:cs typeface="Tahoma"/>
              </a:rPr>
              <a:t>маблағ</a:t>
            </a:r>
            <a:endParaRPr sz="1050" dirty="0">
              <a:latin typeface="Tahoma"/>
              <a:cs typeface="Tahoma"/>
            </a:endParaRPr>
          </a:p>
        </p:txBody>
      </p:sp>
      <p:sp>
        <p:nvSpPr>
          <p:cNvPr id="207" name="object 207"/>
          <p:cNvSpPr txBox="1"/>
          <p:nvPr/>
        </p:nvSpPr>
        <p:spPr>
          <a:xfrm>
            <a:off x="1995780" y="7282116"/>
            <a:ext cx="410209" cy="236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spc="-20" dirty="0">
                <a:solidFill>
                  <a:srgbClr val="273B6F"/>
                </a:solidFill>
                <a:latin typeface="Microsoft Sans Serif"/>
                <a:cs typeface="Microsoft Sans Serif"/>
              </a:rPr>
              <a:t>млн.</a:t>
            </a:r>
            <a:endParaRPr sz="1350" dirty="0">
              <a:latin typeface="Microsoft Sans Serif"/>
              <a:cs typeface="Microsoft Sans Serif"/>
            </a:endParaRPr>
          </a:p>
        </p:txBody>
      </p:sp>
      <p:sp>
        <p:nvSpPr>
          <p:cNvPr id="208" name="object 208"/>
          <p:cNvSpPr txBox="1"/>
          <p:nvPr/>
        </p:nvSpPr>
        <p:spPr>
          <a:xfrm>
            <a:off x="1435783" y="7275794"/>
            <a:ext cx="1069376" cy="4254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uz-Cyrl-UZ" sz="3900" b="1" spc="-52" baseline="2136" dirty="0">
                <a:solidFill>
                  <a:srgbClr val="273B6F"/>
                </a:solidFill>
                <a:latin typeface="Arial"/>
                <a:cs typeface="Arial"/>
              </a:rPr>
              <a:t>  1</a:t>
            </a:r>
            <a:r>
              <a:rPr lang="en-US" sz="3900" b="1" spc="-52" baseline="2136" dirty="0">
                <a:solidFill>
                  <a:srgbClr val="273B6F"/>
                </a:solidFill>
                <a:latin typeface="Arial"/>
                <a:cs typeface="Arial"/>
              </a:rPr>
              <a:t>0</a:t>
            </a:r>
            <a:r>
              <a:rPr sz="3900" b="1" spc="-630" baseline="2136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1350" spc="-25" dirty="0">
                <a:solidFill>
                  <a:srgbClr val="273B6F"/>
                </a:solidFill>
                <a:latin typeface="Microsoft Sans Serif"/>
                <a:cs typeface="Microsoft Sans Serif"/>
              </a:rPr>
              <a:t>сўм</a:t>
            </a:r>
            <a:endParaRPr sz="1350" dirty="0">
              <a:latin typeface="Microsoft Sans Serif"/>
              <a:cs typeface="Microsoft Sans Serif"/>
            </a:endParaRPr>
          </a:p>
        </p:txBody>
      </p:sp>
      <p:sp>
        <p:nvSpPr>
          <p:cNvPr id="209" name="object 209"/>
          <p:cNvSpPr txBox="1"/>
          <p:nvPr/>
        </p:nvSpPr>
        <p:spPr>
          <a:xfrm>
            <a:off x="3612390" y="7284029"/>
            <a:ext cx="784225" cy="415498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296795" algn="l"/>
              </a:tabLst>
            </a:pPr>
            <a:r>
              <a:rPr lang="uz-Cyrl-UZ" sz="2600" b="1" dirty="0">
                <a:solidFill>
                  <a:srgbClr val="273B6F"/>
                </a:solidFill>
                <a:latin typeface="Arial"/>
                <a:cs typeface="Arial"/>
              </a:rPr>
              <a:t>2</a:t>
            </a:r>
            <a:r>
              <a:rPr sz="2600" b="1" spc="5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1250" spc="-10" dirty="0" err="1">
                <a:solidFill>
                  <a:srgbClr val="273B6F"/>
                </a:solidFill>
                <a:latin typeface="Microsoft Sans Serif"/>
                <a:cs typeface="Microsoft Sans Serif"/>
              </a:rPr>
              <a:t>нафар</a:t>
            </a:r>
            <a:endParaRPr sz="1250" dirty="0">
              <a:latin typeface="Microsoft Sans Serif"/>
              <a:cs typeface="Microsoft Sans Serif"/>
            </a:endParaRPr>
          </a:p>
        </p:txBody>
      </p:sp>
      <p:sp>
        <p:nvSpPr>
          <p:cNvPr id="241" name="object 241"/>
          <p:cNvSpPr txBox="1"/>
          <p:nvPr/>
        </p:nvSpPr>
        <p:spPr>
          <a:xfrm>
            <a:off x="1696925" y="8689647"/>
            <a:ext cx="1105535" cy="6800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uz-Cyrl-UZ" sz="4000" b="1" dirty="0">
                <a:solidFill>
                  <a:srgbClr val="273B6F"/>
                </a:solidFill>
                <a:latin typeface="Arial"/>
                <a:cs typeface="Arial"/>
              </a:rPr>
              <a:t>10</a:t>
            </a:r>
            <a:r>
              <a:rPr sz="4300" b="1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273B6F"/>
                </a:solidFill>
                <a:latin typeface="Microsoft Sans Serif"/>
                <a:cs typeface="Microsoft Sans Serif"/>
              </a:rPr>
              <a:t>ТА</a:t>
            </a:r>
            <a:endParaRPr sz="2000" dirty="0">
              <a:latin typeface="Microsoft Sans Serif"/>
              <a:cs typeface="Microsoft Sans Serif"/>
            </a:endParaRPr>
          </a:p>
        </p:txBody>
      </p:sp>
      <p:sp>
        <p:nvSpPr>
          <p:cNvPr id="242" name="object 242"/>
          <p:cNvSpPr txBox="1"/>
          <p:nvPr/>
        </p:nvSpPr>
        <p:spPr>
          <a:xfrm>
            <a:off x="978978" y="8209257"/>
            <a:ext cx="1974850" cy="274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00" b="1" spc="-50" dirty="0">
                <a:solidFill>
                  <a:srgbClr val="4E3F9E"/>
                </a:solidFill>
                <a:latin typeface="Arial"/>
                <a:cs typeface="Arial"/>
              </a:rPr>
              <a:t>МИКРОЛОЙИҲАЛАР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243" name="object 243"/>
          <p:cNvGrpSpPr/>
          <p:nvPr/>
        </p:nvGrpSpPr>
        <p:grpSpPr>
          <a:xfrm>
            <a:off x="3561102" y="8551864"/>
            <a:ext cx="13408025" cy="738505"/>
            <a:chOff x="3561102" y="8551864"/>
            <a:chExt cx="13408025" cy="738505"/>
          </a:xfrm>
        </p:grpSpPr>
        <p:sp>
          <p:nvSpPr>
            <p:cNvPr id="244" name="object 244"/>
            <p:cNvSpPr/>
            <p:nvPr/>
          </p:nvSpPr>
          <p:spPr>
            <a:xfrm>
              <a:off x="3565865" y="8556627"/>
              <a:ext cx="13398500" cy="0"/>
            </a:xfrm>
            <a:custGeom>
              <a:avLst/>
              <a:gdLst/>
              <a:ahLst/>
              <a:cxnLst/>
              <a:rect l="l" t="t" r="r" b="b"/>
              <a:pathLst>
                <a:path w="13398500">
                  <a:moveTo>
                    <a:pt x="2310932" y="0"/>
                  </a:moveTo>
                  <a:lnTo>
                    <a:pt x="0" y="0"/>
                  </a:lnTo>
                </a:path>
                <a:path w="13398500">
                  <a:moveTo>
                    <a:pt x="5082702" y="0"/>
                  </a:moveTo>
                  <a:lnTo>
                    <a:pt x="2771768" y="0"/>
                  </a:lnTo>
                </a:path>
                <a:path w="13398500">
                  <a:moveTo>
                    <a:pt x="7854472" y="0"/>
                  </a:moveTo>
                  <a:lnTo>
                    <a:pt x="5543538" y="0"/>
                  </a:lnTo>
                </a:path>
                <a:path w="13398500">
                  <a:moveTo>
                    <a:pt x="10626242" y="0"/>
                  </a:moveTo>
                  <a:lnTo>
                    <a:pt x="8315308" y="0"/>
                  </a:lnTo>
                </a:path>
                <a:path w="13398500">
                  <a:moveTo>
                    <a:pt x="13398011" y="0"/>
                  </a:moveTo>
                  <a:lnTo>
                    <a:pt x="11087078" y="0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5" name="object 245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3693062" y="8874100"/>
              <a:ext cx="164332" cy="149338"/>
            </a:xfrm>
            <a:prstGeom prst="rect">
              <a:avLst/>
            </a:prstGeom>
          </p:spPr>
        </p:pic>
        <p:sp>
          <p:nvSpPr>
            <p:cNvPr id="246" name="object 246"/>
            <p:cNvSpPr/>
            <p:nvPr/>
          </p:nvSpPr>
          <p:spPr>
            <a:xfrm>
              <a:off x="3753474" y="8904931"/>
              <a:ext cx="53340" cy="101600"/>
            </a:xfrm>
            <a:custGeom>
              <a:avLst/>
              <a:gdLst/>
              <a:ahLst/>
              <a:cxnLst/>
              <a:rect l="l" t="t" r="r" b="b"/>
              <a:pathLst>
                <a:path w="53339" h="101600">
                  <a:moveTo>
                    <a:pt x="20426" y="0"/>
                  </a:moveTo>
                  <a:lnTo>
                    <a:pt x="20462" y="11656"/>
                  </a:lnTo>
                  <a:lnTo>
                    <a:pt x="16427" y="13455"/>
                  </a:lnTo>
                  <a:lnTo>
                    <a:pt x="12993" y="13106"/>
                  </a:lnTo>
                  <a:lnTo>
                    <a:pt x="4893" y="20220"/>
                  </a:lnTo>
                  <a:lnTo>
                    <a:pt x="1832" y="24555"/>
                  </a:lnTo>
                  <a:lnTo>
                    <a:pt x="953" y="30344"/>
                  </a:lnTo>
                  <a:lnTo>
                    <a:pt x="2693" y="43235"/>
                  </a:lnTo>
                  <a:lnTo>
                    <a:pt x="10344" y="51121"/>
                  </a:lnTo>
                  <a:lnTo>
                    <a:pt x="20273" y="55953"/>
                  </a:lnTo>
                  <a:lnTo>
                    <a:pt x="28846" y="59679"/>
                  </a:lnTo>
                  <a:lnTo>
                    <a:pt x="33983" y="62624"/>
                  </a:lnTo>
                  <a:lnTo>
                    <a:pt x="36000" y="67351"/>
                  </a:lnTo>
                  <a:lnTo>
                    <a:pt x="28634" y="76794"/>
                  </a:lnTo>
                  <a:lnTo>
                    <a:pt x="16877" y="75067"/>
                  </a:lnTo>
                  <a:lnTo>
                    <a:pt x="7948" y="71851"/>
                  </a:lnTo>
                  <a:lnTo>
                    <a:pt x="5137" y="70130"/>
                  </a:lnTo>
                  <a:lnTo>
                    <a:pt x="3467" y="69677"/>
                  </a:lnTo>
                  <a:lnTo>
                    <a:pt x="0" y="84134"/>
                  </a:lnTo>
                  <a:lnTo>
                    <a:pt x="5443" y="86694"/>
                  </a:lnTo>
                  <a:lnTo>
                    <a:pt x="12754" y="88739"/>
                  </a:lnTo>
                  <a:lnTo>
                    <a:pt x="16041" y="88973"/>
                  </a:lnTo>
                  <a:lnTo>
                    <a:pt x="19832" y="89462"/>
                  </a:lnTo>
                  <a:lnTo>
                    <a:pt x="19904" y="98729"/>
                  </a:lnTo>
                  <a:lnTo>
                    <a:pt x="31432" y="101202"/>
                  </a:lnTo>
                  <a:lnTo>
                    <a:pt x="31511" y="88365"/>
                  </a:lnTo>
                  <a:lnTo>
                    <a:pt x="38427" y="86400"/>
                  </a:lnTo>
                  <a:lnTo>
                    <a:pt x="44337" y="82703"/>
                  </a:lnTo>
                  <a:lnTo>
                    <a:pt x="48826" y="77580"/>
                  </a:lnTo>
                  <a:lnTo>
                    <a:pt x="51480" y="71340"/>
                  </a:lnTo>
                  <a:lnTo>
                    <a:pt x="52740" y="66055"/>
                  </a:lnTo>
                  <a:lnTo>
                    <a:pt x="52214" y="59453"/>
                  </a:lnTo>
                  <a:lnTo>
                    <a:pt x="24145" y="38703"/>
                  </a:lnTo>
                  <a:lnTo>
                    <a:pt x="17928" y="35805"/>
                  </a:lnTo>
                  <a:lnTo>
                    <a:pt x="19523" y="25429"/>
                  </a:lnTo>
                  <a:lnTo>
                    <a:pt x="25532" y="24422"/>
                  </a:lnTo>
                  <a:lnTo>
                    <a:pt x="37313" y="25181"/>
                  </a:lnTo>
                  <a:lnTo>
                    <a:pt x="40190" y="26937"/>
                  </a:lnTo>
                  <a:lnTo>
                    <a:pt x="45331" y="28911"/>
                  </a:lnTo>
                  <a:lnTo>
                    <a:pt x="46194" y="27412"/>
                  </a:lnTo>
                  <a:lnTo>
                    <a:pt x="48906" y="14842"/>
                  </a:lnTo>
                  <a:lnTo>
                    <a:pt x="46426" y="14169"/>
                  </a:lnTo>
                  <a:lnTo>
                    <a:pt x="44042" y="12866"/>
                  </a:lnTo>
                  <a:lnTo>
                    <a:pt x="37825" y="11343"/>
                  </a:lnTo>
                  <a:lnTo>
                    <a:pt x="35111" y="11332"/>
                  </a:lnTo>
                  <a:lnTo>
                    <a:pt x="31913" y="10845"/>
                  </a:lnTo>
                  <a:lnTo>
                    <a:pt x="31932" y="2955"/>
                  </a:lnTo>
                  <a:lnTo>
                    <a:pt x="2042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7" name="object 247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3632144" y="9000013"/>
              <a:ext cx="107302" cy="35902"/>
            </a:xfrm>
            <a:prstGeom prst="rect">
              <a:avLst/>
            </a:prstGeom>
          </p:spPr>
        </p:pic>
        <p:pic>
          <p:nvPicPr>
            <p:cNvPr id="248" name="object 248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3738164" y="8696046"/>
              <a:ext cx="102600" cy="47776"/>
            </a:xfrm>
            <a:prstGeom prst="rect">
              <a:avLst/>
            </a:prstGeom>
          </p:spPr>
        </p:pic>
        <p:pic>
          <p:nvPicPr>
            <p:cNvPr id="249" name="object 249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3969251" y="9049902"/>
              <a:ext cx="75665" cy="34113"/>
            </a:xfrm>
            <a:prstGeom prst="rect">
              <a:avLst/>
            </a:prstGeom>
          </p:spPr>
        </p:pic>
        <p:pic>
          <p:nvPicPr>
            <p:cNvPr id="250" name="object 250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3776065" y="9049869"/>
              <a:ext cx="80097" cy="34138"/>
            </a:xfrm>
            <a:prstGeom prst="rect">
              <a:avLst/>
            </a:prstGeom>
          </p:spPr>
        </p:pic>
        <p:pic>
          <p:nvPicPr>
            <p:cNvPr id="251" name="object 251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3680762" y="9049899"/>
              <a:ext cx="80373" cy="34412"/>
            </a:xfrm>
            <a:prstGeom prst="rect">
              <a:avLst/>
            </a:prstGeom>
          </p:spPr>
        </p:pic>
        <p:pic>
          <p:nvPicPr>
            <p:cNvPr id="252" name="object 252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3870921" y="9049877"/>
              <a:ext cx="83465" cy="34121"/>
            </a:xfrm>
            <a:prstGeom prst="rect">
              <a:avLst/>
            </a:prstGeom>
          </p:spPr>
        </p:pic>
        <p:pic>
          <p:nvPicPr>
            <p:cNvPr id="253" name="object 253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3631853" y="8750890"/>
              <a:ext cx="461708" cy="285044"/>
            </a:xfrm>
            <a:prstGeom prst="rect">
              <a:avLst/>
            </a:prstGeom>
          </p:spPr>
        </p:pic>
        <p:pic>
          <p:nvPicPr>
            <p:cNvPr id="254" name="object 254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3632169" y="9098351"/>
              <a:ext cx="460414" cy="176926"/>
            </a:xfrm>
            <a:prstGeom prst="rect">
              <a:avLst/>
            </a:prstGeom>
          </p:spPr>
        </p:pic>
        <p:pic>
          <p:nvPicPr>
            <p:cNvPr id="255" name="object 255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3655822" y="9098879"/>
              <a:ext cx="191097" cy="144358"/>
            </a:xfrm>
            <a:prstGeom prst="rect">
              <a:avLst/>
            </a:prstGeom>
          </p:spPr>
        </p:pic>
        <p:pic>
          <p:nvPicPr>
            <p:cNvPr id="256" name="object 256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6381369" y="8763602"/>
              <a:ext cx="518285" cy="526279"/>
            </a:xfrm>
            <a:prstGeom prst="rect">
              <a:avLst/>
            </a:prstGeom>
          </p:spPr>
        </p:pic>
        <p:pic>
          <p:nvPicPr>
            <p:cNvPr id="257" name="object 257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12051110" y="8758939"/>
              <a:ext cx="528894" cy="506008"/>
            </a:xfrm>
            <a:prstGeom prst="rect">
              <a:avLst/>
            </a:prstGeom>
          </p:spPr>
        </p:pic>
        <p:pic>
          <p:nvPicPr>
            <p:cNvPr id="258" name="object 258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14731403" y="8763602"/>
              <a:ext cx="518285" cy="526279"/>
            </a:xfrm>
            <a:prstGeom prst="rect">
              <a:avLst/>
            </a:prstGeom>
          </p:spPr>
        </p:pic>
      </p:grpSp>
      <p:sp>
        <p:nvSpPr>
          <p:cNvPr id="259" name="object 259"/>
          <p:cNvSpPr txBox="1"/>
          <p:nvPr/>
        </p:nvSpPr>
        <p:spPr>
          <a:xfrm>
            <a:off x="3562906" y="8209257"/>
            <a:ext cx="2357120" cy="274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00" b="1" spc="-180" dirty="0">
                <a:solidFill>
                  <a:srgbClr val="4E3F9E"/>
                </a:solidFill>
                <a:latin typeface="Arial"/>
                <a:cs typeface="Arial"/>
              </a:rPr>
              <a:t>АЖРАТИЛАДИГАН</a:t>
            </a:r>
            <a:r>
              <a:rPr sz="1600" b="1" spc="-20" dirty="0">
                <a:solidFill>
                  <a:srgbClr val="4E3F9E"/>
                </a:solidFill>
                <a:latin typeface="Arial"/>
                <a:cs typeface="Arial"/>
              </a:rPr>
              <a:t> </a:t>
            </a:r>
            <a:r>
              <a:rPr sz="1600" b="1" spc="-135" dirty="0">
                <a:solidFill>
                  <a:srgbClr val="4E3F9E"/>
                </a:solidFill>
                <a:latin typeface="Arial"/>
                <a:cs typeface="Arial"/>
              </a:rPr>
              <a:t>КРЕДИТ</a:t>
            </a:r>
            <a:endParaRPr sz="1600">
              <a:latin typeface="Arial"/>
              <a:cs typeface="Arial"/>
            </a:endParaRPr>
          </a:p>
        </p:txBody>
      </p:sp>
      <p:sp>
        <p:nvSpPr>
          <p:cNvPr id="260" name="object 260"/>
          <p:cNvSpPr txBox="1"/>
          <p:nvPr/>
        </p:nvSpPr>
        <p:spPr>
          <a:xfrm>
            <a:off x="6256343" y="7912999"/>
            <a:ext cx="7979409" cy="5386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5"/>
              </a:spcBef>
            </a:pPr>
            <a:endParaRPr sz="1800" dirty="0">
              <a:latin typeface="Tahoma"/>
              <a:cs typeface="Tahoma"/>
            </a:endParaRPr>
          </a:p>
          <a:p>
            <a:pPr marL="93345">
              <a:lnSpc>
                <a:spcPct val="100000"/>
              </a:lnSpc>
              <a:tabLst>
                <a:tab pos="3089275" algn="l"/>
                <a:tab pos="5738495" algn="l"/>
              </a:tabLst>
            </a:pPr>
            <a:r>
              <a:rPr sz="1600" b="1" spc="-150" dirty="0">
                <a:solidFill>
                  <a:srgbClr val="4E3F9E"/>
                </a:solidFill>
                <a:latin typeface="Arial"/>
                <a:cs typeface="Arial"/>
              </a:rPr>
              <a:t>БАНДЛИКНИ</a:t>
            </a:r>
            <a:r>
              <a:rPr sz="1600" b="1" spc="20" dirty="0">
                <a:solidFill>
                  <a:srgbClr val="4E3F9E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4E3F9E"/>
                </a:solidFill>
                <a:latin typeface="Arial"/>
                <a:cs typeface="Arial"/>
              </a:rPr>
              <a:t>ТАЪМИНЛАШ</a:t>
            </a:r>
            <a:r>
              <a:rPr sz="1600" b="1" dirty="0">
                <a:solidFill>
                  <a:srgbClr val="4E3F9E"/>
                </a:solidFill>
                <a:latin typeface="Arial"/>
                <a:cs typeface="Arial"/>
              </a:rPr>
              <a:t>	</a:t>
            </a:r>
            <a:r>
              <a:rPr sz="1600" b="1" spc="-50" dirty="0">
                <a:solidFill>
                  <a:srgbClr val="4E3F9E"/>
                </a:solidFill>
                <a:latin typeface="Arial"/>
                <a:cs typeface="Arial"/>
              </a:rPr>
              <a:t>ҚЎШИМЧА</a:t>
            </a:r>
            <a:r>
              <a:rPr sz="1600" b="1" spc="-5" dirty="0">
                <a:solidFill>
                  <a:srgbClr val="4E3F9E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4E3F9E"/>
                </a:solidFill>
                <a:latin typeface="Arial"/>
                <a:cs typeface="Arial"/>
              </a:rPr>
              <a:t>ДАРОМАД</a:t>
            </a:r>
            <a:r>
              <a:rPr sz="1600" b="1" dirty="0">
                <a:solidFill>
                  <a:srgbClr val="4E3F9E"/>
                </a:solidFill>
                <a:latin typeface="Arial"/>
                <a:cs typeface="Arial"/>
              </a:rPr>
              <a:t>	</a:t>
            </a:r>
            <a:r>
              <a:rPr sz="1600" b="1" spc="-55" dirty="0">
                <a:solidFill>
                  <a:srgbClr val="4E3F9E"/>
                </a:solidFill>
                <a:latin typeface="Arial"/>
                <a:cs typeface="Arial"/>
              </a:rPr>
              <a:t>ТАДБИРКОРЛАР</a:t>
            </a:r>
            <a:r>
              <a:rPr sz="1600" b="1" spc="-35" dirty="0">
                <a:solidFill>
                  <a:srgbClr val="4E3F9E"/>
                </a:solidFill>
                <a:latin typeface="Arial"/>
                <a:cs typeface="Arial"/>
              </a:rPr>
              <a:t> СОНИ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261" name="object 261"/>
          <p:cNvSpPr txBox="1"/>
          <p:nvPr/>
        </p:nvSpPr>
        <p:spPr>
          <a:xfrm>
            <a:off x="14837824" y="8209257"/>
            <a:ext cx="2049780" cy="274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00" b="1" spc="-30" dirty="0">
                <a:solidFill>
                  <a:srgbClr val="4E3F9E"/>
                </a:solidFill>
                <a:latin typeface="Arial"/>
                <a:cs typeface="Arial"/>
              </a:rPr>
              <a:t>ЯНГИ</a:t>
            </a:r>
            <a:r>
              <a:rPr sz="1600" b="1" spc="-70" dirty="0">
                <a:solidFill>
                  <a:srgbClr val="4E3F9E"/>
                </a:solidFill>
                <a:latin typeface="Arial"/>
                <a:cs typeface="Arial"/>
              </a:rPr>
              <a:t> </a:t>
            </a:r>
            <a:r>
              <a:rPr sz="1600" b="1" spc="-50" dirty="0">
                <a:solidFill>
                  <a:srgbClr val="4E3F9E"/>
                </a:solidFill>
                <a:latin typeface="Arial"/>
                <a:cs typeface="Arial"/>
              </a:rPr>
              <a:t>БЎШ</a:t>
            </a:r>
            <a:r>
              <a:rPr sz="1600" b="1" spc="-60" dirty="0">
                <a:solidFill>
                  <a:srgbClr val="4E3F9E"/>
                </a:solidFill>
                <a:latin typeface="Arial"/>
                <a:cs typeface="Arial"/>
              </a:rPr>
              <a:t> </a:t>
            </a:r>
            <a:r>
              <a:rPr sz="1600" b="1" spc="-50" dirty="0">
                <a:solidFill>
                  <a:srgbClr val="4E3F9E"/>
                </a:solidFill>
                <a:latin typeface="Arial"/>
                <a:cs typeface="Arial"/>
              </a:rPr>
              <a:t>ИШ</a:t>
            </a:r>
            <a:r>
              <a:rPr sz="1600" b="1" spc="-65" dirty="0">
                <a:solidFill>
                  <a:srgbClr val="4E3F9E"/>
                </a:solidFill>
                <a:latin typeface="Arial"/>
                <a:cs typeface="Arial"/>
              </a:rPr>
              <a:t> </a:t>
            </a:r>
            <a:r>
              <a:rPr sz="1600" b="1" spc="-20" dirty="0">
                <a:solidFill>
                  <a:srgbClr val="4E3F9E"/>
                </a:solidFill>
                <a:latin typeface="Arial"/>
                <a:cs typeface="Arial"/>
              </a:rPr>
              <a:t>ЎРНИ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262" name="object 262"/>
          <p:cNvSpPr txBox="1"/>
          <p:nvPr/>
        </p:nvSpPr>
        <p:spPr>
          <a:xfrm>
            <a:off x="4129147" y="8157846"/>
            <a:ext cx="1320409" cy="11663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uz-Cyrl-UZ" sz="3500" b="1" spc="-25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lang="en-US" sz="4000" b="1" spc="-25" dirty="0">
                <a:solidFill>
                  <a:srgbClr val="273B6F"/>
                </a:solidFill>
                <a:latin typeface="Arial"/>
                <a:cs typeface="Arial"/>
              </a:rPr>
              <a:t>300</a:t>
            </a:r>
            <a:r>
              <a:rPr lang="uz-Cyrl-UZ" sz="4000" b="1" spc="-25" dirty="0">
                <a:solidFill>
                  <a:srgbClr val="273B6F"/>
                </a:solidFill>
                <a:latin typeface="Arial"/>
                <a:cs typeface="Arial"/>
              </a:rPr>
              <a:t>,</a:t>
            </a:r>
            <a:r>
              <a:rPr lang="en-US" sz="4000" b="1" spc="-25" dirty="0">
                <a:solidFill>
                  <a:srgbClr val="273B6F"/>
                </a:solidFill>
                <a:latin typeface="Arial"/>
                <a:cs typeface="Arial"/>
              </a:rPr>
              <a:t>9</a:t>
            </a:r>
            <a:endParaRPr sz="4000" dirty="0">
              <a:latin typeface="Arial"/>
              <a:cs typeface="Arial"/>
            </a:endParaRPr>
          </a:p>
        </p:txBody>
      </p:sp>
      <p:sp>
        <p:nvSpPr>
          <p:cNvPr id="263" name="object 263"/>
          <p:cNvSpPr txBox="1"/>
          <p:nvPr/>
        </p:nvSpPr>
        <p:spPr>
          <a:xfrm>
            <a:off x="5448298" y="8727360"/>
            <a:ext cx="786765" cy="3543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50" spc="-10" dirty="0" err="1">
                <a:solidFill>
                  <a:srgbClr val="273B6F"/>
                </a:solidFill>
                <a:latin typeface="Microsoft Sans Serif"/>
                <a:cs typeface="Microsoft Sans Serif"/>
              </a:rPr>
              <a:t>мл</a:t>
            </a:r>
            <a:r>
              <a:rPr lang="uz-Cyrl-UZ" sz="2150" spc="-10" dirty="0">
                <a:solidFill>
                  <a:srgbClr val="273B6F"/>
                </a:solidFill>
                <a:latin typeface="Microsoft Sans Serif"/>
                <a:cs typeface="Microsoft Sans Serif"/>
              </a:rPr>
              <a:t>н</a:t>
            </a:r>
            <a:r>
              <a:rPr sz="2150" spc="-10" dirty="0">
                <a:solidFill>
                  <a:srgbClr val="273B6F"/>
                </a:solidFill>
                <a:latin typeface="Microsoft Sans Serif"/>
                <a:cs typeface="Microsoft Sans Serif"/>
              </a:rPr>
              <a:t>.</a:t>
            </a:r>
            <a:endParaRPr sz="2150" dirty="0">
              <a:latin typeface="Microsoft Sans Serif"/>
              <a:cs typeface="Microsoft Sans Serif"/>
            </a:endParaRPr>
          </a:p>
        </p:txBody>
      </p:sp>
      <p:sp>
        <p:nvSpPr>
          <p:cNvPr id="264" name="object 264"/>
          <p:cNvSpPr txBox="1"/>
          <p:nvPr/>
        </p:nvSpPr>
        <p:spPr>
          <a:xfrm>
            <a:off x="5464337" y="8969861"/>
            <a:ext cx="507365" cy="3543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50" spc="-25" dirty="0">
                <a:solidFill>
                  <a:srgbClr val="273B6F"/>
                </a:solidFill>
                <a:latin typeface="Microsoft Sans Serif"/>
                <a:cs typeface="Microsoft Sans Serif"/>
              </a:rPr>
              <a:t>сўм</a:t>
            </a:r>
            <a:endParaRPr sz="2150" dirty="0">
              <a:latin typeface="Microsoft Sans Serif"/>
              <a:cs typeface="Microsoft Sans Serif"/>
            </a:endParaRPr>
          </a:p>
        </p:txBody>
      </p:sp>
      <p:sp>
        <p:nvSpPr>
          <p:cNvPr id="265" name="object 265"/>
          <p:cNvSpPr txBox="1"/>
          <p:nvPr/>
        </p:nvSpPr>
        <p:spPr>
          <a:xfrm>
            <a:off x="6980460" y="8650315"/>
            <a:ext cx="1882460" cy="70852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3500" b="1" spc="-310" dirty="0">
                <a:solidFill>
                  <a:srgbClr val="273B6F"/>
                </a:solidFill>
                <a:latin typeface="Arial"/>
                <a:cs typeface="Arial"/>
              </a:rPr>
              <a:t>273</a:t>
            </a:r>
            <a:r>
              <a:rPr sz="4500" b="1" spc="-310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2150" spc="-135" dirty="0">
                <a:solidFill>
                  <a:srgbClr val="273B6F"/>
                </a:solidFill>
                <a:latin typeface="Microsoft Sans Serif"/>
                <a:cs typeface="Microsoft Sans Serif"/>
              </a:rPr>
              <a:t>НАФАР</a:t>
            </a:r>
            <a:endParaRPr sz="2150" dirty="0">
              <a:latin typeface="Microsoft Sans Serif"/>
              <a:cs typeface="Microsoft Sans Serif"/>
            </a:endParaRPr>
          </a:p>
        </p:txBody>
      </p:sp>
      <p:sp>
        <p:nvSpPr>
          <p:cNvPr id="266" name="object 266"/>
          <p:cNvSpPr txBox="1"/>
          <p:nvPr/>
        </p:nvSpPr>
        <p:spPr>
          <a:xfrm>
            <a:off x="15657898" y="8681407"/>
            <a:ext cx="1105535" cy="715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4500" b="1" spc="-310" dirty="0">
                <a:solidFill>
                  <a:srgbClr val="273B6F"/>
                </a:solidFill>
                <a:latin typeface="Arial"/>
                <a:cs typeface="Arial"/>
              </a:rPr>
              <a:t>21</a:t>
            </a:r>
            <a:r>
              <a:rPr sz="4500" b="1" spc="-310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2150" spc="-75" dirty="0">
                <a:solidFill>
                  <a:srgbClr val="273B6F"/>
                </a:solidFill>
                <a:latin typeface="Microsoft Sans Serif"/>
                <a:cs typeface="Microsoft Sans Serif"/>
              </a:rPr>
              <a:t>ТА</a:t>
            </a:r>
            <a:endParaRPr sz="2150" dirty="0">
              <a:latin typeface="Microsoft Sans Serif"/>
              <a:cs typeface="Microsoft Sans Serif"/>
            </a:endParaRPr>
          </a:p>
        </p:txBody>
      </p:sp>
      <p:sp>
        <p:nvSpPr>
          <p:cNvPr id="267" name="object 267"/>
          <p:cNvSpPr txBox="1"/>
          <p:nvPr/>
        </p:nvSpPr>
        <p:spPr>
          <a:xfrm>
            <a:off x="9913219" y="8689647"/>
            <a:ext cx="4216400" cy="6800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819400" algn="l"/>
              </a:tabLst>
            </a:pPr>
            <a:r>
              <a:rPr lang="en-US" sz="4300" b="1" spc="-40" dirty="0">
                <a:solidFill>
                  <a:srgbClr val="273B6F"/>
                </a:solidFill>
                <a:latin typeface="Arial"/>
                <a:cs typeface="Arial"/>
              </a:rPr>
              <a:t>9</a:t>
            </a:r>
            <a:r>
              <a:rPr sz="4300" b="1" spc="-40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3000" baseline="1388" dirty="0">
                <a:solidFill>
                  <a:srgbClr val="273B6F"/>
                </a:solidFill>
                <a:latin typeface="Microsoft Sans Serif"/>
                <a:cs typeface="Microsoft Sans Serif"/>
              </a:rPr>
              <a:t>ТА</a:t>
            </a:r>
            <a:r>
              <a:rPr sz="3000" spc="30" baseline="1388" dirty="0">
                <a:solidFill>
                  <a:srgbClr val="273B6F"/>
                </a:solidFill>
                <a:latin typeface="Microsoft Sans Serif"/>
                <a:cs typeface="Microsoft Sans Serif"/>
              </a:rPr>
              <a:t> </a:t>
            </a:r>
            <a:r>
              <a:rPr sz="3000" spc="-30" baseline="1388" dirty="0">
                <a:solidFill>
                  <a:srgbClr val="273B6F"/>
                </a:solidFill>
                <a:latin typeface="Microsoft Sans Serif"/>
                <a:cs typeface="Microsoft Sans Serif"/>
              </a:rPr>
              <a:t>ОИЛА</a:t>
            </a:r>
            <a:r>
              <a:rPr sz="3000" baseline="1388" dirty="0">
                <a:solidFill>
                  <a:srgbClr val="273B6F"/>
                </a:solidFill>
                <a:latin typeface="Microsoft Sans Serif"/>
                <a:cs typeface="Microsoft Sans Serif"/>
              </a:rPr>
              <a:t>	</a:t>
            </a:r>
            <a:r>
              <a:rPr lang="en-US" sz="4300" b="1" baseline="1388" dirty="0">
                <a:solidFill>
                  <a:srgbClr val="273B6F"/>
                </a:solidFill>
                <a:latin typeface="Arial"/>
                <a:cs typeface="Arial"/>
              </a:rPr>
              <a:t>400</a:t>
            </a:r>
            <a:r>
              <a:rPr sz="4300" b="1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273B6F"/>
                </a:solidFill>
                <a:latin typeface="Microsoft Sans Serif"/>
                <a:cs typeface="Microsoft Sans Serif"/>
              </a:rPr>
              <a:t>ТА</a:t>
            </a:r>
            <a:endParaRPr sz="2000" dirty="0">
              <a:latin typeface="Microsoft Sans Serif"/>
              <a:cs typeface="Microsoft Sans Serif"/>
            </a:endParaRPr>
          </a:p>
        </p:txBody>
      </p:sp>
      <p:pic>
        <p:nvPicPr>
          <p:cNvPr id="268" name="object 268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9121213" y="8775147"/>
            <a:ext cx="461785" cy="549044"/>
          </a:xfrm>
          <a:prstGeom prst="rect">
            <a:avLst/>
          </a:prstGeom>
        </p:spPr>
      </p:pic>
      <p:sp>
        <p:nvSpPr>
          <p:cNvPr id="269" name="object 105"/>
          <p:cNvSpPr txBox="1"/>
          <p:nvPr/>
        </p:nvSpPr>
        <p:spPr>
          <a:xfrm>
            <a:off x="5312873" y="3208323"/>
            <a:ext cx="1490345" cy="20197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ru-RU" sz="1200" dirty="0">
                <a:solidFill>
                  <a:srgbClr val="3C2B98"/>
                </a:solidFill>
                <a:latin typeface="Tahoma"/>
                <a:cs typeface="Tahoma"/>
              </a:rPr>
              <a:t>01.0</a:t>
            </a:r>
            <a:r>
              <a:rPr lang="en-US" sz="1200" dirty="0">
                <a:solidFill>
                  <a:srgbClr val="3C2B98"/>
                </a:solidFill>
                <a:latin typeface="Tahoma"/>
                <a:cs typeface="Tahoma"/>
              </a:rPr>
              <a:t>5</a:t>
            </a:r>
            <a:r>
              <a:rPr sz="1200" dirty="0">
                <a:solidFill>
                  <a:srgbClr val="3C2B98"/>
                </a:solidFill>
                <a:latin typeface="Tahoma"/>
                <a:cs typeface="Tahoma"/>
              </a:rPr>
              <a:t>.202</a:t>
            </a:r>
            <a:r>
              <a:rPr lang="ru-RU" sz="1200" dirty="0">
                <a:solidFill>
                  <a:srgbClr val="3C2B98"/>
                </a:solidFill>
                <a:latin typeface="Tahoma"/>
                <a:cs typeface="Tahoma"/>
              </a:rPr>
              <a:t>5</a:t>
            </a:r>
            <a:r>
              <a:rPr sz="1200" spc="90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C2B98"/>
                </a:solidFill>
                <a:latin typeface="Tahoma"/>
                <a:cs typeface="Tahoma"/>
              </a:rPr>
              <a:t>ҳолатига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238" name="object 206">
            <a:extLst>
              <a:ext uri="{FF2B5EF4-FFF2-40B4-BE49-F238E27FC236}">
                <a16:creationId xmlns:a16="http://schemas.microsoft.com/office/drawing/2014/main" id="{6E93C883-F608-4A10-AAF9-A9318B2251EB}"/>
              </a:ext>
            </a:extLst>
          </p:cNvPr>
          <p:cNvSpPr txBox="1"/>
          <p:nvPr/>
        </p:nvSpPr>
        <p:spPr>
          <a:xfrm>
            <a:off x="2802806" y="7314150"/>
            <a:ext cx="791210" cy="32823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2299"/>
              </a:lnSpc>
              <a:spcBef>
                <a:spcPts val="840"/>
              </a:spcBef>
            </a:pPr>
            <a:r>
              <a:rPr sz="1050" dirty="0" err="1">
                <a:solidFill>
                  <a:srgbClr val="3C2B98"/>
                </a:solidFill>
                <a:latin typeface="Tahoma"/>
                <a:cs typeface="Tahoma"/>
              </a:rPr>
              <a:t>Банд</a:t>
            </a:r>
            <a:r>
              <a:rPr sz="1050" spc="25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050" spc="-10" dirty="0">
                <a:solidFill>
                  <a:srgbClr val="3C2B98"/>
                </a:solidFill>
                <a:latin typeface="Tahoma"/>
                <a:cs typeface="Tahoma"/>
              </a:rPr>
              <a:t>бўлган аҳоли</a:t>
            </a:r>
            <a:endParaRPr sz="1050" dirty="0">
              <a:latin typeface="Tahoma"/>
              <a:cs typeface="Tahoma"/>
            </a:endParaRPr>
          </a:p>
        </p:txBody>
      </p:sp>
      <p:sp>
        <p:nvSpPr>
          <p:cNvPr id="239" name="object 206">
            <a:extLst>
              <a:ext uri="{FF2B5EF4-FFF2-40B4-BE49-F238E27FC236}">
                <a16:creationId xmlns:a16="http://schemas.microsoft.com/office/drawing/2014/main" id="{A23239F0-01BC-49CC-808C-54FCF90AD920}"/>
              </a:ext>
            </a:extLst>
          </p:cNvPr>
          <p:cNvSpPr txBox="1"/>
          <p:nvPr/>
        </p:nvSpPr>
        <p:spPr>
          <a:xfrm>
            <a:off x="4878942" y="7295270"/>
            <a:ext cx="791210" cy="32823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6034">
              <a:lnSpc>
                <a:spcPct val="102299"/>
              </a:lnSpc>
              <a:spcBef>
                <a:spcPts val="95"/>
              </a:spcBef>
            </a:pPr>
            <a:r>
              <a:rPr sz="1050" spc="-10" dirty="0" err="1">
                <a:solidFill>
                  <a:srgbClr val="3C2B98"/>
                </a:solidFill>
                <a:latin typeface="Tahoma"/>
                <a:cs typeface="Tahoma"/>
              </a:rPr>
              <a:t>Ажратилган</a:t>
            </a:r>
            <a:r>
              <a:rPr sz="1050" spc="-10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050" spc="-10" dirty="0" err="1">
                <a:solidFill>
                  <a:srgbClr val="3C2B98"/>
                </a:solidFill>
                <a:latin typeface="Tahoma"/>
                <a:cs typeface="Tahoma"/>
              </a:rPr>
              <a:t>маблағ</a:t>
            </a:r>
            <a:endParaRPr sz="1050" dirty="0">
              <a:latin typeface="Tahoma"/>
              <a:cs typeface="Tahoma"/>
            </a:endParaRPr>
          </a:p>
        </p:txBody>
      </p:sp>
      <p:sp>
        <p:nvSpPr>
          <p:cNvPr id="240" name="object 207">
            <a:extLst>
              <a:ext uri="{FF2B5EF4-FFF2-40B4-BE49-F238E27FC236}">
                <a16:creationId xmlns:a16="http://schemas.microsoft.com/office/drawing/2014/main" id="{511B1F94-ECA4-43C3-AD39-FCEBAC4A46CC}"/>
              </a:ext>
            </a:extLst>
          </p:cNvPr>
          <p:cNvSpPr txBox="1"/>
          <p:nvPr/>
        </p:nvSpPr>
        <p:spPr>
          <a:xfrm>
            <a:off x="6214546" y="7256333"/>
            <a:ext cx="410209" cy="236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spc="-20" dirty="0">
                <a:solidFill>
                  <a:srgbClr val="273B6F"/>
                </a:solidFill>
                <a:latin typeface="Microsoft Sans Serif"/>
                <a:cs typeface="Microsoft Sans Serif"/>
              </a:rPr>
              <a:t>млн.</a:t>
            </a:r>
            <a:endParaRPr sz="1350" dirty="0">
              <a:latin typeface="Microsoft Sans Serif"/>
              <a:cs typeface="Microsoft Sans Serif"/>
            </a:endParaRPr>
          </a:p>
        </p:txBody>
      </p:sp>
      <p:sp>
        <p:nvSpPr>
          <p:cNvPr id="272" name="object 208">
            <a:extLst>
              <a:ext uri="{FF2B5EF4-FFF2-40B4-BE49-F238E27FC236}">
                <a16:creationId xmlns:a16="http://schemas.microsoft.com/office/drawing/2014/main" id="{C003DBB8-DE00-4C8F-B9D3-D845A3202CBF}"/>
              </a:ext>
            </a:extLst>
          </p:cNvPr>
          <p:cNvSpPr txBox="1"/>
          <p:nvPr/>
        </p:nvSpPr>
        <p:spPr>
          <a:xfrm>
            <a:off x="5475975" y="7274077"/>
            <a:ext cx="1069376" cy="4254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uz-Cyrl-UZ" sz="3900" b="1" spc="-52" baseline="2136" dirty="0">
                <a:solidFill>
                  <a:srgbClr val="273B6F"/>
                </a:solidFill>
                <a:latin typeface="Arial"/>
                <a:cs typeface="Arial"/>
              </a:rPr>
              <a:t>  100</a:t>
            </a:r>
            <a:r>
              <a:rPr sz="3900" b="1" spc="-630" baseline="2136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1350" spc="-25" dirty="0">
                <a:solidFill>
                  <a:srgbClr val="273B6F"/>
                </a:solidFill>
                <a:latin typeface="Microsoft Sans Serif"/>
                <a:cs typeface="Microsoft Sans Serif"/>
              </a:rPr>
              <a:t>сўм</a:t>
            </a:r>
            <a:endParaRPr sz="1350" dirty="0">
              <a:latin typeface="Microsoft Sans Serif"/>
              <a:cs typeface="Microsoft Sans Serif"/>
            </a:endParaRPr>
          </a:p>
        </p:txBody>
      </p:sp>
      <p:sp>
        <p:nvSpPr>
          <p:cNvPr id="273" name="object 209">
            <a:extLst>
              <a:ext uri="{FF2B5EF4-FFF2-40B4-BE49-F238E27FC236}">
                <a16:creationId xmlns:a16="http://schemas.microsoft.com/office/drawing/2014/main" id="{7BE78314-0296-4087-A1F5-86BF0686CF23}"/>
              </a:ext>
            </a:extLst>
          </p:cNvPr>
          <p:cNvSpPr txBox="1"/>
          <p:nvPr/>
        </p:nvSpPr>
        <p:spPr>
          <a:xfrm>
            <a:off x="7998725" y="7217475"/>
            <a:ext cx="784225" cy="415498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296795" algn="l"/>
              </a:tabLst>
            </a:pPr>
            <a:r>
              <a:rPr lang="en-US" sz="2600" b="1" spc="-10" dirty="0">
                <a:solidFill>
                  <a:srgbClr val="273B6F"/>
                </a:solidFill>
                <a:latin typeface="Arial"/>
                <a:cs typeface="Arial"/>
              </a:rPr>
              <a:t>4 </a:t>
            </a:r>
            <a:r>
              <a:rPr sz="1250" spc="-10" dirty="0" err="1">
                <a:solidFill>
                  <a:srgbClr val="273B6F"/>
                </a:solidFill>
                <a:latin typeface="Microsoft Sans Serif"/>
                <a:cs typeface="Microsoft Sans Serif"/>
              </a:rPr>
              <a:t>нафар</a:t>
            </a:r>
            <a:endParaRPr sz="1250" dirty="0">
              <a:latin typeface="Microsoft Sans Serif"/>
              <a:cs typeface="Microsoft Sans Serif"/>
            </a:endParaRPr>
          </a:p>
        </p:txBody>
      </p:sp>
      <p:sp>
        <p:nvSpPr>
          <p:cNvPr id="274" name="object 206">
            <a:extLst>
              <a:ext uri="{FF2B5EF4-FFF2-40B4-BE49-F238E27FC236}">
                <a16:creationId xmlns:a16="http://schemas.microsoft.com/office/drawing/2014/main" id="{20D8C58D-4D07-4643-8329-0DE3103CEF94}"/>
              </a:ext>
            </a:extLst>
          </p:cNvPr>
          <p:cNvSpPr txBox="1"/>
          <p:nvPr/>
        </p:nvSpPr>
        <p:spPr>
          <a:xfrm>
            <a:off x="7167008" y="7286100"/>
            <a:ext cx="791210" cy="32823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2299"/>
              </a:lnSpc>
              <a:spcBef>
                <a:spcPts val="840"/>
              </a:spcBef>
            </a:pPr>
            <a:r>
              <a:rPr sz="1050" dirty="0" err="1">
                <a:solidFill>
                  <a:srgbClr val="3C2B98"/>
                </a:solidFill>
                <a:latin typeface="Tahoma"/>
                <a:cs typeface="Tahoma"/>
              </a:rPr>
              <a:t>Банд</a:t>
            </a:r>
            <a:r>
              <a:rPr sz="1050" spc="25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050" spc="-10" dirty="0">
                <a:solidFill>
                  <a:srgbClr val="3C2B98"/>
                </a:solidFill>
                <a:latin typeface="Tahoma"/>
                <a:cs typeface="Tahoma"/>
              </a:rPr>
              <a:t>бўлган аҳоли</a:t>
            </a:r>
            <a:endParaRPr sz="1050" dirty="0">
              <a:latin typeface="Tahoma"/>
              <a:cs typeface="Tahoma"/>
            </a:endParaRPr>
          </a:p>
        </p:txBody>
      </p:sp>
      <p:pic>
        <p:nvPicPr>
          <p:cNvPr id="277" name="object 205">
            <a:extLst>
              <a:ext uri="{FF2B5EF4-FFF2-40B4-BE49-F238E27FC236}">
                <a16:creationId xmlns:a16="http://schemas.microsoft.com/office/drawing/2014/main" id="{1035D2DA-304E-4035-AB4F-9CAD2C645E41}"/>
              </a:ext>
            </a:extLst>
          </p:cNvPr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4511277" y="7397854"/>
            <a:ext cx="307199" cy="215900"/>
          </a:xfrm>
          <a:prstGeom prst="rect">
            <a:avLst/>
          </a:prstGeom>
        </p:spPr>
      </p:pic>
      <p:pic>
        <p:nvPicPr>
          <p:cNvPr id="278" name="object 204">
            <a:extLst>
              <a:ext uri="{FF2B5EF4-FFF2-40B4-BE49-F238E27FC236}">
                <a16:creationId xmlns:a16="http://schemas.microsoft.com/office/drawing/2014/main" id="{1C1DB969-E870-4631-B3C0-F01760747919}"/>
              </a:ext>
            </a:extLst>
          </p:cNvPr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6747427" y="7343242"/>
            <a:ext cx="302418" cy="307017"/>
          </a:xfrm>
          <a:prstGeom prst="rect">
            <a:avLst/>
          </a:prstGeom>
        </p:spPr>
      </p:pic>
      <p:sp>
        <p:nvSpPr>
          <p:cNvPr id="279" name="object 260">
            <a:extLst>
              <a:ext uri="{FF2B5EF4-FFF2-40B4-BE49-F238E27FC236}">
                <a16:creationId xmlns:a16="http://schemas.microsoft.com/office/drawing/2014/main" id="{7DAA36D2-DF17-4D93-890C-944A989A715E}"/>
              </a:ext>
            </a:extLst>
          </p:cNvPr>
          <p:cNvSpPr txBox="1"/>
          <p:nvPr/>
        </p:nvSpPr>
        <p:spPr>
          <a:xfrm>
            <a:off x="5531719" y="7849723"/>
            <a:ext cx="7979409" cy="292388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00" dirty="0">
                <a:solidFill>
                  <a:srgbClr val="4E3F9E"/>
                </a:solidFill>
                <a:latin typeface="Tahoma"/>
                <a:cs typeface="Tahoma"/>
              </a:rPr>
              <a:t>ЙИЛ</a:t>
            </a:r>
            <a:r>
              <a:rPr sz="1800" spc="160" dirty="0">
                <a:solidFill>
                  <a:srgbClr val="4E3F9E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E3F9E"/>
                </a:solidFill>
                <a:latin typeface="Tahoma"/>
                <a:cs typeface="Tahoma"/>
              </a:rPr>
              <a:t>ЯКУНИГА</a:t>
            </a:r>
            <a:r>
              <a:rPr sz="1800" spc="165" dirty="0">
                <a:solidFill>
                  <a:srgbClr val="4E3F9E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E3F9E"/>
                </a:solidFill>
                <a:latin typeface="Tahoma"/>
                <a:cs typeface="Tahoma"/>
              </a:rPr>
              <a:t>ҚАДАР</a:t>
            </a:r>
            <a:r>
              <a:rPr sz="1800" spc="160" dirty="0">
                <a:solidFill>
                  <a:srgbClr val="4E3F9E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4E3F9E"/>
                </a:solidFill>
                <a:latin typeface="Tahoma"/>
                <a:cs typeface="Tahoma"/>
              </a:rPr>
              <a:t>КУТИЛАЁТГАН</a:t>
            </a:r>
            <a:r>
              <a:rPr sz="1800" b="1" spc="150" dirty="0">
                <a:solidFill>
                  <a:srgbClr val="4E3F9E"/>
                </a:solidFill>
                <a:latin typeface="Tahoma"/>
                <a:cs typeface="Tahoma"/>
              </a:rPr>
              <a:t> </a:t>
            </a:r>
            <a:r>
              <a:rPr sz="1800" b="1" spc="-10" dirty="0">
                <a:solidFill>
                  <a:srgbClr val="4E3F9E"/>
                </a:solidFill>
                <a:latin typeface="Tahoma"/>
                <a:cs typeface="Tahoma"/>
              </a:rPr>
              <a:t>НАТИЖАЛА</a:t>
            </a:r>
            <a:r>
              <a:rPr lang="uz-Cyrl-UZ" sz="1800" b="1" spc="-10" dirty="0">
                <a:solidFill>
                  <a:srgbClr val="4E3F9E"/>
                </a:solidFill>
                <a:latin typeface="Tahoma"/>
                <a:cs typeface="Tahoma"/>
              </a:rPr>
              <a:t>Р</a:t>
            </a:r>
            <a:endParaRPr sz="1800" dirty="0">
              <a:latin typeface="Tahoma"/>
              <a:cs typeface="Tahoma"/>
            </a:endParaRPr>
          </a:p>
        </p:txBody>
      </p:sp>
      <p:sp>
        <p:nvSpPr>
          <p:cNvPr id="280" name="object 178">
            <a:extLst>
              <a:ext uri="{FF2B5EF4-FFF2-40B4-BE49-F238E27FC236}">
                <a16:creationId xmlns:a16="http://schemas.microsoft.com/office/drawing/2014/main" id="{BBFEF55F-E51D-4F7D-A6D5-75E9AE2C6714}"/>
              </a:ext>
            </a:extLst>
          </p:cNvPr>
          <p:cNvSpPr txBox="1"/>
          <p:nvPr/>
        </p:nvSpPr>
        <p:spPr>
          <a:xfrm>
            <a:off x="14381861" y="4860009"/>
            <a:ext cx="2509210" cy="38420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1000"/>
              </a:lnSpc>
              <a:spcBef>
                <a:spcPts val="135"/>
              </a:spcBef>
            </a:pPr>
            <a:r>
              <a:rPr lang="uz-Cyrl-UZ" sz="1150" dirty="0">
                <a:solidFill>
                  <a:srgbClr val="3C2B98"/>
                </a:solidFill>
                <a:latin typeface="Tahoma"/>
                <a:cs typeface="Tahoma"/>
              </a:rPr>
              <a:t>Банк</a:t>
            </a:r>
          </a:p>
          <a:p>
            <a:pPr marL="12700">
              <a:lnSpc>
                <a:spcPts val="1000"/>
              </a:lnSpc>
              <a:spcBef>
                <a:spcPts val="135"/>
              </a:spcBef>
            </a:pPr>
            <a:r>
              <a:rPr sz="1150" dirty="0" err="1">
                <a:solidFill>
                  <a:srgbClr val="3C2B98"/>
                </a:solidFill>
                <a:latin typeface="Tahoma"/>
                <a:cs typeface="Tahoma"/>
              </a:rPr>
              <a:t>кредити</a:t>
            </a:r>
            <a:r>
              <a:rPr sz="1150" spc="459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lang="en-US" sz="4125" b="1" spc="459" baseline="1010" dirty="0">
                <a:solidFill>
                  <a:srgbClr val="273B6F"/>
                </a:solidFill>
                <a:latin typeface="Arial"/>
                <a:cs typeface="Arial"/>
              </a:rPr>
              <a:t>50</a:t>
            </a:r>
            <a:r>
              <a:rPr sz="4125" b="1" spc="-30" baseline="1010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1950" spc="-15" baseline="2136" dirty="0">
                <a:solidFill>
                  <a:srgbClr val="273B6F"/>
                </a:solidFill>
                <a:latin typeface="Microsoft Sans Serif"/>
                <a:cs typeface="Microsoft Sans Serif"/>
              </a:rPr>
              <a:t>млн.сўм</a:t>
            </a:r>
            <a:endParaRPr sz="1950" baseline="2136" dirty="0">
              <a:latin typeface="Microsoft Sans Serif"/>
              <a:cs typeface="Microsoft Sans Serif"/>
            </a:endParaRPr>
          </a:p>
          <a:p>
            <a:pPr marL="12700">
              <a:lnSpc>
                <a:spcPts val="690"/>
              </a:lnSpc>
            </a:pPr>
            <a:endParaRPr sz="1150" dirty="0">
              <a:latin typeface="Tahoma"/>
              <a:cs typeface="Tahoma"/>
            </a:endParaRPr>
          </a:p>
        </p:txBody>
      </p:sp>
      <p:sp>
        <p:nvSpPr>
          <p:cNvPr id="281" name="object 179">
            <a:extLst>
              <a:ext uri="{FF2B5EF4-FFF2-40B4-BE49-F238E27FC236}">
                <a16:creationId xmlns:a16="http://schemas.microsoft.com/office/drawing/2014/main" id="{35D56D96-3009-4FD7-BB4D-EB48345AE909}"/>
              </a:ext>
            </a:extLst>
          </p:cNvPr>
          <p:cNvSpPr txBox="1"/>
          <p:nvPr/>
        </p:nvSpPr>
        <p:spPr>
          <a:xfrm>
            <a:off x="14386085" y="5334669"/>
            <a:ext cx="484824" cy="18851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50" spc="-20" dirty="0">
                <a:solidFill>
                  <a:srgbClr val="3C2B98"/>
                </a:solidFill>
                <a:latin typeface="Tahoma"/>
                <a:cs typeface="Tahoma"/>
              </a:rPr>
              <a:t>Банд</a:t>
            </a:r>
            <a:endParaRPr sz="1150" dirty="0">
              <a:latin typeface="Tahoma"/>
              <a:cs typeface="Tahoma"/>
            </a:endParaRPr>
          </a:p>
        </p:txBody>
      </p:sp>
      <p:sp>
        <p:nvSpPr>
          <p:cNvPr id="282" name="object 180">
            <a:extLst>
              <a:ext uri="{FF2B5EF4-FFF2-40B4-BE49-F238E27FC236}">
                <a16:creationId xmlns:a16="http://schemas.microsoft.com/office/drawing/2014/main" id="{344B7FF8-A4D2-4397-AFF3-3E4CFA40D9F0}"/>
              </a:ext>
            </a:extLst>
          </p:cNvPr>
          <p:cNvSpPr txBox="1"/>
          <p:nvPr/>
        </p:nvSpPr>
        <p:spPr>
          <a:xfrm>
            <a:off x="14395677" y="5301614"/>
            <a:ext cx="2338416" cy="4502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661035" algn="l"/>
              </a:tabLst>
            </a:pPr>
            <a:r>
              <a:rPr sz="1150" spc="-10" dirty="0">
                <a:solidFill>
                  <a:srgbClr val="3C2B98"/>
                </a:solidFill>
                <a:latin typeface="Tahoma"/>
                <a:cs typeface="Tahoma"/>
              </a:rPr>
              <a:t>аҳоли</a:t>
            </a:r>
            <a:r>
              <a:rPr sz="1150" dirty="0">
                <a:solidFill>
                  <a:srgbClr val="3C2B98"/>
                </a:solidFill>
                <a:latin typeface="Tahoma"/>
                <a:cs typeface="Tahoma"/>
              </a:rPr>
              <a:t>	</a:t>
            </a:r>
            <a:r>
              <a:rPr lang="en-US" sz="4125" b="1" baseline="1010" dirty="0">
                <a:solidFill>
                  <a:srgbClr val="273B6F"/>
                </a:solidFill>
                <a:latin typeface="Arial"/>
                <a:cs typeface="Arial"/>
              </a:rPr>
              <a:t>2</a:t>
            </a:r>
            <a:r>
              <a:rPr sz="4125" b="1" spc="37" baseline="1010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1950" spc="-15" baseline="2136" dirty="0">
                <a:solidFill>
                  <a:srgbClr val="273B6F"/>
                </a:solidFill>
                <a:latin typeface="Microsoft Sans Serif"/>
                <a:cs typeface="Microsoft Sans Serif"/>
              </a:rPr>
              <a:t>нафар</a:t>
            </a:r>
            <a:endParaRPr sz="1950" baseline="2136" dirty="0">
              <a:latin typeface="Microsoft Sans Serif"/>
              <a:cs typeface="Microsoft Sans Serif"/>
            </a:endParaRPr>
          </a:p>
        </p:txBody>
      </p:sp>
      <p:grpSp>
        <p:nvGrpSpPr>
          <p:cNvPr id="283" name="object 181">
            <a:extLst>
              <a:ext uri="{FF2B5EF4-FFF2-40B4-BE49-F238E27FC236}">
                <a16:creationId xmlns:a16="http://schemas.microsoft.com/office/drawing/2014/main" id="{3BACB0B9-18D8-44BC-9F29-9362AFE5E730}"/>
              </a:ext>
            </a:extLst>
          </p:cNvPr>
          <p:cNvGrpSpPr/>
          <p:nvPr/>
        </p:nvGrpSpPr>
        <p:grpSpPr>
          <a:xfrm>
            <a:off x="13445328" y="5287287"/>
            <a:ext cx="3334135" cy="479113"/>
            <a:chOff x="9312472" y="5395204"/>
            <a:chExt cx="2129374" cy="344038"/>
          </a:xfrm>
        </p:grpSpPr>
        <p:pic>
          <p:nvPicPr>
            <p:cNvPr id="284" name="object 182">
              <a:extLst>
                <a:ext uri="{FF2B5EF4-FFF2-40B4-BE49-F238E27FC236}">
                  <a16:creationId xmlns:a16="http://schemas.microsoft.com/office/drawing/2014/main" id="{9492F024-8974-45DC-80D7-893450EDC553}"/>
                </a:ext>
              </a:extLst>
            </p:cNvPr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9312472" y="5412845"/>
              <a:ext cx="321509" cy="326397"/>
            </a:xfrm>
            <a:prstGeom prst="rect">
              <a:avLst/>
            </a:prstGeom>
          </p:spPr>
        </p:pic>
        <p:sp>
          <p:nvSpPr>
            <p:cNvPr id="285" name="object 183">
              <a:extLst>
                <a:ext uri="{FF2B5EF4-FFF2-40B4-BE49-F238E27FC236}">
                  <a16:creationId xmlns:a16="http://schemas.microsoft.com/office/drawing/2014/main" id="{8CA87C38-AFC5-418C-997F-FD86C9332586}"/>
                </a:ext>
              </a:extLst>
            </p:cNvPr>
            <p:cNvSpPr/>
            <p:nvPr/>
          </p:nvSpPr>
          <p:spPr>
            <a:xfrm>
              <a:off x="9646066" y="5395204"/>
              <a:ext cx="1795780" cy="0"/>
            </a:xfrm>
            <a:custGeom>
              <a:avLst/>
              <a:gdLst/>
              <a:ahLst/>
              <a:cxnLst/>
              <a:rect l="l" t="t" r="r" b="b"/>
              <a:pathLst>
                <a:path w="1795779">
                  <a:moveTo>
                    <a:pt x="1795287" y="0"/>
                  </a:moveTo>
                  <a:lnTo>
                    <a:pt x="0" y="0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86" name="object 177">
            <a:extLst>
              <a:ext uri="{FF2B5EF4-FFF2-40B4-BE49-F238E27FC236}">
                <a16:creationId xmlns:a16="http://schemas.microsoft.com/office/drawing/2014/main" id="{0F97881E-99CD-49D1-A5AA-159866EF66EE}"/>
              </a:ext>
            </a:extLst>
          </p:cNvPr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13495331" y="4828342"/>
            <a:ext cx="346563" cy="308749"/>
          </a:xfrm>
          <a:prstGeom prst="rect">
            <a:avLst/>
          </a:prstGeom>
        </p:spPr>
      </p:pic>
      <p:sp>
        <p:nvSpPr>
          <p:cNvPr id="287" name="object 178">
            <a:extLst>
              <a:ext uri="{FF2B5EF4-FFF2-40B4-BE49-F238E27FC236}">
                <a16:creationId xmlns:a16="http://schemas.microsoft.com/office/drawing/2014/main" id="{9FF2D5D5-0C80-4624-8637-EFDF9AC3E28E}"/>
              </a:ext>
            </a:extLst>
          </p:cNvPr>
          <p:cNvSpPr txBox="1"/>
          <p:nvPr/>
        </p:nvSpPr>
        <p:spPr>
          <a:xfrm>
            <a:off x="10008532" y="4915771"/>
            <a:ext cx="2509210" cy="38420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1000"/>
              </a:lnSpc>
              <a:spcBef>
                <a:spcPts val="135"/>
              </a:spcBef>
            </a:pPr>
            <a:r>
              <a:rPr lang="uz-Cyrl-UZ" sz="1150" dirty="0">
                <a:solidFill>
                  <a:srgbClr val="3C2B98"/>
                </a:solidFill>
                <a:latin typeface="Tahoma"/>
                <a:cs typeface="Tahoma"/>
              </a:rPr>
              <a:t>Банк</a:t>
            </a:r>
          </a:p>
          <a:p>
            <a:pPr marL="12700">
              <a:lnSpc>
                <a:spcPts val="1000"/>
              </a:lnSpc>
              <a:spcBef>
                <a:spcPts val="135"/>
              </a:spcBef>
            </a:pPr>
            <a:r>
              <a:rPr sz="1150" dirty="0" err="1">
                <a:solidFill>
                  <a:srgbClr val="3C2B98"/>
                </a:solidFill>
                <a:latin typeface="Tahoma"/>
                <a:cs typeface="Tahoma"/>
              </a:rPr>
              <a:t>кредити</a:t>
            </a:r>
            <a:r>
              <a:rPr sz="1150" spc="459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lang="en-US" sz="4125" b="1" spc="459" baseline="1010" dirty="0">
                <a:solidFill>
                  <a:srgbClr val="273B6F"/>
                </a:solidFill>
                <a:latin typeface="Arial"/>
                <a:cs typeface="Arial"/>
              </a:rPr>
              <a:t>50</a:t>
            </a:r>
            <a:r>
              <a:rPr sz="4125" b="1" spc="-30" baseline="1010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1950" spc="-15" baseline="2136" dirty="0">
                <a:solidFill>
                  <a:srgbClr val="273B6F"/>
                </a:solidFill>
                <a:latin typeface="Microsoft Sans Serif"/>
                <a:cs typeface="Microsoft Sans Serif"/>
              </a:rPr>
              <a:t>млн.сўм</a:t>
            </a:r>
            <a:endParaRPr sz="1950" baseline="2136" dirty="0">
              <a:latin typeface="Microsoft Sans Serif"/>
              <a:cs typeface="Microsoft Sans Serif"/>
            </a:endParaRPr>
          </a:p>
          <a:p>
            <a:pPr marL="12700">
              <a:lnSpc>
                <a:spcPts val="690"/>
              </a:lnSpc>
            </a:pPr>
            <a:endParaRPr sz="1150" dirty="0">
              <a:latin typeface="Tahoma"/>
              <a:cs typeface="Tahoma"/>
            </a:endParaRPr>
          </a:p>
        </p:txBody>
      </p:sp>
      <p:sp>
        <p:nvSpPr>
          <p:cNvPr id="288" name="object 179">
            <a:extLst>
              <a:ext uri="{FF2B5EF4-FFF2-40B4-BE49-F238E27FC236}">
                <a16:creationId xmlns:a16="http://schemas.microsoft.com/office/drawing/2014/main" id="{00FC2685-1D61-407F-806C-7711547DAC22}"/>
              </a:ext>
            </a:extLst>
          </p:cNvPr>
          <p:cNvSpPr txBox="1"/>
          <p:nvPr/>
        </p:nvSpPr>
        <p:spPr>
          <a:xfrm>
            <a:off x="9966273" y="5301614"/>
            <a:ext cx="2084837" cy="57066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spcBef>
                <a:spcPts val="90"/>
              </a:spcBef>
            </a:pPr>
            <a:r>
              <a:rPr sz="1150" spc="-20" dirty="0" err="1">
                <a:solidFill>
                  <a:srgbClr val="3C2B98"/>
                </a:solidFill>
                <a:latin typeface="Tahoma"/>
                <a:cs typeface="Tahoma"/>
              </a:rPr>
              <a:t>Банд</a:t>
            </a:r>
            <a:r>
              <a:rPr lang="uz-Cyrl-UZ" sz="1150" spc="-20" dirty="0">
                <a:solidFill>
                  <a:srgbClr val="3C2B98"/>
                </a:solidFill>
                <a:latin typeface="Tahoma"/>
                <a:cs typeface="Tahoma"/>
              </a:rPr>
              <a:t> аҳоли </a:t>
            </a:r>
            <a:r>
              <a:rPr lang="uz-Cyrl-UZ" sz="3600" b="1" baseline="1010" dirty="0">
                <a:solidFill>
                  <a:srgbClr val="273B6F"/>
                </a:solidFill>
                <a:latin typeface="Arial"/>
                <a:cs typeface="Arial"/>
              </a:rPr>
              <a:t>2</a:t>
            </a:r>
            <a:r>
              <a:rPr lang="uz-Cyrl-UZ" sz="2800" b="1" spc="37" baseline="1010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lang="uz-Cyrl-UZ" sz="1150" spc="-20" dirty="0">
                <a:solidFill>
                  <a:srgbClr val="3C2B98"/>
                </a:solidFill>
                <a:latin typeface="Tahoma"/>
                <a:cs typeface="Tahoma"/>
              </a:rPr>
              <a:t>нафар</a:t>
            </a: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endParaRPr sz="1150" dirty="0">
              <a:latin typeface="Tahoma"/>
              <a:cs typeface="Tahoma"/>
            </a:endParaRPr>
          </a:p>
        </p:txBody>
      </p:sp>
      <p:grpSp>
        <p:nvGrpSpPr>
          <p:cNvPr id="290" name="object 181">
            <a:extLst>
              <a:ext uri="{FF2B5EF4-FFF2-40B4-BE49-F238E27FC236}">
                <a16:creationId xmlns:a16="http://schemas.microsoft.com/office/drawing/2014/main" id="{1A33B2B4-D85E-4050-8E3A-BEBB810266DE}"/>
              </a:ext>
            </a:extLst>
          </p:cNvPr>
          <p:cNvGrpSpPr/>
          <p:nvPr/>
        </p:nvGrpSpPr>
        <p:grpSpPr>
          <a:xfrm>
            <a:off x="9307851" y="5269124"/>
            <a:ext cx="3334135" cy="479113"/>
            <a:chOff x="9312472" y="5395204"/>
            <a:chExt cx="2129374" cy="344038"/>
          </a:xfrm>
        </p:grpSpPr>
        <p:pic>
          <p:nvPicPr>
            <p:cNvPr id="291" name="object 182">
              <a:extLst>
                <a:ext uri="{FF2B5EF4-FFF2-40B4-BE49-F238E27FC236}">
                  <a16:creationId xmlns:a16="http://schemas.microsoft.com/office/drawing/2014/main" id="{F8FC8220-0EC2-4B58-B7FB-7A59FE195308}"/>
                </a:ext>
              </a:extLst>
            </p:cNvPr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9312472" y="5412845"/>
              <a:ext cx="321509" cy="326397"/>
            </a:xfrm>
            <a:prstGeom prst="rect">
              <a:avLst/>
            </a:prstGeom>
          </p:spPr>
        </p:pic>
        <p:sp>
          <p:nvSpPr>
            <p:cNvPr id="292" name="object 183">
              <a:extLst>
                <a:ext uri="{FF2B5EF4-FFF2-40B4-BE49-F238E27FC236}">
                  <a16:creationId xmlns:a16="http://schemas.microsoft.com/office/drawing/2014/main" id="{A44E7EC5-32B2-4AA9-AC05-B37CE0B789C0}"/>
                </a:ext>
              </a:extLst>
            </p:cNvPr>
            <p:cNvSpPr/>
            <p:nvPr/>
          </p:nvSpPr>
          <p:spPr>
            <a:xfrm>
              <a:off x="9646066" y="5395204"/>
              <a:ext cx="1795780" cy="0"/>
            </a:xfrm>
            <a:custGeom>
              <a:avLst/>
              <a:gdLst/>
              <a:ahLst/>
              <a:cxnLst/>
              <a:rect l="l" t="t" r="r" b="b"/>
              <a:pathLst>
                <a:path w="1795779">
                  <a:moveTo>
                    <a:pt x="1795287" y="0"/>
                  </a:moveTo>
                  <a:lnTo>
                    <a:pt x="0" y="0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93" name="object 177">
            <a:extLst>
              <a:ext uri="{FF2B5EF4-FFF2-40B4-BE49-F238E27FC236}">
                <a16:creationId xmlns:a16="http://schemas.microsoft.com/office/drawing/2014/main" id="{1D5A4637-F4D4-4FE6-B28D-F9A9699677EF}"/>
              </a:ext>
            </a:extLst>
          </p:cNvPr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9361823" y="4909844"/>
            <a:ext cx="346563" cy="308749"/>
          </a:xfrm>
          <a:prstGeom prst="rect">
            <a:avLst/>
          </a:prstGeom>
        </p:spPr>
      </p:pic>
      <p:sp>
        <p:nvSpPr>
          <p:cNvPr id="222" name="object 35">
            <a:extLst>
              <a:ext uri="{FF2B5EF4-FFF2-40B4-BE49-F238E27FC236}">
                <a16:creationId xmlns:a16="http://schemas.microsoft.com/office/drawing/2014/main" id="{773F367A-C20E-4392-9E02-D2C7400EB264}"/>
              </a:ext>
            </a:extLst>
          </p:cNvPr>
          <p:cNvSpPr txBox="1"/>
          <p:nvPr/>
        </p:nvSpPr>
        <p:spPr>
          <a:xfrm>
            <a:off x="10309292" y="1788237"/>
            <a:ext cx="2013746" cy="4860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223770" algn="l"/>
                <a:tab pos="4444365" algn="l"/>
              </a:tabLst>
            </a:pPr>
            <a:r>
              <a:rPr lang="en-US" sz="3050" b="1" spc="-25" dirty="0">
                <a:solidFill>
                  <a:srgbClr val="16387F"/>
                </a:solidFill>
                <a:latin typeface="Arial"/>
                <a:cs typeface="Arial"/>
              </a:rPr>
              <a:t>14</a:t>
            </a:r>
            <a:r>
              <a:rPr lang="ru-RU" sz="3050" b="1" spc="-25" dirty="0">
                <a:solidFill>
                  <a:srgbClr val="16387F"/>
                </a:solidFill>
                <a:latin typeface="Arial"/>
                <a:cs typeface="Arial"/>
              </a:rPr>
              <a:t> </a:t>
            </a:r>
            <a:r>
              <a:rPr sz="2100" spc="-35" dirty="0" err="1">
                <a:solidFill>
                  <a:srgbClr val="16387F"/>
                </a:solidFill>
                <a:latin typeface="Microsoft Sans Serif"/>
                <a:cs typeface="Microsoft Sans Serif"/>
              </a:rPr>
              <a:t>та</a:t>
            </a:r>
            <a:r>
              <a:rPr lang="uz-Cyrl-UZ" sz="2100" spc="-35" dirty="0">
                <a:solidFill>
                  <a:srgbClr val="16387F"/>
                </a:solidFill>
                <a:latin typeface="Microsoft Sans Serif"/>
                <a:cs typeface="Microsoft Sans Serif"/>
              </a:rPr>
              <a:t>     </a:t>
            </a:r>
            <a:r>
              <a:rPr lang="en-US" sz="3050" b="1" spc="-25" dirty="0">
                <a:solidFill>
                  <a:srgbClr val="16387F"/>
                </a:solidFill>
                <a:latin typeface="Arial"/>
                <a:cs typeface="Arial"/>
              </a:rPr>
              <a:t> 8</a:t>
            </a:r>
            <a:r>
              <a:rPr lang="ru-RU" sz="2400" b="1" spc="-25" dirty="0">
                <a:solidFill>
                  <a:srgbClr val="16387F"/>
                </a:solidFill>
                <a:latin typeface="Arial"/>
                <a:cs typeface="Arial"/>
              </a:rPr>
              <a:t> </a:t>
            </a:r>
            <a:r>
              <a:rPr lang="ru-RU" sz="2100" spc="-35" dirty="0">
                <a:solidFill>
                  <a:srgbClr val="16387F"/>
                </a:solidFill>
                <a:latin typeface="Microsoft Sans Serif"/>
                <a:cs typeface="Microsoft Sans Serif"/>
              </a:rPr>
              <a:t>та</a:t>
            </a:r>
            <a:endParaRPr sz="2100" dirty="0">
              <a:latin typeface="Microsoft Sans Serif"/>
              <a:cs typeface="Microsoft Sans Serif"/>
            </a:endParaRPr>
          </a:p>
        </p:txBody>
      </p:sp>
      <p:sp>
        <p:nvSpPr>
          <p:cNvPr id="223" name="object 35">
            <a:extLst>
              <a:ext uri="{FF2B5EF4-FFF2-40B4-BE49-F238E27FC236}">
                <a16:creationId xmlns:a16="http://schemas.microsoft.com/office/drawing/2014/main" id="{F482E9F8-A859-418D-ADF8-93AF0A01D990}"/>
              </a:ext>
            </a:extLst>
          </p:cNvPr>
          <p:cNvSpPr txBox="1"/>
          <p:nvPr/>
        </p:nvSpPr>
        <p:spPr>
          <a:xfrm>
            <a:off x="12549488" y="1780179"/>
            <a:ext cx="2013746" cy="4860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223770" algn="l"/>
                <a:tab pos="4444365" algn="l"/>
              </a:tabLst>
            </a:pPr>
            <a:r>
              <a:rPr lang="en-US" sz="3050" b="1" spc="-25" dirty="0">
                <a:solidFill>
                  <a:srgbClr val="16387F"/>
                </a:solidFill>
                <a:latin typeface="Arial"/>
                <a:cs typeface="Arial"/>
              </a:rPr>
              <a:t>22</a:t>
            </a:r>
            <a:r>
              <a:rPr lang="ru-RU" sz="3050" b="1" spc="-25" dirty="0">
                <a:solidFill>
                  <a:srgbClr val="16387F"/>
                </a:solidFill>
                <a:latin typeface="Arial"/>
                <a:cs typeface="Arial"/>
              </a:rPr>
              <a:t> </a:t>
            </a:r>
            <a:r>
              <a:rPr sz="2100" spc="-35" dirty="0" err="1">
                <a:solidFill>
                  <a:srgbClr val="16387F"/>
                </a:solidFill>
                <a:latin typeface="Microsoft Sans Serif"/>
                <a:cs typeface="Microsoft Sans Serif"/>
              </a:rPr>
              <a:t>та</a:t>
            </a:r>
            <a:r>
              <a:rPr lang="uz-Cyrl-UZ" sz="2100" spc="-35" dirty="0">
                <a:solidFill>
                  <a:srgbClr val="16387F"/>
                </a:solidFill>
                <a:latin typeface="Microsoft Sans Serif"/>
                <a:cs typeface="Microsoft Sans Serif"/>
              </a:rPr>
              <a:t>     </a:t>
            </a:r>
            <a:r>
              <a:rPr lang="en-US" sz="3050" b="1" spc="-25" dirty="0">
                <a:solidFill>
                  <a:srgbClr val="16387F"/>
                </a:solidFill>
                <a:latin typeface="Arial"/>
                <a:cs typeface="Arial"/>
              </a:rPr>
              <a:t>21</a:t>
            </a:r>
            <a:r>
              <a:rPr lang="ru-RU" sz="2400" b="1" spc="-25" dirty="0">
                <a:solidFill>
                  <a:srgbClr val="16387F"/>
                </a:solidFill>
                <a:latin typeface="Arial"/>
                <a:cs typeface="Arial"/>
              </a:rPr>
              <a:t> </a:t>
            </a:r>
            <a:r>
              <a:rPr lang="ru-RU" sz="2100" spc="-35" dirty="0">
                <a:solidFill>
                  <a:srgbClr val="16387F"/>
                </a:solidFill>
                <a:latin typeface="Microsoft Sans Serif"/>
                <a:cs typeface="Microsoft Sans Serif"/>
              </a:rPr>
              <a:t>та</a:t>
            </a:r>
            <a:endParaRPr sz="2100" dirty="0">
              <a:latin typeface="Microsoft Sans Serif"/>
              <a:cs typeface="Microsoft Sans Serif"/>
            </a:endParaRPr>
          </a:p>
        </p:txBody>
      </p:sp>
      <p:sp>
        <p:nvSpPr>
          <p:cNvPr id="224" name="object 126">
            <a:extLst>
              <a:ext uri="{FF2B5EF4-FFF2-40B4-BE49-F238E27FC236}">
                <a16:creationId xmlns:a16="http://schemas.microsoft.com/office/drawing/2014/main" id="{21715D98-9F48-4DC7-B8A1-5E5227CE8463}"/>
              </a:ext>
            </a:extLst>
          </p:cNvPr>
          <p:cNvSpPr txBox="1"/>
          <p:nvPr/>
        </p:nvSpPr>
        <p:spPr>
          <a:xfrm>
            <a:off x="4411412" y="4330672"/>
            <a:ext cx="986818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000" b="1" spc="-25" dirty="0">
                <a:solidFill>
                  <a:srgbClr val="273B6F"/>
                </a:solidFill>
                <a:latin typeface="Arial"/>
                <a:cs typeface="Arial"/>
              </a:rPr>
              <a:t>25</a:t>
            </a:r>
            <a:r>
              <a:rPr lang="uz-Cyrl-UZ" sz="3000" b="1" spc="-25" dirty="0">
                <a:solidFill>
                  <a:srgbClr val="273B6F"/>
                </a:solidFill>
                <a:latin typeface="Arial"/>
                <a:cs typeface="Arial"/>
              </a:rPr>
              <a:t>,</a:t>
            </a:r>
            <a:r>
              <a:rPr lang="en-US" sz="3000" b="1" spc="-25" dirty="0">
                <a:solidFill>
                  <a:srgbClr val="273B6F"/>
                </a:solidFill>
                <a:latin typeface="Arial"/>
                <a:cs typeface="Arial"/>
              </a:rPr>
              <a:t>0</a:t>
            </a:r>
            <a:endParaRPr lang="uz-Cyrl-UZ" sz="3000" dirty="0">
              <a:latin typeface="Arial"/>
              <a:cs typeface="Arial"/>
            </a:endParaRPr>
          </a:p>
        </p:txBody>
      </p:sp>
      <p:sp>
        <p:nvSpPr>
          <p:cNvPr id="225" name="object 128">
            <a:extLst>
              <a:ext uri="{FF2B5EF4-FFF2-40B4-BE49-F238E27FC236}">
                <a16:creationId xmlns:a16="http://schemas.microsoft.com/office/drawing/2014/main" id="{B35C313B-ACD8-4671-9EA6-1D842DABE004}"/>
              </a:ext>
            </a:extLst>
          </p:cNvPr>
          <p:cNvSpPr txBox="1"/>
          <p:nvPr/>
        </p:nvSpPr>
        <p:spPr>
          <a:xfrm>
            <a:off x="2459671" y="4543105"/>
            <a:ext cx="450215" cy="3079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spc="25" dirty="0">
                <a:solidFill>
                  <a:srgbClr val="273B6F"/>
                </a:solidFill>
                <a:latin typeface="Microsoft Sans Serif"/>
                <a:cs typeface="Microsoft Sans Serif"/>
              </a:rPr>
              <a:t>сўм</a:t>
            </a:r>
            <a:endParaRPr sz="1850" dirty="0">
              <a:latin typeface="Microsoft Sans Serif"/>
              <a:cs typeface="Microsoft Sans Serif"/>
            </a:endParaRPr>
          </a:p>
        </p:txBody>
      </p:sp>
      <p:sp>
        <p:nvSpPr>
          <p:cNvPr id="226" name="object 128">
            <a:extLst>
              <a:ext uri="{FF2B5EF4-FFF2-40B4-BE49-F238E27FC236}">
                <a16:creationId xmlns:a16="http://schemas.microsoft.com/office/drawing/2014/main" id="{490D4438-FFC4-4509-AD96-02341D168D2C}"/>
              </a:ext>
            </a:extLst>
          </p:cNvPr>
          <p:cNvSpPr txBox="1"/>
          <p:nvPr/>
        </p:nvSpPr>
        <p:spPr>
          <a:xfrm>
            <a:off x="5217896" y="4517417"/>
            <a:ext cx="450215" cy="3079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spc="25" dirty="0">
                <a:solidFill>
                  <a:srgbClr val="273B6F"/>
                </a:solidFill>
                <a:latin typeface="Microsoft Sans Serif"/>
                <a:cs typeface="Microsoft Sans Serif"/>
              </a:rPr>
              <a:t>сўм</a:t>
            </a:r>
            <a:endParaRPr sz="1850" dirty="0">
              <a:latin typeface="Microsoft Sans Serif"/>
              <a:cs typeface="Microsoft Sans Serif"/>
            </a:endParaRPr>
          </a:p>
        </p:txBody>
      </p:sp>
      <p:pic>
        <p:nvPicPr>
          <p:cNvPr id="228" name="Рисунок 227">
            <a:extLst>
              <a:ext uri="{FF2B5EF4-FFF2-40B4-BE49-F238E27FC236}">
                <a16:creationId xmlns:a16="http://schemas.microsoft.com/office/drawing/2014/main" id="{877B5446-BA4D-08B8-C2B4-3D181F8FD156}"/>
              </a:ext>
            </a:extLst>
          </p:cNvPr>
          <p:cNvPicPr>
            <a:picLocks noChangeAspect="1"/>
          </p:cNvPicPr>
          <p:nvPr/>
        </p:nvPicPr>
        <p:blipFill>
          <a:blip r:embed="rId4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829" y="223772"/>
            <a:ext cx="4033942" cy="78266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6B8C630-B671-EE9D-7390-D6698FD0D5C4}"/>
              </a:ext>
            </a:extLst>
          </p:cNvPr>
          <p:cNvSpPr txBox="1"/>
          <p:nvPr/>
        </p:nvSpPr>
        <p:spPr>
          <a:xfrm>
            <a:off x="7446026" y="3318570"/>
            <a:ext cx="72274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00" spc="37" dirty="0">
                <a:solidFill>
                  <a:srgbClr val="273B6F"/>
                </a:solidFill>
                <a:cs typeface="Microsoft Sans Serif"/>
              </a:rPr>
              <a:t>млн</a:t>
            </a:r>
            <a:r>
              <a:rPr lang="ru-RU" sz="1500" spc="37" dirty="0">
                <a:solidFill>
                  <a:srgbClr val="273B6F"/>
                </a:solidFill>
                <a:latin typeface="Microsoft Sans Serif"/>
                <a:cs typeface="Microsoft Sans Serif"/>
              </a:rPr>
              <a:t> </a:t>
            </a:r>
            <a:r>
              <a:rPr lang="ru-RU" sz="1500" spc="37" dirty="0">
                <a:solidFill>
                  <a:srgbClr val="273B6F"/>
                </a:solidFill>
                <a:cs typeface="Microsoft Sans Serif"/>
              </a:rPr>
              <a:t>с</a:t>
            </a:r>
            <a:r>
              <a:rPr lang="uz-Cyrl-UZ" sz="1500" spc="37" dirty="0">
                <a:solidFill>
                  <a:srgbClr val="273B6F"/>
                </a:solidFill>
                <a:cs typeface="Microsoft Sans Serif"/>
              </a:rPr>
              <a:t>ўм</a:t>
            </a:r>
            <a:endParaRPr lang="ru-RU" sz="1500" dirty="0"/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47758961-F08A-D3A5-5C66-E7EEAB939D2D}"/>
              </a:ext>
            </a:extLst>
          </p:cNvPr>
          <p:cNvSpPr txBox="1"/>
          <p:nvPr/>
        </p:nvSpPr>
        <p:spPr>
          <a:xfrm>
            <a:off x="8131304" y="3412742"/>
            <a:ext cx="6553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spc="37" dirty="0">
                <a:solidFill>
                  <a:srgbClr val="273B6F"/>
                </a:solidFill>
                <a:cs typeface="Microsoft Sans Serif"/>
              </a:rPr>
              <a:t>X1,5</a:t>
            </a:r>
            <a:endParaRPr lang="ru-RU" sz="1500" dirty="0"/>
          </a:p>
        </p:txBody>
      </p:sp>
      <p:pic>
        <p:nvPicPr>
          <p:cNvPr id="230" name="Picture 2" descr="Sartaroshxona | Smart-market.uz">
            <a:extLst>
              <a:ext uri="{FF2B5EF4-FFF2-40B4-BE49-F238E27FC236}">
                <a16:creationId xmlns:a16="http://schemas.microsoft.com/office/drawing/2014/main" id="{592A5BEF-4C14-BE5D-0BEE-5E67AF628D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373" y="5066575"/>
            <a:ext cx="3334507" cy="2114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1" name="Picture 4" descr="Zamonaviy pishiriqlar haqida ma'lumotlar | Odam.uz - Odamlar uchun veb-sayti">
            <a:extLst>
              <a:ext uri="{FF2B5EF4-FFF2-40B4-BE49-F238E27FC236}">
                <a16:creationId xmlns:a16="http://schemas.microsoft.com/office/drawing/2014/main" id="{58BEA018-BCDA-7076-97E9-FAB11D2484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9351" y="5109556"/>
            <a:ext cx="3643486" cy="2032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2" name="Picture 6" descr="Kitob nashr qilmoqchimisiz? «Hilol Nashr»ga boring">
            <a:extLst>
              <a:ext uri="{FF2B5EF4-FFF2-40B4-BE49-F238E27FC236}">
                <a16:creationId xmlns:a16="http://schemas.microsoft.com/office/drawing/2014/main" id="{5B874C52-B75D-8490-DE2F-3B38FDF7C43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9" b="-896"/>
          <a:stretch>
            <a:fillRect/>
          </a:stretch>
        </p:blipFill>
        <p:spPr bwMode="auto">
          <a:xfrm>
            <a:off x="13172240" y="5845782"/>
            <a:ext cx="3824835" cy="1953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4" name="Рисунок 233">
            <a:extLst>
              <a:ext uri="{FF2B5EF4-FFF2-40B4-BE49-F238E27FC236}">
                <a16:creationId xmlns:a16="http://schemas.microsoft.com/office/drawing/2014/main" id="{950DC8A6-D3F3-5543-F871-D8D22F7A8AB7}"/>
              </a:ext>
            </a:extLst>
          </p:cNvPr>
          <p:cNvPicPr>
            <a:picLocks noChangeAspect="1"/>
          </p:cNvPicPr>
          <p:nvPr/>
        </p:nvPicPr>
        <p:blipFill>
          <a:blip r:embed="rId5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866" r="1774"/>
          <a:stretch>
            <a:fillRect/>
          </a:stretch>
        </p:blipFill>
        <p:spPr>
          <a:xfrm>
            <a:off x="9470204" y="5915239"/>
            <a:ext cx="3044546" cy="179875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995</TotalTime>
  <Words>277</Words>
  <Application>Microsoft Office PowerPoint</Application>
  <PresentationFormat>Произвольный</PresentationFormat>
  <Paragraphs>89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Microsoft Sans Serif</vt:lpstr>
      <vt:lpstr>Tahoma</vt:lpstr>
      <vt:lpstr>Office Theme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d.majidov</dc:creator>
  <cp:lastModifiedBy>Пользователь</cp:lastModifiedBy>
  <cp:revision>50</cp:revision>
  <cp:lastPrinted>2025-11-22T15:16:56Z</cp:lastPrinted>
  <dcterms:created xsi:type="dcterms:W3CDTF">2025-11-21T17:17:30Z</dcterms:created>
  <dcterms:modified xsi:type="dcterms:W3CDTF">2026-05-08T08:51:09Z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2025-11-21T00:00:00Z</vt:filetime>
  </property>
  <property fmtid="{D5CDD505-2E9C-101B-9397-08002B2CF9AE}" pid="3" name="LastSaved">
    <vt:filetime>2025-11-21T00:00:00Z</vt:filetime>
  </property>
  <property fmtid="{D5CDD505-2E9C-101B-9397-08002B2CF9AE}" pid="4" name="Producer">
    <vt:lpwstr>iLovePDF</vt:lpwstr>
  </property>
</Properties>
</file>